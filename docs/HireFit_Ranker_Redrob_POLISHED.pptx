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194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199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310896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035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REDROB · DATA &amp; AI CHALLENGE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</a:t>
            </a:r>
            <a:r>
              <a:rPr lang="en-US" sz="3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deterministic, offline, CPU-only engine that reads who actually fits a role 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returns a 100-candidate shortlist a recruiter can trust.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00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6400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scored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832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832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184s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33832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runtime (≤300s)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1264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264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*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696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8696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88696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in top-100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19963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NDCG@10 on an independent LLM-judged sample (dev proxy) — see slide 8. Not the hidden challenge score.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miss the right people — and rank the wrong ones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is engineered to punish keyword matching. Four trap types sink a naive ranker.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padded with AI skills — a Marketing Manager listing 9 AI keywords.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36544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92576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0" y="22494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92576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92576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skill lists attached to titles that never shipped a ranking system.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89040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624" y="22494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89040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Subtly impossible profiles — “expert” in 10 skills with 0 months used. Forced to tier 0.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29471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85503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087" y="22494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5503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Unavailable-but-perfect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85503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on paper, but 5% recruiter response and not logged in for months.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14400" y="48920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992624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4754880"/>
            <a:ext cx="97228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task:  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candidates the way a great recruiter would — reading career history and behavior, not counting keywords. A candidate who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recommender at a product company outranks one who merely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“RAG” and “Pinecone.”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JD lists keywords; the role is hiring for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whole design follows from reading the gap between what the JD says and what it means.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23113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JD says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47242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“5–9 years, embeddings, retrieval, ranking, NLP, deep learning, PyTorch, TensorFlow…”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3172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33172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4904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4904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33172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33172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5–9 yrs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" y="4617720"/>
            <a:ext cx="4724248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1097280" y="4727448"/>
            <a:ext cx="4449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skill-keyword overlap is high for stuffers and low for the engineers who actually shipped the systems.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78728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553048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2231136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119976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means</a:t>
            </a:r>
            <a:endParaRPr lang="en-US" sz="16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28254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937096" y="2752344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work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deployed ranking / search / recsys in production.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575304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7096" y="3502152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trajectory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in relevant, product-company roles.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432511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37096" y="4251960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seniority  —  5–9 years of judgment — penalize overshoot and juniors.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5074920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37096" y="5001768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available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open to work, reachable notice period.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offline pipeline scores every candidate — no LLM in the ranking loop.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deterministic stages turn a raw profile into a trusted rank. Runs on CPU, no network, no GPU.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651760"/>
            <a:ext cx="146304" cy="1463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432304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633472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633472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96896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96896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51760"/>
            <a:ext cx="146304" cy="1463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24528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425696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25696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389120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389120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651760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16752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217920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217920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81344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81344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2651760"/>
            <a:ext cx="146304" cy="1463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808976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010144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8010144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973568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score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7973568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0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2651760"/>
            <a:ext cx="146304" cy="14630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0120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980236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980236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976579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76579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· honeypot ·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disqualifier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41" name="Text 34"/>
          <p:cNvSpPr/>
          <p:nvPr/>
        </p:nvSpPr>
        <p:spPr>
          <a:xfrm>
            <a:off x="640080" y="395020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score</a:t>
            </a:r>
            <a:r>
              <a:rPr lang="en-US" sz="2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base score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behavioral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honeypot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disqualifier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1005840" y="44348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multiplicative — a strong-on-paper profile that is impossible, off-target, or unreachable is pushed down no matter how good its keywords look.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40080" y="5212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UNDER: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103120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2103120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3182112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3182112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CPU-only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61104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4261104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GPU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5340096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340096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6419088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6419088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bm25s backend</a:t>
            </a:r>
            <a:endParaRPr lang="en-US" sz="950" dirty="0"/>
          </a:p>
        </p:txBody>
      </p:sp>
      <p:sp>
        <p:nvSpPr>
          <p:cNvPr id="54" name="Text 4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READS A CANDIDATE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 separate keyword lists from recruiter-plausible fit.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signal is computed deterministically from profile facts — and every rank decomposes back into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2204801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depth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25698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25698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77824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nice-to-have match, skill depth, endorsement trust, assessment scores, GitHub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68698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06442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80" y="2204801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45938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evidence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954317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954317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606442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product-company ratio, IR/ranking experience, production evidence, seniority, trajectory, scale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7317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35061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598" y="2204801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74557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fit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10682935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10682935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features  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8335061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years-of-experience band, education, ML/AI tenure, open-source signal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77824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" y="3878153"/>
            <a:ext cx="235549" cy="23554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3225698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3225698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features  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77824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availability, engagement, responsiveness, interview reliability, profile quality, notice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4368698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4606442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980" y="3878153"/>
            <a:ext cx="235549" cy="235549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45938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37" name="Shape 30"/>
          <p:cNvSpPr/>
          <p:nvPr/>
        </p:nvSpPr>
        <p:spPr>
          <a:xfrm>
            <a:off x="6954317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6954317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features  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4606442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preferred-location match, willingness to relocate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097317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8335061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7598" y="3878153"/>
            <a:ext cx="235549" cy="235549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874557" y="3785616"/>
            <a:ext cx="25398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 guardrails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8335061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Behavioral, honeypot &amp; disqualifier multipliers gate the base score so traps can’t buy their way to the top.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Oval 69">
            <a:extLst>
              <a:ext uri="{FF2B5EF4-FFF2-40B4-BE49-F238E27FC236}">
                <a16:creationId xmlns:a16="http://schemas.microsoft.com/office/drawing/2014/main" id="{59274BAD-4ABC-C843-C202-C0B5D1FEF26B}"/>
              </a:ext>
            </a:extLst>
          </p:cNvPr>
          <p:cNvSpPr/>
          <p:nvPr/>
        </p:nvSpPr>
        <p:spPr>
          <a:xfrm>
            <a:off x="-1828800" y="4846320"/>
            <a:ext cx="4572000" cy="4572000"/>
          </a:xfrm>
          <a:prstGeom prst="ellipse">
            <a:avLst/>
          </a:prstGeom>
          <a:solidFill>
            <a:srgbClr val="2DD4BF">
              <a:alpha val="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D6765F2-2674-C0ED-4C52-A83E03A1433C}"/>
              </a:ext>
            </a:extLst>
          </p:cNvPr>
          <p:cNvSpPr/>
          <p:nvPr/>
        </p:nvSpPr>
        <p:spPr>
          <a:xfrm>
            <a:off x="8503920" y="-1554480"/>
            <a:ext cx="5029200" cy="5029200"/>
          </a:xfrm>
          <a:prstGeom prst="ellipse">
            <a:avLst/>
          </a:prstGeom>
          <a:solidFill>
            <a:srgbClr val="8B7CF6">
              <a:alpha val="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D7BEF85-12C3-E6B9-D2B8-A8F42044E61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0E78EF-6AE3-1679-7A27-24E35E857507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SEE IT WORK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4F5ADA-5BD8-4BE6-E7B3-E1F9BDD33A82}"/>
              </a:ext>
            </a:extLst>
          </p:cNvPr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E6EDF3"/>
                </a:solidFill>
                <a:latin typeface="Arial" panose="020B0604020202020204" pitchFamily="34" charset="0"/>
              </a:rPr>
              <a:t>The shortlist is real: every rank is traceable.</a:t>
            </a:r>
            <a:endParaRPr lang="en-IN" sz="27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3E70A1-7D70-10D1-8D8B-38081C3299B3}"/>
              </a:ext>
            </a:extLst>
          </p:cNvPr>
          <p:cNvSpPr txBox="1"/>
          <p:nvPr/>
        </p:nvSpPr>
        <p:spPr>
          <a:xfrm>
            <a:off x="640080" y="1298448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Live output from the released 100K pool, plus the exact feature values and guardrails behind the #1 candidate.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EFD139DA-5F14-F8C7-BD2B-F4742404DD5B}"/>
              </a:ext>
            </a:extLst>
          </p:cNvPr>
          <p:cNvSpPr/>
          <p:nvPr/>
        </p:nvSpPr>
        <p:spPr>
          <a:xfrm>
            <a:off x="640080" y="1810512"/>
            <a:ext cx="6172200" cy="416052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931DDB-0982-4257-EF26-ECD0828B706A}"/>
              </a:ext>
            </a:extLst>
          </p:cNvPr>
          <p:cNvSpPr txBox="1"/>
          <p:nvPr/>
        </p:nvSpPr>
        <p:spPr>
          <a:xfrm>
            <a:off x="932688" y="2029968"/>
            <a:ext cx="210312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450" b="1">
                <a:solidFill>
                  <a:srgbClr val="E6EDF3"/>
                </a:solidFill>
                <a:latin typeface="Arial" panose="020B0604020202020204" pitchFamily="34" charset="0"/>
              </a:rPr>
              <a:t>Ranked output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1750F5A8-79F8-C983-EAE8-AFE87AFBBCF3}"/>
              </a:ext>
            </a:extLst>
          </p:cNvPr>
          <p:cNvSpPr/>
          <p:nvPr/>
        </p:nvSpPr>
        <p:spPr>
          <a:xfrm>
            <a:off x="4992624" y="2029968"/>
            <a:ext cx="135331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2F0938-5EC7-939F-48C0-7FD2074206EE}"/>
              </a:ext>
            </a:extLst>
          </p:cNvPr>
          <p:cNvSpPr txBox="1"/>
          <p:nvPr/>
        </p:nvSpPr>
        <p:spPr>
          <a:xfrm>
            <a:off x="5065776" y="2061972"/>
            <a:ext cx="120700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submission.csv top 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FD40BF-E129-7511-DA1A-9E3C8F78289F}"/>
              </a:ext>
            </a:extLst>
          </p:cNvPr>
          <p:cNvSpPr txBox="1"/>
          <p:nvPr/>
        </p:nvSpPr>
        <p:spPr>
          <a:xfrm>
            <a:off x="932688" y="2450592"/>
            <a:ext cx="4572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Rank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90DC6-FA51-F9BA-EECC-3EEAD5DC6454}"/>
              </a:ext>
            </a:extLst>
          </p:cNvPr>
          <p:cNvSpPr txBox="1"/>
          <p:nvPr/>
        </p:nvSpPr>
        <p:spPr>
          <a:xfrm>
            <a:off x="1572768" y="2450592"/>
            <a:ext cx="356616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Candidate evidence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5322F6-D773-54A9-E63D-E0ABA465369E}"/>
              </a:ext>
            </a:extLst>
          </p:cNvPr>
          <p:cNvSpPr txBox="1"/>
          <p:nvPr/>
        </p:nvSpPr>
        <p:spPr>
          <a:xfrm>
            <a:off x="5230368" y="2450592"/>
            <a:ext cx="38404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YOE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E609EAB-FDAF-247D-CCFE-88D6347AE885}"/>
              </a:ext>
            </a:extLst>
          </p:cNvPr>
          <p:cNvSpPr txBox="1"/>
          <p:nvPr/>
        </p:nvSpPr>
        <p:spPr>
          <a:xfrm>
            <a:off x="5815584" y="2450592"/>
            <a:ext cx="49377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Score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64C4DB8-CF93-4D71-1914-A47548F2D0A5}"/>
              </a:ext>
            </a:extLst>
          </p:cNvPr>
          <p:cNvSpPr/>
          <p:nvPr/>
        </p:nvSpPr>
        <p:spPr>
          <a:xfrm>
            <a:off x="868680" y="2706624"/>
            <a:ext cx="5559552" cy="420624"/>
          </a:xfrm>
          <a:prstGeom prst="rect">
            <a:avLst/>
          </a:prstGeom>
          <a:solidFill>
            <a:srgbClr val="1B2330">
              <a:alpha val="9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252259B-C244-87A2-7AEA-35D05A0E3DC4}"/>
              </a:ext>
            </a:extLst>
          </p:cNvPr>
          <p:cNvSpPr/>
          <p:nvPr/>
        </p:nvSpPr>
        <p:spPr>
          <a:xfrm>
            <a:off x="950976" y="2775204"/>
            <a:ext cx="283464" cy="283464"/>
          </a:xfrm>
          <a:prstGeom prst="ellipse">
            <a:avLst/>
          </a:prstGeom>
          <a:solidFill>
            <a:srgbClr val="6D5DE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777F18-E4FB-A306-3D2C-9C355E4B17F3}"/>
              </a:ext>
            </a:extLst>
          </p:cNvPr>
          <p:cNvSpPr txBox="1"/>
          <p:nvPr/>
        </p:nvSpPr>
        <p:spPr>
          <a:xfrm>
            <a:off x="950976" y="27752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BF8938-AACE-ACF9-A451-D21D1E9DFDD0}"/>
              </a:ext>
            </a:extLst>
          </p:cNvPr>
          <p:cNvSpPr txBox="1"/>
          <p:nvPr/>
        </p:nvSpPr>
        <p:spPr>
          <a:xfrm>
            <a:off x="1481328" y="27249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Zomato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376800-A7BE-5440-6025-98FA403CD24B}"/>
              </a:ext>
            </a:extLst>
          </p:cNvPr>
          <p:cNvSpPr txBox="1"/>
          <p:nvPr/>
        </p:nvSpPr>
        <p:spPr>
          <a:xfrm>
            <a:off x="1481328" y="29260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nn-NO" sz="820">
                <a:solidFill>
                  <a:srgbClr val="6E7C8C"/>
                </a:solidFill>
                <a:latin typeface="Arial" panose="020B0604020202020204" pitchFamily="34" charset="0"/>
              </a:rPr>
              <a:t>hybrid retrieval + ranking at 50M+ queries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C935A1D-D600-EEAB-ECF4-BCB15620E957}"/>
              </a:ext>
            </a:extLst>
          </p:cNvPr>
          <p:cNvSpPr txBox="1"/>
          <p:nvPr/>
        </p:nvSpPr>
        <p:spPr>
          <a:xfrm>
            <a:off x="5248656" y="27797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C6E074-7365-3A99-628C-4DE2D7A27831}"/>
              </a:ext>
            </a:extLst>
          </p:cNvPr>
          <p:cNvSpPr txBox="1"/>
          <p:nvPr/>
        </p:nvSpPr>
        <p:spPr>
          <a:xfrm>
            <a:off x="5797296" y="27797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29F3BB0-6F1D-8DE6-8180-39034CF1D7EE}"/>
              </a:ext>
            </a:extLst>
          </p:cNvPr>
          <p:cNvSpPr/>
          <p:nvPr/>
        </p:nvSpPr>
        <p:spPr>
          <a:xfrm>
            <a:off x="868680" y="320954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4967F2F8-2FB1-A8CE-C2E6-05BB4B35C45E}"/>
              </a:ext>
            </a:extLst>
          </p:cNvPr>
          <p:cNvSpPr/>
          <p:nvPr/>
        </p:nvSpPr>
        <p:spPr>
          <a:xfrm>
            <a:off x="950976" y="327812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EB5550-3D22-4047-91B1-14BA29312F9C}"/>
              </a:ext>
            </a:extLst>
          </p:cNvPr>
          <p:cNvSpPr txBox="1"/>
          <p:nvPr/>
        </p:nvSpPr>
        <p:spPr>
          <a:xfrm>
            <a:off x="950976" y="327812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9597BF2-D147-22C7-168B-08CC0471F62A}"/>
              </a:ext>
            </a:extLst>
          </p:cNvPr>
          <p:cNvSpPr txBox="1"/>
          <p:nvPr/>
        </p:nvSpPr>
        <p:spPr>
          <a:xfrm>
            <a:off x="1481328" y="322783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NLP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Niramai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D321A7-9133-1B68-631F-3DC729739EA9}"/>
              </a:ext>
            </a:extLst>
          </p:cNvPr>
          <p:cNvSpPr txBox="1"/>
          <p:nvPr/>
        </p:nvSpPr>
        <p:spPr>
          <a:xfrm>
            <a:off x="1481328" y="342900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semantic search + embeddings + strong response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81EB53-5E7C-F0D2-F6EC-FAA9856EC5E5}"/>
              </a:ext>
            </a:extLst>
          </p:cNvPr>
          <p:cNvSpPr txBox="1"/>
          <p:nvPr/>
        </p:nvSpPr>
        <p:spPr>
          <a:xfrm>
            <a:off x="5248656" y="328269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8D317A-E44C-A2DA-7779-F2183EC83615}"/>
              </a:ext>
            </a:extLst>
          </p:cNvPr>
          <p:cNvSpPr txBox="1"/>
          <p:nvPr/>
        </p:nvSpPr>
        <p:spPr>
          <a:xfrm>
            <a:off x="5797296" y="328269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972B81B-2CC5-5110-E4D5-15FC4B246551}"/>
              </a:ext>
            </a:extLst>
          </p:cNvPr>
          <p:cNvSpPr/>
          <p:nvPr/>
        </p:nvSpPr>
        <p:spPr>
          <a:xfrm>
            <a:off x="868680" y="371246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1EE31729-541A-B056-BFC5-6FA34649F0ED}"/>
              </a:ext>
            </a:extLst>
          </p:cNvPr>
          <p:cNvSpPr/>
          <p:nvPr/>
        </p:nvSpPr>
        <p:spPr>
          <a:xfrm>
            <a:off x="950976" y="378104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1A9A07-7A0B-B932-AFF9-918F65302515}"/>
              </a:ext>
            </a:extLst>
          </p:cNvPr>
          <p:cNvSpPr txBox="1"/>
          <p:nvPr/>
        </p:nvSpPr>
        <p:spPr>
          <a:xfrm>
            <a:off x="950976" y="378104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234F5-9C71-193F-9CB7-783397D95F22}"/>
              </a:ext>
            </a:extLst>
          </p:cNvPr>
          <p:cNvSpPr txBox="1"/>
          <p:nvPr/>
        </p:nvSpPr>
        <p:spPr>
          <a:xfrm>
            <a:off x="1481328" y="373075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US" sz="1060">
                <a:solidFill>
                  <a:srgbClr val="9AA7B4"/>
                </a:solidFill>
                <a:latin typeface="Arial" panose="020B0604020202020204" pitchFamily="34" charset="0"/>
              </a:rPr>
              <a:t> - Genpact AI</a:t>
            </a:r>
            <a:endParaRPr lang="en-IN" sz="106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5163C17-B8D7-1E4F-D059-7B57741FA520}"/>
              </a:ext>
            </a:extLst>
          </p:cNvPr>
          <p:cNvSpPr txBox="1"/>
          <p:nvPr/>
        </p:nvSpPr>
        <p:spPr>
          <a:xfrm>
            <a:off x="1481328" y="393192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IR, pgvector, Sentence Transformers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CC8B7A6-AD90-8FF7-F9B5-18A94651F414}"/>
              </a:ext>
            </a:extLst>
          </p:cNvPr>
          <p:cNvSpPr txBox="1"/>
          <p:nvPr/>
        </p:nvSpPr>
        <p:spPr>
          <a:xfrm>
            <a:off x="5248656" y="378561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6.1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05C7A32-FB22-8F48-AEA1-435902DC3715}"/>
              </a:ext>
            </a:extLst>
          </p:cNvPr>
          <p:cNvSpPr txBox="1"/>
          <p:nvPr/>
        </p:nvSpPr>
        <p:spPr>
          <a:xfrm>
            <a:off x="5797296" y="378561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D96B96E-C73B-44D7-C000-EF2AE7D19AD8}"/>
              </a:ext>
            </a:extLst>
          </p:cNvPr>
          <p:cNvSpPr/>
          <p:nvPr/>
        </p:nvSpPr>
        <p:spPr>
          <a:xfrm>
            <a:off x="868680" y="421538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4E9BA67-BC9B-8533-D331-3BC66C48981B}"/>
              </a:ext>
            </a:extLst>
          </p:cNvPr>
          <p:cNvSpPr/>
          <p:nvPr/>
        </p:nvSpPr>
        <p:spPr>
          <a:xfrm>
            <a:off x="950976" y="428396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74ACB9-4395-0E45-CCC1-9C7B4F10B344}"/>
              </a:ext>
            </a:extLst>
          </p:cNvPr>
          <p:cNvSpPr txBox="1"/>
          <p:nvPr/>
        </p:nvSpPr>
        <p:spPr>
          <a:xfrm>
            <a:off x="950976" y="428396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1088F14-D80E-81E2-8126-DEE011BB499A}"/>
              </a:ext>
            </a:extLst>
          </p:cNvPr>
          <p:cNvSpPr txBox="1"/>
          <p:nvPr/>
        </p:nvSpPr>
        <p:spPr>
          <a:xfrm>
            <a:off x="1481328" y="423367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Apple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C93A48-0608-70E3-E0F2-E2C6BBE199ED}"/>
              </a:ext>
            </a:extLst>
          </p:cNvPr>
          <p:cNvSpPr txBox="1"/>
          <p:nvPr/>
        </p:nvSpPr>
        <p:spPr>
          <a:xfrm>
            <a:off x="1481328" y="443484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FAISS + fine-tuning + 30-day notice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DAE3B7-FCC6-10BD-FDDC-5311B8B986DE}"/>
              </a:ext>
            </a:extLst>
          </p:cNvPr>
          <p:cNvSpPr txBox="1"/>
          <p:nvPr/>
        </p:nvSpPr>
        <p:spPr>
          <a:xfrm>
            <a:off x="5248656" y="428853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5.9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2A4FB0-F315-BF11-A0FC-198FDED68356}"/>
              </a:ext>
            </a:extLst>
          </p:cNvPr>
          <p:cNvSpPr txBox="1"/>
          <p:nvPr/>
        </p:nvSpPr>
        <p:spPr>
          <a:xfrm>
            <a:off x="5797296" y="428853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271AC048-521A-C76A-02DF-F573344D9ACD}"/>
              </a:ext>
            </a:extLst>
          </p:cNvPr>
          <p:cNvSpPr/>
          <p:nvPr/>
        </p:nvSpPr>
        <p:spPr>
          <a:xfrm>
            <a:off x="868680" y="471830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1758716B-D5B9-D5AF-8E57-186F713D84DE}"/>
              </a:ext>
            </a:extLst>
          </p:cNvPr>
          <p:cNvSpPr/>
          <p:nvPr/>
        </p:nvSpPr>
        <p:spPr>
          <a:xfrm>
            <a:off x="950976" y="478688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F95A906-1FE3-3EE9-B4A9-0E654143D093}"/>
              </a:ext>
            </a:extLst>
          </p:cNvPr>
          <p:cNvSpPr txBox="1"/>
          <p:nvPr/>
        </p:nvSpPr>
        <p:spPr>
          <a:xfrm>
            <a:off x="950976" y="478688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C54A2B8-4420-B697-C7C9-F1D94A057907}"/>
              </a:ext>
            </a:extLst>
          </p:cNvPr>
          <p:cNvSpPr txBox="1"/>
          <p:nvPr/>
        </p:nvSpPr>
        <p:spPr>
          <a:xfrm>
            <a:off x="1481328" y="473659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Flipkart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4D4130E-0E72-2B55-BF9F-516AD735BF9D}"/>
              </a:ext>
            </a:extLst>
          </p:cNvPr>
          <p:cNvSpPr txBox="1"/>
          <p:nvPr/>
        </p:nvSpPr>
        <p:spPr>
          <a:xfrm>
            <a:off x="1481328" y="493776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OpenSearch + LLM fine-tuning; logistics flag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67DF28-07FF-D191-B312-47DEBBC260C4}"/>
              </a:ext>
            </a:extLst>
          </p:cNvPr>
          <p:cNvSpPr txBox="1"/>
          <p:nvPr/>
        </p:nvSpPr>
        <p:spPr>
          <a:xfrm>
            <a:off x="5248656" y="479145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8.1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9206C98-E105-CA05-700A-411234778B56}"/>
              </a:ext>
            </a:extLst>
          </p:cNvPr>
          <p:cNvSpPr txBox="1"/>
          <p:nvPr/>
        </p:nvSpPr>
        <p:spPr>
          <a:xfrm>
            <a:off x="5797296" y="479145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0.921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266EB07F-FD98-C799-797E-9550D59431AE}"/>
              </a:ext>
            </a:extLst>
          </p:cNvPr>
          <p:cNvSpPr/>
          <p:nvPr/>
        </p:nvSpPr>
        <p:spPr>
          <a:xfrm>
            <a:off x="868680" y="522122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BF588870-B092-6259-DE85-98201D46AA04}"/>
              </a:ext>
            </a:extLst>
          </p:cNvPr>
          <p:cNvSpPr/>
          <p:nvPr/>
        </p:nvSpPr>
        <p:spPr>
          <a:xfrm>
            <a:off x="950976" y="528980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40AC9DE-F443-DC73-5495-501871B2491D}"/>
              </a:ext>
            </a:extLst>
          </p:cNvPr>
          <p:cNvSpPr txBox="1"/>
          <p:nvPr/>
        </p:nvSpPr>
        <p:spPr>
          <a:xfrm>
            <a:off x="950976" y="52898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12B6F3B-1521-4F33-2D35-F46901BFE89E}"/>
              </a:ext>
            </a:extLst>
          </p:cNvPr>
          <p:cNvSpPr txBox="1"/>
          <p:nvPr/>
        </p:nvSpPr>
        <p:spPr>
          <a:xfrm>
            <a:off x="1481328" y="52395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Netflix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5E2A240-C915-560A-FBB0-33125042CEA1}"/>
              </a:ext>
            </a:extLst>
          </p:cNvPr>
          <p:cNvSpPr txBox="1"/>
          <p:nvPr/>
        </p:nvSpPr>
        <p:spPr>
          <a:xfrm>
            <a:off x="1481328" y="54406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Elasticsearch + Qdrant + PEFT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E1F685-98AF-1187-4995-F89D8574E3B8}"/>
              </a:ext>
            </a:extLst>
          </p:cNvPr>
          <p:cNvSpPr txBox="1"/>
          <p:nvPr/>
        </p:nvSpPr>
        <p:spPr>
          <a:xfrm>
            <a:off x="5248656" y="52943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3E96677-0BB9-BE21-F973-6888CB18E66D}"/>
              </a:ext>
            </a:extLst>
          </p:cNvPr>
          <p:cNvSpPr txBox="1"/>
          <p:nvPr/>
        </p:nvSpPr>
        <p:spPr>
          <a:xfrm>
            <a:off x="5797296" y="52943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0.902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CB533EF-38CF-ABA4-28F6-EBC378E609C3}"/>
              </a:ext>
            </a:extLst>
          </p:cNvPr>
          <p:cNvSpPr txBox="1"/>
          <p:nvPr/>
        </p:nvSpPr>
        <p:spPr>
          <a:xfrm>
            <a:off x="932688" y="5623560"/>
            <a:ext cx="539496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 b="1">
                <a:solidFill>
                  <a:srgbClr val="8B7CF6"/>
                </a:solidFill>
                <a:latin typeface="Arial" panose="020B0604020202020204" pitchFamily="34" charset="0"/>
              </a:rPr>
              <a:t>Readout: </a:t>
            </a:r>
            <a:r>
              <a:rPr lang="en-US" sz="930">
                <a:solidFill>
                  <a:srgbClr val="9AA7B4"/>
                </a:solidFill>
                <a:latin typeface="Arial" panose="020B0604020202020204" pitchFamily="34" charset="0"/>
              </a:rPr>
              <a:t>the top six are senior AI/ML/NLP/search profiles with production evidence; tie-breaks are deterministic by candidate_id.</a:t>
            </a:r>
            <a:endParaRPr lang="en-IN" sz="93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2BA23C8D-70DE-57D5-30D8-300109CF4624}"/>
              </a:ext>
            </a:extLst>
          </p:cNvPr>
          <p:cNvSpPr/>
          <p:nvPr/>
        </p:nvSpPr>
        <p:spPr>
          <a:xfrm>
            <a:off x="7086600" y="1810512"/>
            <a:ext cx="4462272" cy="416052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A8DA593-2A17-DAB1-3F2F-995CCBEA71F1}"/>
              </a:ext>
            </a:extLst>
          </p:cNvPr>
          <p:cNvSpPr txBox="1"/>
          <p:nvPr/>
        </p:nvSpPr>
        <p:spPr>
          <a:xfrm>
            <a:off x="7360920" y="2029968"/>
            <a:ext cx="219456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2DD4BF"/>
                </a:solidFill>
                <a:latin typeface="Arial" panose="020B0604020202020204" pitchFamily="34" charset="0"/>
              </a:rPr>
              <a:t>Why #1 wins</a:t>
            </a: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9F0D344D-A642-5D26-15DE-DBDB2597B43F}"/>
              </a:ext>
            </a:extLst>
          </p:cNvPr>
          <p:cNvSpPr/>
          <p:nvPr/>
        </p:nvSpPr>
        <p:spPr>
          <a:xfrm>
            <a:off x="10131552" y="202996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C1BF720-D7D1-BBB5-8079-722857B8DDE3}"/>
              </a:ext>
            </a:extLst>
          </p:cNvPr>
          <p:cNvSpPr txBox="1"/>
          <p:nvPr/>
        </p:nvSpPr>
        <p:spPr>
          <a:xfrm>
            <a:off x="10204704" y="206197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CAND_0018499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02435B-3E9A-E9F5-0A61-F8D898BD30DD}"/>
              </a:ext>
            </a:extLst>
          </p:cNvPr>
          <p:cNvSpPr txBox="1"/>
          <p:nvPr/>
        </p:nvSpPr>
        <p:spPr>
          <a:xfrm>
            <a:off x="7360920" y="2359152"/>
            <a:ext cx="3840480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40">
                <a:solidFill>
                  <a:srgbClr val="9AA7B4"/>
                </a:solidFill>
                <a:latin typeface="Arial" panose="020B0604020202020204" pitchFamily="34" charset="0"/>
              </a:rPr>
              <a:t> at Zomato | 7.2 yrs | Noida | 15-day notice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64D8439-AB54-8679-7E39-8C50F41679E5}"/>
              </a:ext>
            </a:extLst>
          </p:cNvPr>
          <p:cNvSpPr txBox="1"/>
          <p:nvPr/>
        </p:nvSpPr>
        <p:spPr>
          <a:xfrm>
            <a:off x="7360920" y="2816352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core_skill_match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96801E7-7ACC-5F55-89EC-63337859E895}"/>
              </a:ext>
            </a:extLst>
          </p:cNvPr>
          <p:cNvSpPr txBox="1"/>
          <p:nvPr/>
        </p:nvSpPr>
        <p:spPr>
          <a:xfrm>
            <a:off x="10497312" y="2816352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0.982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8759B84-EFFA-966A-4631-658C81AE3581}"/>
              </a:ext>
            </a:extLst>
          </p:cNvPr>
          <p:cNvSpPr/>
          <p:nvPr/>
        </p:nvSpPr>
        <p:spPr>
          <a:xfrm>
            <a:off x="7360920" y="3035808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A0D3225-DB95-893A-1FC7-D6D6C6B42FA9}"/>
              </a:ext>
            </a:extLst>
          </p:cNvPr>
          <p:cNvSpPr/>
          <p:nvPr/>
        </p:nvSpPr>
        <p:spPr>
          <a:xfrm>
            <a:off x="7360920" y="3035808"/>
            <a:ext cx="3636660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E9C4589-0219-7C76-EAB2-F722F968AD23}"/>
              </a:ext>
            </a:extLst>
          </p:cNvPr>
          <p:cNvSpPr txBox="1"/>
          <p:nvPr/>
        </p:nvSpPr>
        <p:spPr>
          <a:xfrm>
            <a:off x="7360920" y="3246120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production_evidence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4A6747D-8E7E-F7A6-3702-78D359D088A0}"/>
              </a:ext>
            </a:extLst>
          </p:cNvPr>
          <p:cNvSpPr txBox="1"/>
          <p:nvPr/>
        </p:nvSpPr>
        <p:spPr>
          <a:xfrm>
            <a:off x="10497312" y="3246120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6B0C241-8397-506E-7404-1D7781D28445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C42CE98-78E6-3AB6-1E65-D42D15332DDD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B6818D4-D55B-CE72-00BF-8410D16E4E15}"/>
              </a:ext>
            </a:extLst>
          </p:cNvPr>
          <p:cNvSpPr txBox="1"/>
          <p:nvPr/>
        </p:nvSpPr>
        <p:spPr>
          <a:xfrm>
            <a:off x="7360920" y="3675888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ir_ranking_experience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E7DF0C-11D3-CC9F-9AEE-F8135A435F41}"/>
              </a:ext>
            </a:extLst>
          </p:cNvPr>
          <p:cNvSpPr txBox="1"/>
          <p:nvPr/>
        </p:nvSpPr>
        <p:spPr>
          <a:xfrm>
            <a:off x="10497312" y="3675888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C43AFD2-B3C7-39E8-95BA-1B52FF262DFF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E3822FC-3290-0F95-C829-F430487F3019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6DFF22F-A30A-5A1B-FD9C-31091FEF9CA3}"/>
              </a:ext>
            </a:extLst>
          </p:cNvPr>
          <p:cNvSpPr txBox="1"/>
          <p:nvPr/>
        </p:nvSpPr>
        <p:spPr>
          <a:xfrm>
            <a:off x="7360920" y="4105656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product_company_ratio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B7E33-B5BD-505B-2F46-36E6FFE94F79}"/>
              </a:ext>
            </a:extLst>
          </p:cNvPr>
          <p:cNvSpPr txBox="1"/>
          <p:nvPr/>
        </p:nvSpPr>
        <p:spPr>
          <a:xfrm>
            <a:off x="10497312" y="4105656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958C2B8-FEDE-81BA-EFA6-6EB2DEB39B59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7B83E20-BBBC-BF29-EFA9-CF9C506A91D5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8A2A697-ACAB-3AD3-ADA1-332962E6EAAC}"/>
              </a:ext>
            </a:extLst>
          </p:cNvPr>
          <p:cNvSpPr txBox="1"/>
          <p:nvPr/>
        </p:nvSpPr>
        <p:spPr>
          <a:xfrm>
            <a:off x="7360920" y="4535424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career_trajectory_score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A996BF-6F73-941D-A9B4-78FB03DF3AA3}"/>
              </a:ext>
            </a:extLst>
          </p:cNvPr>
          <p:cNvSpPr txBox="1"/>
          <p:nvPr/>
        </p:nvSpPr>
        <p:spPr>
          <a:xfrm>
            <a:off x="10497312" y="4535424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DADF1DB-AA47-FA52-8D60-76D75DC27B2A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94FCB66B-9693-2540-9974-762342B030CB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7E054154-1A8B-0C02-70B5-55FAAA5C495F}"/>
              </a:ext>
            </a:extLst>
          </p:cNvPr>
          <p:cNvSpPr/>
          <p:nvPr/>
        </p:nvSpPr>
        <p:spPr>
          <a:xfrm>
            <a:off x="7360920" y="5065776"/>
            <a:ext cx="107899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9FA85BA-C536-0ED1-44DD-DBE93C591CEF}"/>
              </a:ext>
            </a:extLst>
          </p:cNvPr>
          <p:cNvSpPr txBox="1"/>
          <p:nvPr/>
        </p:nvSpPr>
        <p:spPr>
          <a:xfrm>
            <a:off x="7434072" y="5097780"/>
            <a:ext cx="93268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behavior x1.10</a:t>
            </a: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D88F64E7-105F-BBEF-414F-A2D2F603D8CF}"/>
              </a:ext>
            </a:extLst>
          </p:cNvPr>
          <p:cNvSpPr/>
          <p:nvPr/>
        </p:nvSpPr>
        <p:spPr>
          <a:xfrm>
            <a:off x="8613648" y="5065776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004B888-3842-74AB-3A10-0A8D111AB77B}"/>
              </a:ext>
            </a:extLst>
          </p:cNvPr>
          <p:cNvSpPr txBox="1"/>
          <p:nvPr/>
        </p:nvSpPr>
        <p:spPr>
          <a:xfrm>
            <a:off x="8686800" y="5097780"/>
            <a:ext cx="1078992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honeypot x1.00</a:t>
            </a: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150F443-D1B4-6B3D-508F-D98A006BA663}"/>
              </a:ext>
            </a:extLst>
          </p:cNvPr>
          <p:cNvSpPr/>
          <p:nvPr/>
        </p:nvSpPr>
        <p:spPr>
          <a:xfrm>
            <a:off x="10021824" y="506577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9DB95C4-B2B7-1E47-AA4A-D197407A46A0}"/>
              </a:ext>
            </a:extLst>
          </p:cNvPr>
          <p:cNvSpPr txBox="1"/>
          <p:nvPr/>
        </p:nvSpPr>
        <p:spPr>
          <a:xfrm>
            <a:off x="10094976" y="5097780"/>
            <a:ext cx="67665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DQ x1.00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9EAD379-8A2E-44B2-3358-DC1669AF719C}"/>
              </a:ext>
            </a:extLst>
          </p:cNvPr>
          <p:cNvSpPr/>
          <p:nvPr/>
        </p:nvSpPr>
        <p:spPr>
          <a:xfrm>
            <a:off x="7360920" y="5449824"/>
            <a:ext cx="3703319" cy="512064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9B0A7F-9E2D-B66C-5C05-C69C0DAF15CD}"/>
              </a:ext>
            </a:extLst>
          </p:cNvPr>
          <p:cNvSpPr txBox="1"/>
          <p:nvPr/>
        </p:nvSpPr>
        <p:spPr>
          <a:xfrm>
            <a:off x="7516368" y="5541264"/>
            <a:ext cx="3383280" cy="2554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30" b="1">
                <a:solidFill>
                  <a:srgbClr val="8B7CF6"/>
                </a:solidFill>
                <a:latin typeface="Arial" panose="020B0604020202020204" pitchFamily="34" charset="0"/>
              </a:rPr>
              <a:t>Grounded reason: </a:t>
            </a:r>
            <a:r>
              <a:rPr lang="en-US" sz="830" i="1">
                <a:solidFill>
                  <a:srgbClr val="9AA7B4"/>
                </a:solidFill>
                <a:latin typeface="Arial" panose="020B0604020202020204" pitchFamily="34" charset="0"/>
              </a:rPr>
              <a:t>shipped retrieval/ranking; skills include Learning to Rank + Embeddings; response 0.61.</a:t>
            </a:r>
            <a:endParaRPr lang="en-IN" sz="830" i="1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79F286E-DB10-AE93-9AF8-3A583F5A36CE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6 / 11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CB67968-E6C3-95CA-08D8-4F09F611708F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 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Stuffers and honeypots never reach the shortlist.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released pool — the guardrails do real work, not decoration.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40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 buried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570+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rank a non-target-title profile with a high AI-skill match reaches. None enter the top 100.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3938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58258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842" y="23408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2618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blocked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→ 0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658258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profiles detected, then zero emitted in the top 100. Challenge DQ threshold is &gt;10%.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27797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402117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701" y="23408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96477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 down-weighted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02117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×0.42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402117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multiplier on an 8-yr profile with 12% response &amp; not-open-to-work — pushed off the shortlist.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4400" y="5074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937760"/>
            <a:ext cx="97228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fit is captured too: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matching runs over the full profile text, not just the skills array — so an engineer who </a:t>
            </a:r>
            <a:r>
              <a:rPr lang="en-US" sz="130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a recommender (without the buzzwords) still scores on core fit.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independent LLM judge confirms the top-10 — it isn’t self-graded.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avoided grading our ranker with its own heuristics. A separate judge scored a stratified sample.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judged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candidates — ranker top ranks + higher heuristic tiers + a random control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gemini-2.5-flash scores each 0–5 vs the JD rubric: read careers, down-weight unavailable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 all 4–5 by the independent judge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propped up by our own labels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 composite (0.896) is slightly higher than our non-circular heuristic harness (0.881) — the ranking is strong by an outside opinion, not just our own.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</a:t>
            </a: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development-time proxy on a 249-candidate sample, not the hidden challenge score. It tells us the top of the list is real — it is not a leaderboard claim.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D9998D3-4237-66E4-3FFA-742BA440BF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4EB237-F78D-0269-84C8-933F09F66FAA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TRADEOFFS &amp; LIMITS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161346-604D-E5F8-1933-90B9D4C6FEAC}"/>
              </a:ext>
            </a:extLst>
          </p:cNvPr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E6EDF3"/>
                </a:solidFill>
                <a:latin typeface="Arial" panose="020B0604020202020204" pitchFamily="34" charset="0"/>
              </a:rPr>
              <a:t>Reproducibility beats raw model power.</a:t>
            </a:r>
            <a:endParaRPr lang="en-IN" sz="30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D84A61-C4E7-EB28-E06B-A18D38B3E52E}"/>
              </a:ext>
            </a:extLst>
          </p:cNvPr>
          <p:cNvSpPr txBox="1"/>
          <p:nvPr/>
        </p:nvSpPr>
        <p:spPr>
          <a:xfrm>
            <a:off x="640080" y="1335024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The deck does not hide limitations; it turns them into Stage-5 defense points judges can verify.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B5A105F-DC77-6142-08D2-4212DB0225D8}"/>
              </a:ext>
            </a:extLst>
          </p:cNvPr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395892-7750-E775-B810-FD5AA94829AF}"/>
              </a:ext>
            </a:extLst>
          </p:cNvPr>
          <p:cNvSpPr txBox="1"/>
          <p:nvPr/>
        </p:nvSpPr>
        <p:spPr>
          <a:xfrm>
            <a:off x="932688" y="2103120"/>
            <a:ext cx="27432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E6EDF3"/>
                </a:solidFill>
                <a:latin typeface="Arial" panose="020B0604020202020204" pitchFamily="34" charset="0"/>
              </a:rPr>
              <a:t>Defensible decisions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2BE1CFD-69F6-40B2-27C7-E7B03EF33DFA}"/>
              </a:ext>
            </a:extLst>
          </p:cNvPr>
          <p:cNvSpPr/>
          <p:nvPr/>
        </p:nvSpPr>
        <p:spPr>
          <a:xfrm>
            <a:off x="4645152" y="21214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64EEF-F1EF-8E57-349A-54673CF2B21F}"/>
              </a:ext>
            </a:extLst>
          </p:cNvPr>
          <p:cNvSpPr txBox="1"/>
          <p:nvPr/>
        </p:nvSpPr>
        <p:spPr>
          <a:xfrm>
            <a:off x="4718304" y="2153412"/>
            <a:ext cx="76809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shipped path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6E666A7-A9DA-282A-6235-719927B41A78}"/>
              </a:ext>
            </a:extLst>
          </p:cNvPr>
          <p:cNvSpPr/>
          <p:nvPr/>
        </p:nvSpPr>
        <p:spPr>
          <a:xfrm>
            <a:off x="932688" y="2670048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5A3A1-DF61-ACF6-B576-2C5E7168D4BA}"/>
              </a:ext>
            </a:extLst>
          </p:cNvPr>
          <p:cNvSpPr txBox="1"/>
          <p:nvPr/>
        </p:nvSpPr>
        <p:spPr>
          <a:xfrm>
            <a:off x="1234440" y="2633472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No LLM per candidate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CB621-651A-9B23-3182-9D88579452BA}"/>
              </a:ext>
            </a:extLst>
          </p:cNvPr>
          <p:cNvSpPr txBox="1"/>
          <p:nvPr/>
        </p:nvSpPr>
        <p:spPr>
          <a:xfrm>
            <a:off x="1234440" y="2871216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100K hosted calls break the CPU/no-network budget and make reproduction fragile.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FDE318C-29BE-36A5-1F3B-FBC27953EE1B}"/>
              </a:ext>
            </a:extLst>
          </p:cNvPr>
          <p:cNvSpPr/>
          <p:nvPr/>
        </p:nvSpPr>
        <p:spPr>
          <a:xfrm>
            <a:off x="932688" y="3438144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CF24C1-F991-1B4B-FE0E-8E3AB42E7A78}"/>
              </a:ext>
            </a:extLst>
          </p:cNvPr>
          <p:cNvSpPr txBox="1"/>
          <p:nvPr/>
        </p:nvSpPr>
        <p:spPr>
          <a:xfrm>
            <a:off x="1234440" y="3401568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80" b="1">
                <a:solidFill>
                  <a:srgbClr val="E6EDF3"/>
                </a:solidFill>
                <a:latin typeface="Arial" panose="020B0604020202020204" pitchFamily="34" charset="0"/>
              </a:rPr>
              <a:t>Dense embeddings tested, then kept off</a:t>
            </a:r>
            <a:endParaRPr lang="en-IN" sz="118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1AB0D3-8CA4-3230-8396-8D93CD6ECB37}"/>
              </a:ext>
            </a:extLst>
          </p:cNvPr>
          <p:cNvSpPr txBox="1"/>
          <p:nvPr/>
        </p:nvSpPr>
        <p:spPr>
          <a:xfrm>
            <a:off x="1234440" y="3639312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NDCG@10 was flat while runtime and complexity rose, so the simpler ranker won.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6F9E95D-C63D-FC46-63E6-3C72E8A8BBCA}"/>
              </a:ext>
            </a:extLst>
          </p:cNvPr>
          <p:cNvSpPr/>
          <p:nvPr/>
        </p:nvSpPr>
        <p:spPr>
          <a:xfrm>
            <a:off x="932688" y="4206240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80977D-A3C7-654D-95ED-64E182E42EC9}"/>
              </a:ext>
            </a:extLst>
          </p:cNvPr>
          <p:cNvSpPr txBox="1"/>
          <p:nvPr/>
        </p:nvSpPr>
        <p:spPr>
          <a:xfrm>
            <a:off x="1234440" y="4169664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Guardrails are multiplicative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5C445-A809-101B-386B-5A132CB5948C}"/>
              </a:ext>
            </a:extLst>
          </p:cNvPr>
          <p:cNvSpPr txBox="1"/>
          <p:nvPr/>
        </p:nvSpPr>
        <p:spPr>
          <a:xfrm>
            <a:off x="1234440" y="4407408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Impossible, off-target, or unreachable profiles cannot buy rank with keywords.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566CFCC-B2AE-132E-6A32-85EE8E53E0FC}"/>
              </a:ext>
            </a:extLst>
          </p:cNvPr>
          <p:cNvSpPr/>
          <p:nvPr/>
        </p:nvSpPr>
        <p:spPr>
          <a:xfrm>
            <a:off x="932688" y="4974336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652D21-839F-758D-6273-08AE6899099B}"/>
              </a:ext>
            </a:extLst>
          </p:cNvPr>
          <p:cNvSpPr txBox="1"/>
          <p:nvPr/>
        </p:nvSpPr>
        <p:spPr>
          <a:xfrm>
            <a:off x="1234440" y="4937760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Deterministic reasoning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2C095F-02DB-60A3-F6BF-11A1992E2BDC}"/>
              </a:ext>
            </a:extLst>
          </p:cNvPr>
          <p:cNvSpPr txBox="1"/>
          <p:nvPr/>
        </p:nvSpPr>
        <p:spPr>
          <a:xfrm>
            <a:off x="1234440" y="5175504"/>
            <a:ext cx="4224528" cy="1492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Same input gives the same CSV; every sentence points to real profile facts.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9425DBE5-6E1C-F454-DF69-C0DE1628AB39}"/>
              </a:ext>
            </a:extLst>
          </p:cNvPr>
          <p:cNvSpPr/>
          <p:nvPr/>
        </p:nvSpPr>
        <p:spPr>
          <a:xfrm>
            <a:off x="6327648" y="1874520"/>
            <a:ext cx="5221224" cy="406908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2E204-3320-E613-E7A3-C3422B452F16}"/>
              </a:ext>
            </a:extLst>
          </p:cNvPr>
          <p:cNvSpPr txBox="1"/>
          <p:nvPr/>
        </p:nvSpPr>
        <p:spPr>
          <a:xfrm>
            <a:off x="6620256" y="2103120"/>
            <a:ext cx="28346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F2B544"/>
                </a:solidFill>
                <a:latin typeface="Arial" panose="020B0604020202020204" pitchFamily="34" charset="0"/>
              </a:rPr>
              <a:t>Next hardening moves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A2188D7-A674-11A2-BC24-7C5599F69278}"/>
              </a:ext>
            </a:extLst>
          </p:cNvPr>
          <p:cNvSpPr/>
          <p:nvPr/>
        </p:nvSpPr>
        <p:spPr>
          <a:xfrm>
            <a:off x="10168128" y="212140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F2B544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B3AF8D-AC8D-AF5C-CC28-827BAF66CDCF}"/>
              </a:ext>
            </a:extLst>
          </p:cNvPr>
          <p:cNvSpPr txBox="1"/>
          <p:nvPr/>
        </p:nvSpPr>
        <p:spPr>
          <a:xfrm>
            <a:off x="10241280" y="215341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honest roadmap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C9C10B7-5A12-EDD2-C55F-FBFBC7FC0A26}"/>
              </a:ext>
            </a:extLst>
          </p:cNvPr>
          <p:cNvSpPr/>
          <p:nvPr/>
        </p:nvSpPr>
        <p:spPr>
          <a:xfrm>
            <a:off x="6620256" y="2670048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BCCC323-0FD6-74B1-9D75-C5081038251E}"/>
              </a:ext>
            </a:extLst>
          </p:cNvPr>
          <p:cNvSpPr txBox="1"/>
          <p:nvPr/>
        </p:nvSpPr>
        <p:spPr>
          <a:xfrm>
            <a:off x="6922008" y="2633472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Hidden ground truth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450987-E5E3-55D7-DAD0-B890DBEDF3D5}"/>
              </a:ext>
            </a:extLst>
          </p:cNvPr>
          <p:cNvSpPr txBox="1"/>
          <p:nvPr/>
        </p:nvSpPr>
        <p:spPr>
          <a:xfrm>
            <a:off x="6922008" y="2871216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The official leaderboard is unseen, so proxy eval is evidence - not a score claim.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CFA018F-70B3-3FC7-8CA0-2630C810BFD7}"/>
              </a:ext>
            </a:extLst>
          </p:cNvPr>
          <p:cNvSpPr/>
          <p:nvPr/>
        </p:nvSpPr>
        <p:spPr>
          <a:xfrm>
            <a:off x="6620256" y="3438144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67AD5C-6325-897F-5918-03809559024E}"/>
              </a:ext>
            </a:extLst>
          </p:cNvPr>
          <p:cNvSpPr txBox="1"/>
          <p:nvPr/>
        </p:nvSpPr>
        <p:spPr>
          <a:xfrm>
            <a:off x="6922008" y="3401568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Conservative hard-trap recall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CA9012-83C7-78FB-450B-5197DF33BFA9}"/>
              </a:ext>
            </a:extLst>
          </p:cNvPr>
          <p:cNvSpPr txBox="1"/>
          <p:nvPr/>
        </p:nvSpPr>
        <p:spPr>
          <a:xfrm>
            <a:off x="6922008" y="3639312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53 hard traps are blocked; softer suspicious profiles are down-weighted, not over-zeroed.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D2DCEE6-4F93-0777-F568-EE8CC4494EB7}"/>
              </a:ext>
            </a:extLst>
          </p:cNvPr>
          <p:cNvSpPr/>
          <p:nvPr/>
        </p:nvSpPr>
        <p:spPr>
          <a:xfrm>
            <a:off x="6620256" y="4206240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2A7CE0-AD36-A8A0-95BC-81D017C6E757}"/>
              </a:ext>
            </a:extLst>
          </p:cNvPr>
          <p:cNvSpPr txBox="1"/>
          <p:nvPr/>
        </p:nvSpPr>
        <p:spPr>
          <a:xfrm>
            <a:off x="6922008" y="4169664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Learned ranking layer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BDCBC8-26CB-3637-B4F1-B93E0DA85C62}"/>
              </a:ext>
            </a:extLst>
          </p:cNvPr>
          <p:cNvSpPr txBox="1"/>
          <p:nvPr/>
        </p:nvSpPr>
        <p:spPr>
          <a:xfrm>
            <a:off x="6922008" y="4407408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Future labels could train LambdaMART/XGBoost over these same features.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E643930-814C-A471-7958-9543710F14CF}"/>
              </a:ext>
            </a:extLst>
          </p:cNvPr>
          <p:cNvSpPr/>
          <p:nvPr/>
        </p:nvSpPr>
        <p:spPr>
          <a:xfrm>
            <a:off x="6620256" y="4974336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5B9317-2BAC-3C5A-192F-941B13C5A173}"/>
              </a:ext>
            </a:extLst>
          </p:cNvPr>
          <p:cNvSpPr txBox="1"/>
          <p:nvPr/>
        </p:nvSpPr>
        <p:spPr>
          <a:xfrm>
            <a:off x="6922008" y="4937760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Stage-3 fallback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828866-18CD-81AE-4355-588C89B9E6E5}"/>
              </a:ext>
            </a:extLst>
          </p:cNvPr>
          <p:cNvSpPr txBox="1"/>
          <p:nvPr/>
        </p:nvSpPr>
        <p:spPr>
          <a:xfrm>
            <a:off x="6922008" y="5175504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If multiprocessing is constrained, --workers 1 preserves the exact same ranking output.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4244A4-91F0-1D7E-70B3-924D9921A5B3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9 / 11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E0AFF0-E97A-F8A4-E153-3C6C28B07756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reproduces the shortlist — offline, well under the five-minute limit.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Stage-3 sandbox: it runs unmodified inside the challenge’s compute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0A0D11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9202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rank.py --candidates ./candidates.jsonl --out ./submission.csv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20295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69626" y="3108960"/>
            <a:ext cx="2435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LIMIT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05080" y="3108960"/>
            <a:ext cx="230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75888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" y="3675888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852506" y="3675888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min (300s)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287960" y="3675888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 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3803904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4242816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22960" y="4242816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852506" y="4242816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16 GB RAM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287960" y="4242816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4.33 GB peak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370832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40080" y="4809744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822960" y="4809744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2852506" y="4809744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87960" y="4809744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937760"/>
            <a:ext cx="219456" cy="2194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5376672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/>
          <p:nvPr/>
        </p:nvSpPr>
        <p:spPr>
          <a:xfrm>
            <a:off x="822960" y="5376672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2852506" y="5376672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during ranking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87960" y="5376672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5504688"/>
            <a:ext cx="219456" cy="21945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770992" y="3108960"/>
            <a:ext cx="3780623" cy="2724912"/>
          </a:xfrm>
          <a:prstGeom prst="roundRect">
            <a:avLst>
              <a:gd name="adj" fmla="val 402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045312" y="333756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849" y="3430097"/>
            <a:ext cx="235549" cy="23554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5664" y="3337560"/>
            <a:ext cx="28662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package</a:t>
            </a:r>
            <a:endParaRPr lang="en-US" sz="15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390448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374496" y="3840480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— clean, tested, reproducible</a:t>
            </a:r>
            <a:endParaRPr lang="en-US" sz="11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288536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374496" y="4224528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submission.csv — top-100 + grounded reasoning</a:t>
            </a:r>
            <a:endParaRPr lang="en-US" sz="11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672584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8374496" y="4608576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METHODOLOGY.md — every choice, with the why</a:t>
            </a:r>
            <a:endParaRPr lang="en-US" sz="11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056632"/>
            <a:ext cx="201168" cy="20116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374496" y="4992624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sandbox — HuggingFace Space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440680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374496" y="5376672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eval evidence committed (249 labels)</a:t>
            </a:r>
            <a:endParaRPr lang="en-US" sz="1150" dirty="0"/>
          </a:p>
        </p:txBody>
      </p:sp>
      <p:sp>
        <p:nvSpPr>
          <p:cNvPr id="45" name="Text 3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6" name="Text 3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011680"/>
            <a:ext cx="7315200" cy="73152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don’t rank resumes.
We rank </a:t>
            </a: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hireability</a:t>
            </a: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careers &amp; behavior, not buzzwords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3767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73088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honeypots, stuffers &amp; the unavailable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256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rank explained by 28 named features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78728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4256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73088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 scored offline, on CPU, in 184s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40080" y="4928616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8406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92861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verified by an independent judge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  ·  Redrob Data &amp; AI Challenge  ·  github.com/bansalbhunesh/redrob-hirefit-ranker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1576</Words>
  <Application>Microsoft Office PowerPoint</Application>
  <PresentationFormat>Widescreen</PresentationFormat>
  <Paragraphs>271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HireFit Ranker — Redrob Data &amp; AI Challenge</dc:title>
  <dc:subject>PptxGenJS Presentation</dc:subject>
  <dc:creator>Bhunesh Bansal</dc:creator>
  <cp:lastModifiedBy>bhunesh bansal</cp:lastModifiedBy>
  <cp:revision>6</cp:revision>
  <dcterms:created xsi:type="dcterms:W3CDTF">2026-06-09T15:19:30Z</dcterms:created>
  <dcterms:modified xsi:type="dcterms:W3CDTF">2026-06-09T16:44:05Z</dcterms:modified>
</cp:coreProperties>
</file>