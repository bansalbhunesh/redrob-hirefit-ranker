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7" r:id="rId18"/>
    <p:sldId id="259" r:id="rId5"/>
    <p:sldId id="260" r:id="rId6"/>
    <p:sldId id="266" r:id="rId7"/>
    <p:sldId id="261" r:id="rId8"/>
    <p:sldId id="262" r:id="rId9"/>
    <p:sldId id="263" r:id="rId10"/>
    <p:sldId id="264" r:id="rId11"/>
    <p:sldId id="268" r:id="rId19"/>
    <p:sldId id="265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3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4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19423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41992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png"/><Relationship Id="rId3" Type="http://schemas.openxmlformats.org/officeDocument/2006/relationships/image" Target="../media/image7.png"/><Relationship Id="rId4" Type="http://schemas.openxmlformats.org/officeDocument/2006/relationships/image" Target="../media/image1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5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1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Relationship Id="rId4" Type="http://schemas.openxmlformats.org/officeDocument/2006/relationships/image" Target="../media/image7.png"/><Relationship Id="rId5" Type="http://schemas.openxmlformats.org/officeDocument/2006/relationships/image" Target="../media/image1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png"/><Relationship Id="rId4" Type="http://schemas.openxmlformats.org/officeDocument/2006/relationships/image" Target="../media/image7.png"/><Relationship Id="rId5" Type="http://schemas.openxmlformats.org/officeDocument/2006/relationships/image" Target="../media/image19.png"/><Relationship Id="rId6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png"/><Relationship Id="rId3" Type="http://schemas.openxmlformats.org/officeDocument/2006/relationships/image" Target="../media/image7.png"/><Relationship Id="rId4" Type="http://schemas.openxmlformats.org/officeDocument/2006/relationships/image" Target="../media/image1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2011680"/>
            <a:ext cx="6400800" cy="6400800"/>
          </a:xfrm>
          <a:prstGeom prst="ellipse">
            <a:avLst/>
          </a:prstGeom>
          <a:solidFill>
            <a:srgbClr val="8B7CF6">
              <a:alpha val="10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2194560" y="3108960"/>
            <a:ext cx="5943600" cy="5943600"/>
          </a:xfrm>
          <a:prstGeom prst="ellipse">
            <a:avLst/>
          </a:prstGeom>
          <a:solidFill>
            <a:srgbClr val="2DD4BF">
              <a:alpha val="7000"/>
            </a:srgbClr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640080" y="502920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8B7CF6">
              <a:alpha val="18000"/>
            </a:srgbClr>
          </a:solidFill>
          <a:ln w="12700">
            <a:solidFill>
              <a:srgbClr val="8B7CF6">
                <a:alpha val="45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603504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07008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REDROB · DATA &amp; AI CHALLENGE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" y="205740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HireFit Ranker</a:t>
            </a:r>
            <a:endParaRPr lang="en-US" sz="6000" dirty="0"/>
          </a:p>
        </p:txBody>
      </p:sp>
      <p:sp>
        <p:nvSpPr>
          <p:cNvPr id="8" name="Text 5"/>
          <p:cNvSpPr/>
          <p:nvPr/>
        </p:nvSpPr>
        <p:spPr>
          <a:xfrm>
            <a:off x="640080" y="31546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Ranks </a:t>
            </a:r>
            <a:r>
              <a:rPr lang="en-US" sz="3000" b="1" dirty="0">
                <a:solidFill>
                  <a:srgbClr val="8B7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careers</a:t>
            </a:r>
            <a:r>
              <a:rPr lang="en-US" sz="30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not </a:t>
            </a:r>
            <a:r>
              <a:rPr lang="en-US" sz="30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keywords</a:t>
            </a:r>
            <a:r>
              <a:rPr lang="en-US" sz="30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640080" y="3886200"/>
            <a:ext cx="8778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deterministic, offline, CPU-only engine that reads who actually fits a role —</a:t>
            </a:r>
            <a:endParaRPr lang="en-US" sz="14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returns a 100-candidate shortlist a recruiter can trust.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40080" y="4983480"/>
            <a:ext cx="2487168" cy="1051560"/>
          </a:xfrm>
          <a:prstGeom prst="roundRect">
            <a:avLst>
              <a:gd name="adj" fmla="val 10435"/>
            </a:avLst>
          </a:prstGeom>
          <a:solidFill>
            <a:srgbClr val="161C24"/>
          </a:solidFill>
          <a:ln w="12700">
            <a:solidFill>
              <a:srgbClr val="2A3340"/>
            </a:solidFill>
            <a:prstDash val="solid"/>
          </a:ln>
          <a:effectLst>
            <a:outerShdw blurRad="1143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640080" y="5120640"/>
            <a:ext cx="2487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8B7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100K</a:t>
            </a:r>
            <a:endParaRPr lang="en-US" sz="3300" dirty="0"/>
          </a:p>
        </p:txBody>
      </p:sp>
      <p:sp>
        <p:nvSpPr>
          <p:cNvPr id="12" name="Text 9"/>
          <p:cNvSpPr/>
          <p:nvPr/>
        </p:nvSpPr>
        <p:spPr>
          <a:xfrm>
            <a:off x="640080" y="5650992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candidates scored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383280" y="4983480"/>
            <a:ext cx="2487168" cy="1051560"/>
          </a:xfrm>
          <a:prstGeom prst="roundRect">
            <a:avLst>
              <a:gd name="adj" fmla="val 10435"/>
            </a:avLst>
          </a:prstGeom>
          <a:solidFill>
            <a:srgbClr val="161C24"/>
          </a:solidFill>
          <a:ln w="12700">
            <a:solidFill>
              <a:srgbClr val="2A3340"/>
            </a:solidFill>
            <a:prstDash val="solid"/>
          </a:ln>
          <a:effectLst>
            <a:outerShdw blurRad="1143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3383280" y="5120640"/>
            <a:ext cx="2487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80s</a:t>
            </a:r>
            <a:endParaRPr lang="en-US" sz="3300" dirty="0"/>
          </a:p>
        </p:txBody>
      </p:sp>
      <p:sp>
        <p:nvSpPr>
          <p:cNvPr id="15" name="Text 12"/>
          <p:cNvSpPr/>
          <p:nvPr/>
        </p:nvSpPr>
        <p:spPr>
          <a:xfrm>
            <a:off x="3383280" y="5650992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CPU runtime (≤300s)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126480" y="4983480"/>
            <a:ext cx="2487168" cy="1051560"/>
          </a:xfrm>
          <a:prstGeom prst="roundRect">
            <a:avLst>
              <a:gd name="adj" fmla="val 10435"/>
            </a:avLst>
          </a:prstGeom>
          <a:solidFill>
            <a:srgbClr val="161C24"/>
          </a:solidFill>
          <a:ln w="12700">
            <a:solidFill>
              <a:srgbClr val="2A3340"/>
            </a:solidFill>
            <a:prstDash val="solid"/>
          </a:ln>
          <a:effectLst>
            <a:outerShdw blurRad="1143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126480" y="5120640"/>
            <a:ext cx="2487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0.894</a:t>
            </a:r>
            <a:endParaRPr lang="en-US" sz="3300" dirty="0"/>
          </a:p>
        </p:txBody>
      </p:sp>
      <p:sp>
        <p:nvSpPr>
          <p:cNvPr id="18" name="Text 15"/>
          <p:cNvSpPr/>
          <p:nvPr/>
        </p:nvSpPr>
        <p:spPr>
          <a:xfrm>
            <a:off x="6126480" y="5650992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NDCG@10 *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869680" y="4983480"/>
            <a:ext cx="2487168" cy="1051560"/>
          </a:xfrm>
          <a:prstGeom prst="roundRect">
            <a:avLst>
              <a:gd name="adj" fmla="val 10435"/>
            </a:avLst>
          </a:prstGeom>
          <a:solidFill>
            <a:srgbClr val="161C24"/>
          </a:solidFill>
          <a:ln w="12700">
            <a:solidFill>
              <a:srgbClr val="2A3340"/>
            </a:solidFill>
            <a:prstDash val="solid"/>
          </a:ln>
          <a:effectLst>
            <a:outerShdw blurRad="1143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8869680" y="5120640"/>
            <a:ext cx="2487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300" dirty="0"/>
          </a:p>
        </p:txBody>
      </p:sp>
      <p:sp>
        <p:nvSpPr>
          <p:cNvPr id="21" name="Text 18"/>
          <p:cNvSpPr/>
          <p:nvPr/>
        </p:nvSpPr>
        <p:spPr>
          <a:xfrm>
            <a:off x="8869680" y="5650992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honeypots in top-100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40080" y="6199632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>
                <a:solidFill>
                  <a:srgbClr val="6E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 NDCG@10 on an independent LLM-judged sample (dev proxy) — see slide 9. Not the hidden challenge score.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640080" y="647395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E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HIREFIT RANKER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300" dirty="0">
                <a:solidFill>
                  <a:srgbClr val="8B7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 filters miss the right people — and rank the wrong ones first.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335024"/>
            <a:ext cx="109115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dataset is engineered to punish keyword matching. Four trap types sink a naive ranker.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2522144" cy="2331720"/>
          </a:xfrm>
          <a:prstGeom prst="roundRect">
            <a:avLst>
              <a:gd name="adj" fmla="val 4706"/>
            </a:avLst>
          </a:prstGeom>
          <a:solidFill>
            <a:srgbClr val="161C24"/>
          </a:solidFill>
          <a:ln w="12700">
            <a:solidFill>
              <a:srgbClr val="2A3340"/>
            </a:solidFill>
            <a:prstDash val="solid"/>
          </a:ln>
          <a:effectLst>
            <a:outerShdw blurRad="1143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96112" y="2148840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F2607B">
              <a:alpha val="18000"/>
            </a:srgbClr>
          </a:solidFill>
          <a:ln w="12700">
            <a:solidFill>
              <a:srgbClr val="F2607B">
                <a:alpha val="45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2249424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2743200"/>
            <a:ext cx="201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 stuffers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96112" y="3200400"/>
            <a:ext cx="2010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Wrong-role profiles padded with AI skills — a Marketing Manager listing 9 AI keywords.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436544" y="1874520"/>
            <a:ext cx="2522144" cy="2331720"/>
          </a:xfrm>
          <a:prstGeom prst="roundRect">
            <a:avLst>
              <a:gd name="adj" fmla="val 4706"/>
            </a:avLst>
          </a:prstGeom>
          <a:solidFill>
            <a:srgbClr val="161C24"/>
          </a:solidFill>
          <a:ln w="12700">
            <a:solidFill>
              <a:srgbClr val="2A3340"/>
            </a:solidFill>
            <a:prstDash val="solid"/>
          </a:ln>
          <a:effectLst>
            <a:outerShdw blurRad="1143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3692576" y="2148840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F2607B">
              <a:alpha val="18000"/>
            </a:srgbClr>
          </a:solidFill>
          <a:ln w="12700">
            <a:solidFill>
              <a:srgbClr val="F2607B">
                <a:alpha val="45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3160" y="2249424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92576" y="2743200"/>
            <a:ext cx="201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Wrong-role profiles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692576" y="3200400"/>
            <a:ext cx="2010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Perfect skill lists attached to titles that never shipped a ranking system.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233008" y="1874520"/>
            <a:ext cx="2522144" cy="2331720"/>
          </a:xfrm>
          <a:prstGeom prst="roundRect">
            <a:avLst>
              <a:gd name="adj" fmla="val 4706"/>
            </a:avLst>
          </a:prstGeom>
          <a:solidFill>
            <a:srgbClr val="161C24"/>
          </a:solidFill>
          <a:ln w="12700">
            <a:solidFill>
              <a:srgbClr val="2A3340"/>
            </a:solidFill>
            <a:prstDash val="solid"/>
          </a:ln>
          <a:effectLst>
            <a:outerShdw blurRad="1143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6489040" y="2148840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F2607B">
              <a:alpha val="18000"/>
            </a:srgbClr>
          </a:solidFill>
          <a:ln w="12700">
            <a:solidFill>
              <a:srgbClr val="F2607B">
                <a:alpha val="45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9624" y="2249424"/>
            <a:ext cx="256032" cy="25603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89040" y="2743200"/>
            <a:ext cx="201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Honeypots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489040" y="3200400"/>
            <a:ext cx="2010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Subtly impossible profiles — “expert” in 10 skills with 0 months used. Forced to tier 0.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9029471" y="1874520"/>
            <a:ext cx="2522144" cy="2331720"/>
          </a:xfrm>
          <a:prstGeom prst="roundRect">
            <a:avLst>
              <a:gd name="adj" fmla="val 4706"/>
            </a:avLst>
          </a:prstGeom>
          <a:solidFill>
            <a:srgbClr val="161C24"/>
          </a:solidFill>
          <a:ln w="12700">
            <a:solidFill>
              <a:srgbClr val="2A3340"/>
            </a:solidFill>
            <a:prstDash val="solid"/>
          </a:ln>
          <a:effectLst>
            <a:outerShdw blurRad="1143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21" name="Shape 16"/>
          <p:cNvSpPr/>
          <p:nvPr/>
        </p:nvSpPr>
        <p:spPr>
          <a:xfrm>
            <a:off x="9285503" y="2148840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F2B544">
              <a:alpha val="18000"/>
            </a:srgbClr>
          </a:solidFill>
          <a:ln w="12700">
            <a:solidFill>
              <a:srgbClr val="F2B544">
                <a:alpha val="45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86087" y="2249424"/>
            <a:ext cx="256032" cy="25603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85503" y="2743200"/>
            <a:ext cx="201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Unavailable-but-perfect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9285503" y="3200400"/>
            <a:ext cx="2010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on paper, but 5% recruiter response and not logged in for months.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640080" y="4617720"/>
            <a:ext cx="10911535" cy="1234440"/>
          </a:xfrm>
          <a:prstGeom prst="roundRect">
            <a:avLst>
              <a:gd name="adj" fmla="val 8889"/>
            </a:avLst>
          </a:prstGeom>
          <a:solidFill>
            <a:srgbClr val="1B2330"/>
          </a:solidFill>
          <a:ln w="12700">
            <a:solidFill>
              <a:srgbClr val="2A3340"/>
            </a:solidFill>
            <a:prstDash val="solid"/>
          </a:ln>
          <a:effectLst>
            <a:outerShdw blurRad="1143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26" name="Shape 20"/>
          <p:cNvSpPr/>
          <p:nvPr/>
        </p:nvSpPr>
        <p:spPr>
          <a:xfrm>
            <a:off x="914400" y="4892040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2DD4BF">
              <a:alpha val="18000"/>
            </a:srgbClr>
          </a:solidFill>
          <a:ln w="12700">
            <a:solidFill>
              <a:srgbClr val="2DD4BF">
                <a:alpha val="45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4984" y="4992624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508760" y="4754880"/>
            <a:ext cx="972281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real task:  </a:t>
            </a:r>
            <a:r>
              <a:rPr lang="en-US" sz="13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 candidates the way a great recruiter would — reading career history and behavior, not counting keywords. A candidate who </a:t>
            </a:r>
            <a:r>
              <a:rPr lang="en-US" sz="1350" i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</a:t>
            </a:r>
            <a:r>
              <a:rPr lang="en-US" sz="13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recommender at a product company outranks one who merely </a:t>
            </a:r>
            <a:r>
              <a:rPr lang="en-US" sz="1350" i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lists</a:t>
            </a:r>
            <a:r>
              <a:rPr lang="en-US" sz="13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“RAG” and “Pinecone.”</a:t>
            </a:r>
            <a:endParaRPr lang="en-US" sz="1350" dirty="0"/>
          </a:p>
        </p:txBody>
      </p:sp>
      <p:sp>
        <p:nvSpPr>
          <p:cNvPr id="29" name="Text 22"/>
          <p:cNvSpPr/>
          <p:nvPr/>
        </p:nvSpPr>
        <p:spPr>
          <a:xfrm>
            <a:off x="10911535" y="647395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E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13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640080" y="647395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E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HIREFIT RANKER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300" dirty="0">
                <a:solidFill>
                  <a:srgbClr val="8B7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INSIGHT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JD lists keywords; the role is hiring for evidence.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335024"/>
            <a:ext cx="109115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whole design follows from reading the gap between what the JD says and what it means.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5272888" cy="4069080"/>
          </a:xfrm>
          <a:prstGeom prst="roundRect">
            <a:avLst>
              <a:gd name="adj" fmla="val 2697"/>
            </a:avLst>
          </a:prstGeom>
          <a:solidFill>
            <a:srgbClr val="161C24"/>
          </a:solidFill>
          <a:ln w="12700">
            <a:solidFill>
              <a:srgbClr val="2A3340"/>
            </a:solidFill>
            <a:prstDash val="solid"/>
          </a:ln>
          <a:effectLst>
            <a:outerShdw blurRad="1143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14400" y="2130552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F2607B">
              <a:alpha val="18000"/>
            </a:srgbClr>
          </a:solidFill>
          <a:ln w="12700">
            <a:solidFill>
              <a:srgbClr val="F2607B">
                <a:alpha val="45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2231136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81328" y="2148840"/>
            <a:ext cx="43584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JD says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14400" y="2743200"/>
            <a:ext cx="472424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“5–9 years, embeddings, retrieval, ranking, NLP, deep learning, PyTorch, TensorFlow…”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914400" y="3566160"/>
            <a:ext cx="1298448" cy="347472"/>
          </a:xfrm>
          <a:prstGeom prst="roundRect">
            <a:avLst>
              <a:gd name="adj" fmla="val 50000"/>
            </a:avLst>
          </a:prstGeom>
          <a:solidFill>
            <a:srgbClr val="F2607B">
              <a:alpha val="14000"/>
            </a:srgbClr>
          </a:solidFill>
          <a:ln w="12700">
            <a:solidFill>
              <a:srgbClr val="F2607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914400" y="3566160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331720" y="3566160"/>
            <a:ext cx="1298448" cy="347472"/>
          </a:xfrm>
          <a:prstGeom prst="roundRect">
            <a:avLst>
              <a:gd name="adj" fmla="val 50000"/>
            </a:avLst>
          </a:prstGeom>
          <a:solidFill>
            <a:srgbClr val="F2607B">
              <a:alpha val="14000"/>
            </a:srgbClr>
          </a:solidFill>
          <a:ln w="12700">
            <a:solidFill>
              <a:srgbClr val="F2607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2331720" y="3566160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749040" y="3566160"/>
            <a:ext cx="1298448" cy="347472"/>
          </a:xfrm>
          <a:prstGeom prst="roundRect">
            <a:avLst>
              <a:gd name="adj" fmla="val 50000"/>
            </a:avLst>
          </a:prstGeom>
          <a:solidFill>
            <a:srgbClr val="F2607B">
              <a:alpha val="14000"/>
            </a:srgbClr>
          </a:solidFill>
          <a:ln w="12700">
            <a:solidFill>
              <a:srgbClr val="F2607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3749040" y="3566160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ranking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914400" y="4023360"/>
            <a:ext cx="1298448" cy="347472"/>
          </a:xfrm>
          <a:prstGeom prst="roundRect">
            <a:avLst>
              <a:gd name="adj" fmla="val 50000"/>
            </a:avLst>
          </a:prstGeom>
          <a:solidFill>
            <a:srgbClr val="F2607B">
              <a:alpha val="14000"/>
            </a:srgbClr>
          </a:solidFill>
          <a:ln w="12700">
            <a:solidFill>
              <a:srgbClr val="F2607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914400" y="4023360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2331720" y="4023360"/>
            <a:ext cx="1298448" cy="347472"/>
          </a:xfrm>
          <a:prstGeom prst="roundRect">
            <a:avLst>
              <a:gd name="adj" fmla="val 50000"/>
            </a:avLst>
          </a:prstGeom>
          <a:solidFill>
            <a:srgbClr val="F2607B">
              <a:alpha val="14000"/>
            </a:srgbClr>
          </a:solidFill>
          <a:ln w="12700">
            <a:solidFill>
              <a:srgbClr val="F2607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2331720" y="4023360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5–9 yrs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914400" y="4617720"/>
            <a:ext cx="4724248" cy="1051560"/>
          </a:xfrm>
          <a:prstGeom prst="roundRect">
            <a:avLst>
              <a:gd name="adj" fmla="val 10435"/>
            </a:avLst>
          </a:prstGeom>
          <a:solidFill>
            <a:srgbClr val="1B2330"/>
          </a:solidFill>
          <a:ln w="12700">
            <a:solidFill>
              <a:srgbClr val="2A3340"/>
            </a:solidFill>
            <a:prstDash val="solid"/>
          </a:ln>
          <a:effectLst>
            <a:outerShdw blurRad="1143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1097280" y="4727448"/>
            <a:ext cx="444992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260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trap:  </a:t>
            </a:r>
            <a:r>
              <a:rPr lang="en-US" sz="12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skill-keyword overlap is high for stuffers and low for the engineers who actually shipped the systems.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6278728" y="1874520"/>
            <a:ext cx="5272888" cy="4069080"/>
          </a:xfrm>
          <a:prstGeom prst="roundRect">
            <a:avLst>
              <a:gd name="adj" fmla="val 2697"/>
            </a:avLst>
          </a:prstGeom>
          <a:solidFill>
            <a:srgbClr val="161C24"/>
          </a:solidFill>
          <a:ln w="12700">
            <a:solidFill>
              <a:srgbClr val="2A3340"/>
            </a:solidFill>
            <a:prstDash val="solid"/>
          </a:ln>
          <a:effectLst>
            <a:outerShdw blurRad="1143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6553048" y="2130552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2DD4BF">
              <a:alpha val="18000"/>
            </a:srgbClr>
          </a:solidFill>
          <a:ln w="12700">
            <a:solidFill>
              <a:srgbClr val="2DD4BF">
                <a:alpha val="45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3632" y="2231136"/>
            <a:ext cx="256032" cy="256032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7119976" y="2148840"/>
            <a:ext cx="43584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role means</a:t>
            </a:r>
            <a:endParaRPr lang="en-US" sz="1600" dirty="0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1336" y="2825496"/>
            <a:ext cx="237744" cy="237744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937096" y="2752344"/>
            <a:ext cx="43584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Shipped work  —  </a:t>
            </a:r>
            <a:r>
              <a:rPr lang="en-US" sz="13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&amp; deployed ranking / search / recsys in production.</a:t>
            </a:r>
            <a:endParaRPr lang="en-US" sz="1300" dirty="0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1336" y="3575304"/>
            <a:ext cx="237744" cy="237744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937096" y="3502152"/>
            <a:ext cx="43584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Career trajectory  —  </a:t>
            </a:r>
            <a:r>
              <a:rPr lang="en-US" sz="13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 growth in relevant, product-company roles.</a:t>
            </a:r>
            <a:endParaRPr lang="en-US" sz="1300" dirty="0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1336" y="4325112"/>
            <a:ext cx="237744" cy="237744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6937096" y="4251960"/>
            <a:ext cx="43584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seniority  —  anchored on the JD's 5–9 band — juniors demoted hard; senior depth read from trajectory, not years arithmetic.</a:t>
            </a:r>
            <a:endParaRPr lang="en-US" sz="1300" dirty="0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1336" y="5074920"/>
            <a:ext cx="237744" cy="23774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937096" y="5001768"/>
            <a:ext cx="43584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Actually available  —  </a:t>
            </a:r>
            <a:r>
              <a:rPr lang="en-US" sz="13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Responsive, open to work, reachable notice period.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10911535" y="647395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E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13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640080" y="647395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E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HIREFIT RANKER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300" dirty="0">
                <a:solidFill>
                  <a:srgbClr val="8B7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PRE-REGISTERED DISCIPLINE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measured the config that scores higher — and declined it on principle.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335024"/>
            <a:ext cx="109115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knob swept under a decision rule committed before the first run; the JD is the spec, not the judge.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2522144" cy="1097280"/>
          </a:xfrm>
          <a:prstGeom prst="roundRect">
            <a:avLst>
              <a:gd name="adj" fmla="val 10000"/>
            </a:avLst>
          </a:prstGeom>
          <a:solidFill>
            <a:srgbClr val="161C24"/>
          </a:solidFill>
          <a:ln w="12700">
            <a:solidFill>
              <a:srgbClr val="2A3340"/>
            </a:solidFill>
            <a:prstDash val="solid"/>
          </a:ln>
          <a:effectLst>
            <a:outerShdw blurRad="1143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1993392"/>
            <a:ext cx="25221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0.911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40080" y="2578608"/>
            <a:ext cx="2522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SHIPPED (LLM-JUDGE)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36544" y="1874520"/>
            <a:ext cx="2522144" cy="1097280"/>
          </a:xfrm>
          <a:prstGeom prst="roundRect">
            <a:avLst>
              <a:gd name="adj" fmla="val 10000"/>
            </a:avLst>
          </a:prstGeom>
          <a:solidFill>
            <a:srgbClr val="161C24"/>
          </a:solidFill>
          <a:ln w="12700">
            <a:solidFill>
              <a:srgbClr val="2A3340"/>
            </a:solidFill>
            <a:prstDash val="solid"/>
          </a:ln>
          <a:effectLst>
            <a:outerShdw blurRad="1143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436544" y="1993392"/>
            <a:ext cx="25221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0.926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436544" y="2578608"/>
            <a:ext cx="2522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FLOOR-OFF — BIASED SAMPLE, DECLINED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33008" y="1874520"/>
            <a:ext cx="2522144" cy="1097280"/>
          </a:xfrm>
          <a:prstGeom prst="roundRect">
            <a:avLst>
              <a:gd name="adj" fmla="val 10000"/>
            </a:avLst>
          </a:prstGeom>
          <a:solidFill>
            <a:srgbClr val="161C24"/>
          </a:solidFill>
          <a:ln w="12700">
            <a:solidFill>
              <a:srgbClr val="2A3340"/>
            </a:solidFill>
            <a:prstDash val="solid"/>
          </a:ln>
          <a:effectLst>
            <a:outerShdw blurRad="1143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233008" y="1993392"/>
            <a:ext cx="25221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6233008" y="2578608"/>
            <a:ext cx="2522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 CHANGES 0.25–0.55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029471" y="1874520"/>
            <a:ext cx="2522144" cy="1097280"/>
          </a:xfrm>
          <a:prstGeom prst="roundRect">
            <a:avLst>
              <a:gd name="adj" fmla="val 10000"/>
            </a:avLst>
          </a:prstGeom>
          <a:solidFill>
            <a:srgbClr val="161C24"/>
          </a:solidFill>
          <a:ln w="12700">
            <a:solidFill>
              <a:srgbClr val="2A3340"/>
            </a:solidFill>
            <a:prstDash val="solid"/>
          </a:ln>
          <a:effectLst>
            <a:outerShdw blurRad="1143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29471" y="1993392"/>
            <a:ext cx="25221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11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9029471" y="2578608"/>
            <a:ext cx="2522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PLANTED TRAPS CAUGHT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3200400"/>
            <a:ext cx="5272888" cy="1874520"/>
          </a:xfrm>
          <a:prstGeom prst="roundRect">
            <a:avLst>
              <a:gd name="adj" fmla="val 5854"/>
            </a:avLst>
          </a:prstGeom>
          <a:solidFill>
            <a:srgbClr val="161C24"/>
          </a:solidFill>
          <a:ln w="12700">
            <a:solidFill>
              <a:srgbClr val="2A3340"/>
            </a:solidFill>
            <a:prstDash val="solid"/>
          </a:ln>
          <a:effectLst>
            <a:outerShdw blurRad="1143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914400" y="3429000"/>
            <a:ext cx="420624" cy="420624"/>
          </a:xfrm>
          <a:prstGeom prst="roundRect">
            <a:avLst>
              <a:gd name="adj" fmla="val 15217"/>
            </a:avLst>
          </a:prstGeom>
          <a:solidFill>
            <a:srgbClr val="F2B544">
              <a:alpha val="18000"/>
            </a:srgbClr>
          </a:solidFill>
          <a:ln w="12700">
            <a:solidFill>
              <a:srgbClr val="F2B544">
                <a:alpha val="45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937" y="3521537"/>
            <a:ext cx="235549" cy="235549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444752" y="3429000"/>
            <a:ext cx="43584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rule decided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932688" y="3931920"/>
            <a:ext cx="47242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first   committed before any sweep run — ties break toward the JD's down-weight instruction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932688" y="4315968"/>
            <a:ext cx="47242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guard   floor 0.85–1.00 configs excluded: &lt;95% label coverage, selection-biased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932688" y="4700016"/>
            <a:ext cx="47242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Winner   shipped config — identical top-100 across floors 0.25–0.55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278728" y="3200400"/>
            <a:ext cx="5272888" cy="1874520"/>
          </a:xfrm>
          <a:prstGeom prst="roundRect">
            <a:avLst>
              <a:gd name="adj" fmla="val 5854"/>
            </a:avLst>
          </a:prstGeom>
          <a:solidFill>
            <a:srgbClr val="1B2330"/>
          </a:solidFill>
          <a:ln w="12700">
            <a:solidFill>
              <a:srgbClr val="2A3340"/>
            </a:solidFill>
            <a:prstDash val="solid"/>
          </a:ln>
          <a:effectLst>
            <a:outerShdw blurRad="1143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6553048" y="3429000"/>
            <a:ext cx="420624" cy="420624"/>
          </a:xfrm>
          <a:prstGeom prst="roundRect">
            <a:avLst>
              <a:gd name="adj" fmla="val 15217"/>
            </a:avLst>
          </a:prstGeom>
          <a:solidFill>
            <a:srgbClr val="2DD4BF">
              <a:alpha val="18000"/>
            </a:srgbClr>
          </a:solidFill>
          <a:ln w="12700">
            <a:solidFill>
              <a:srgbClr val="2DD4BF">
                <a:alpha val="45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5585" y="3521537"/>
            <a:ext cx="235549" cy="235549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7083400" y="3429000"/>
            <a:ext cx="43584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built our strongest rival — it lost</a:t>
            </a:r>
            <a:endParaRPr lang="en-US" sz="1500" dirty="0"/>
          </a:p>
        </p:txBody>
      </p:sp>
      <p:sp>
        <p:nvSpPr>
          <p:cNvPr id="28" name="Text 24"/>
          <p:cNvSpPr/>
          <p:nvPr/>
        </p:nvSpPr>
        <p:spPr>
          <a:xfrm>
            <a:off x="6571336" y="3931920"/>
            <a:ext cx="472424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LambdaMART challenger built on our own 28 features plus recovered generator structure lost its pre-registered gate: 0.900 vs 0.906. One of four measured negatives — embeddings, learned-LR, the challenger, and a declined availability hedge. The single adopted change: an 8-swap consensus calibration pass that survived held-out validation (+0.009–0.011).</a:t>
            </a:r>
            <a:endParaRPr lang="en-US" sz="1250" dirty="0"/>
          </a:p>
        </p:txBody>
      </p:sp>
      <p:sp>
        <p:nvSpPr>
          <p:cNvPr id="29" name="Shape 25"/>
          <p:cNvSpPr/>
          <p:nvPr/>
        </p:nvSpPr>
        <p:spPr>
          <a:xfrm>
            <a:off x="640080" y="5257800"/>
            <a:ext cx="10911535" cy="658368"/>
          </a:xfrm>
          <a:prstGeom prst="roundRect">
            <a:avLst>
              <a:gd name="adj" fmla="val 16667"/>
            </a:avLst>
          </a:prstGeom>
          <a:solidFill>
            <a:srgbClr val="161C24"/>
          </a:solidFill>
          <a:ln w="12700">
            <a:solidFill>
              <a:srgbClr val="2A3340"/>
            </a:solidFill>
            <a:prstDash val="solid"/>
          </a:ln>
          <a:effectLst>
            <a:outerShdw blurRad="1143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p/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5413248"/>
            <a:ext cx="292608" cy="292608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1325880" y="5257800"/>
            <a:ext cx="990569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2B5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framing:  the pool plants 11 perfect-on-paper-but-unavailable gold profiles — one a honeypot in gold clothing — the guardrails demote all 11; an LLM judge missed one of them.</a:t>
            </a:r>
            <a:endParaRPr lang="en-US" sz="1200" dirty="0"/>
          </a:p>
        </p:txBody>
      </p:sp>
      <p:sp>
        <p:nvSpPr>
          <p:cNvPr id="32" name="Text 27"/>
          <p:cNvSpPr/>
          <p:nvPr/>
        </p:nvSpPr>
        <p:spPr>
          <a:xfrm>
            <a:off x="10911535" y="647395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E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13</a:t>
            </a:r>
            <a:endParaRPr lang="en-US" sz="900" dirty="0"/>
          </a:p>
        </p:txBody>
      </p:sp>
      <p:sp>
        <p:nvSpPr>
          <p:cNvPr id="33" name="Text 28"/>
          <p:cNvSpPr/>
          <p:nvPr/>
        </p:nvSpPr>
        <p:spPr>
          <a:xfrm>
            <a:off x="640080" y="647395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E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HIREFIT RANKER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300" dirty="0">
                <a:solidFill>
                  <a:srgbClr val="8B7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SYSTEM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at rank time — every choice gated by LLM judges offline.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335024"/>
            <a:ext cx="109115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CPU-only stages, no network or GPU; tuned and frozen under two LLM judges and a LambdaMART challenger gate.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1627632" cy="1508760"/>
          </a:xfrm>
          <a:prstGeom prst="roundRect">
            <a:avLst>
              <a:gd name="adj" fmla="val 7273"/>
            </a:avLst>
          </a:prstGeom>
          <a:solidFill>
            <a:srgbClr val="161C24"/>
          </a:solidFill>
          <a:ln w="12700">
            <a:solidFill>
              <a:srgbClr val="2A3340"/>
            </a:solidFill>
            <a:prstDash val="solid"/>
          </a:ln>
          <a:effectLst>
            <a:outerShdw blurRad="1143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41248" y="2212848"/>
            <a:ext cx="384048" cy="384048"/>
          </a:xfrm>
          <a:prstGeom prst="ellipse">
            <a:avLst/>
          </a:prstGeom>
          <a:solidFill>
            <a:srgbClr val="8B7CF6">
              <a:alpha val="22000"/>
            </a:srgbClr>
          </a:solidFill>
          <a:ln w="12700">
            <a:solidFill>
              <a:srgbClr val="8B7CF6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41248" y="22128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B7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04672" y="2697480"/>
            <a:ext cx="1298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04672" y="2999232"/>
            <a:ext cx="1298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000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</a:t>
            </a:r>
            <a:endParaRPr lang="en-US" sz="10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000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</a:t>
            </a:r>
            <a:endParaRPr lang="en-US" sz="10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6856" y="2651760"/>
            <a:ext cx="146304" cy="146304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432304" y="2011680"/>
            <a:ext cx="1627632" cy="1508760"/>
          </a:xfrm>
          <a:prstGeom prst="roundRect">
            <a:avLst>
              <a:gd name="adj" fmla="val 7273"/>
            </a:avLst>
          </a:prstGeom>
          <a:solidFill>
            <a:srgbClr val="161C24"/>
          </a:solidFill>
          <a:ln w="12700">
            <a:solidFill>
              <a:srgbClr val="2A3340"/>
            </a:solidFill>
            <a:prstDash val="solid"/>
          </a:ln>
          <a:effectLst>
            <a:outerShdw blurRad="1143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2633472" y="2212848"/>
            <a:ext cx="384048" cy="384048"/>
          </a:xfrm>
          <a:prstGeom prst="ellipse">
            <a:avLst/>
          </a:prstGeom>
          <a:solidFill>
            <a:srgbClr val="8B7CF6">
              <a:alpha val="22000"/>
            </a:srgbClr>
          </a:solidFill>
          <a:ln w="12700">
            <a:solidFill>
              <a:srgbClr val="8B7CF6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2633472" y="22128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B7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2596896" y="2697480"/>
            <a:ext cx="1298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BM25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2596896" y="2999232"/>
            <a:ext cx="1298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000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lexical</a:t>
            </a:r>
            <a:endParaRPr lang="en-US" sz="10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000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relevance</a:t>
            </a:r>
            <a:endParaRPr lang="en-US" sz="10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9080" y="2651760"/>
            <a:ext cx="146304" cy="146304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4224528" y="2011680"/>
            <a:ext cx="1627632" cy="1508760"/>
          </a:xfrm>
          <a:prstGeom prst="roundRect">
            <a:avLst>
              <a:gd name="adj" fmla="val 7273"/>
            </a:avLst>
          </a:prstGeom>
          <a:solidFill>
            <a:srgbClr val="161C24"/>
          </a:solidFill>
          <a:ln w="12700">
            <a:solidFill>
              <a:srgbClr val="2A3340"/>
            </a:solidFill>
            <a:prstDash val="solid"/>
          </a:ln>
          <a:effectLst>
            <a:outerShdw blurRad="1143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18" name="Shape 14"/>
          <p:cNvSpPr/>
          <p:nvPr/>
        </p:nvSpPr>
        <p:spPr>
          <a:xfrm>
            <a:off x="4425696" y="2212848"/>
            <a:ext cx="384048" cy="384048"/>
          </a:xfrm>
          <a:prstGeom prst="ellipse">
            <a:avLst/>
          </a:prstGeom>
          <a:solidFill>
            <a:srgbClr val="8B7CF6">
              <a:alpha val="22000"/>
            </a:srgbClr>
          </a:solidFill>
          <a:ln w="12700">
            <a:solidFill>
              <a:srgbClr val="8B7CF6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5"/>
          <p:cNvSpPr/>
          <p:nvPr/>
        </p:nvSpPr>
        <p:spPr>
          <a:xfrm>
            <a:off x="4425696" y="22128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B7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4389120" y="2697480"/>
            <a:ext cx="1298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4389120" y="2999232"/>
            <a:ext cx="1298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000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</a:t>
            </a:r>
            <a:endParaRPr lang="en-US" sz="10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000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expansion</a:t>
            </a:r>
            <a:endParaRPr lang="en-US" sz="100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1304" y="2651760"/>
            <a:ext cx="146304" cy="146304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6016752" y="2011680"/>
            <a:ext cx="1627632" cy="1508760"/>
          </a:xfrm>
          <a:prstGeom prst="roundRect">
            <a:avLst>
              <a:gd name="adj" fmla="val 7273"/>
            </a:avLst>
          </a:prstGeom>
          <a:solidFill>
            <a:srgbClr val="161C24"/>
          </a:solidFill>
          <a:ln w="12700">
            <a:solidFill>
              <a:srgbClr val="2A3340"/>
            </a:solidFill>
            <a:prstDash val="solid"/>
          </a:ln>
          <a:effectLst>
            <a:outerShdw blurRad="1143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24" name="Shape 19"/>
          <p:cNvSpPr/>
          <p:nvPr/>
        </p:nvSpPr>
        <p:spPr>
          <a:xfrm>
            <a:off x="6217920" y="2212848"/>
            <a:ext cx="384048" cy="384048"/>
          </a:xfrm>
          <a:prstGeom prst="ellipse">
            <a:avLst/>
          </a:prstGeom>
          <a:solidFill>
            <a:srgbClr val="8B7CF6">
              <a:alpha val="22000"/>
            </a:srgbClr>
          </a:solidFill>
          <a:ln w="12700">
            <a:solidFill>
              <a:srgbClr val="8B7CF6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Text 20"/>
          <p:cNvSpPr/>
          <p:nvPr/>
        </p:nvSpPr>
        <p:spPr>
          <a:xfrm>
            <a:off x="6217920" y="22128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B7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6181344" y="2697480"/>
            <a:ext cx="1298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features</a:t>
            </a:r>
            <a:endParaRPr lang="en-US" sz="1400" dirty="0"/>
          </a:p>
        </p:txBody>
      </p:sp>
      <p:sp>
        <p:nvSpPr>
          <p:cNvPr id="27" name="Text 22"/>
          <p:cNvSpPr/>
          <p:nvPr/>
        </p:nvSpPr>
        <p:spPr>
          <a:xfrm>
            <a:off x="6181344" y="2999232"/>
            <a:ext cx="1298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000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recruiter</a:t>
            </a:r>
            <a:endParaRPr lang="en-US" sz="10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000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matrix</a:t>
            </a:r>
            <a:endParaRPr lang="en-US" sz="1000" dirty="0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3528" y="2651760"/>
            <a:ext cx="146304" cy="146304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7808976" y="2011680"/>
            <a:ext cx="1627632" cy="1508760"/>
          </a:xfrm>
          <a:prstGeom prst="roundRect">
            <a:avLst>
              <a:gd name="adj" fmla="val 7273"/>
            </a:avLst>
          </a:prstGeom>
          <a:solidFill>
            <a:srgbClr val="161C24"/>
          </a:solidFill>
          <a:ln w="12700">
            <a:solidFill>
              <a:srgbClr val="2A3340"/>
            </a:solidFill>
            <a:prstDash val="solid"/>
          </a:ln>
          <a:effectLst>
            <a:outerShdw blurRad="1143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30" name="Shape 24"/>
          <p:cNvSpPr/>
          <p:nvPr/>
        </p:nvSpPr>
        <p:spPr>
          <a:xfrm>
            <a:off x="8010144" y="2212848"/>
            <a:ext cx="384048" cy="384048"/>
          </a:xfrm>
          <a:prstGeom prst="ellipse">
            <a:avLst/>
          </a:prstGeom>
          <a:solidFill>
            <a:srgbClr val="8B7CF6">
              <a:alpha val="22000"/>
            </a:srgbClr>
          </a:solidFill>
          <a:ln w="12700">
            <a:solidFill>
              <a:srgbClr val="8B7CF6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Text 25"/>
          <p:cNvSpPr/>
          <p:nvPr/>
        </p:nvSpPr>
        <p:spPr>
          <a:xfrm>
            <a:off x="8010144" y="22128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B7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32" name="Text 26"/>
          <p:cNvSpPr/>
          <p:nvPr/>
        </p:nvSpPr>
        <p:spPr>
          <a:xfrm>
            <a:off x="7973568" y="2697480"/>
            <a:ext cx="1298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score</a:t>
            </a:r>
            <a:endParaRPr lang="en-US" sz="1400" dirty="0"/>
          </a:p>
        </p:txBody>
      </p:sp>
      <p:sp>
        <p:nvSpPr>
          <p:cNvPr id="33" name="Text 27"/>
          <p:cNvSpPr/>
          <p:nvPr/>
        </p:nvSpPr>
        <p:spPr>
          <a:xfrm>
            <a:off x="7973568" y="2999232"/>
            <a:ext cx="1298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000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</a:t>
            </a:r>
            <a:endParaRPr lang="en-US" sz="10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000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</a:t>
            </a:r>
            <a:endParaRPr lang="en-US" sz="1000" dirty="0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752" y="2651760"/>
            <a:ext cx="146304" cy="146304"/>
          </a:xfrm>
          <a:prstGeom prst="rect">
            <a:avLst/>
          </a:prstGeom>
        </p:spPr>
      </p:pic>
      <p:sp>
        <p:nvSpPr>
          <p:cNvPr id="35" name="Shape 28"/>
          <p:cNvSpPr/>
          <p:nvPr/>
        </p:nvSpPr>
        <p:spPr>
          <a:xfrm>
            <a:off x="9601200" y="2011680"/>
            <a:ext cx="1627632" cy="1508760"/>
          </a:xfrm>
          <a:prstGeom prst="roundRect">
            <a:avLst>
              <a:gd name="adj" fmla="val 7273"/>
            </a:avLst>
          </a:prstGeom>
          <a:solidFill>
            <a:srgbClr val="161C24"/>
          </a:solidFill>
          <a:ln w="12700">
            <a:solidFill>
              <a:srgbClr val="2A3340"/>
            </a:solidFill>
            <a:prstDash val="solid"/>
          </a:ln>
          <a:effectLst>
            <a:outerShdw blurRad="1143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36" name="Shape 29"/>
          <p:cNvSpPr/>
          <p:nvPr/>
        </p:nvSpPr>
        <p:spPr>
          <a:xfrm>
            <a:off x="9802368" y="2212848"/>
            <a:ext cx="384048" cy="384048"/>
          </a:xfrm>
          <a:prstGeom prst="ellipse">
            <a:avLst/>
          </a:prstGeom>
          <a:solidFill>
            <a:srgbClr val="8B7CF6">
              <a:alpha val="22000"/>
            </a:srgbClr>
          </a:solidFill>
          <a:ln w="12700">
            <a:solidFill>
              <a:srgbClr val="8B7CF6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7" name="Text 30"/>
          <p:cNvSpPr/>
          <p:nvPr/>
        </p:nvSpPr>
        <p:spPr>
          <a:xfrm>
            <a:off x="9802368" y="22128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B7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38" name="Text 31"/>
          <p:cNvSpPr/>
          <p:nvPr/>
        </p:nvSpPr>
        <p:spPr>
          <a:xfrm>
            <a:off x="9765792" y="2697480"/>
            <a:ext cx="1298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</a:t>
            </a:r>
            <a:endParaRPr lang="en-US" sz="1400" dirty="0"/>
          </a:p>
        </p:txBody>
      </p:sp>
      <p:sp>
        <p:nvSpPr>
          <p:cNvPr id="39" name="Text 32"/>
          <p:cNvSpPr/>
          <p:nvPr/>
        </p:nvSpPr>
        <p:spPr>
          <a:xfrm>
            <a:off x="9765792" y="2999232"/>
            <a:ext cx="12984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000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 · honeypot ·</a:t>
            </a:r>
            <a:endParaRPr lang="en-US" sz="10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000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disqualifier</a:t>
            </a:r>
            <a:endParaRPr lang="en-US" sz="1000" dirty="0"/>
          </a:p>
        </p:txBody>
      </p:sp>
      <p:sp>
        <p:nvSpPr>
          <p:cNvPr id="40" name="Shape 33"/>
          <p:cNvSpPr/>
          <p:nvPr/>
        </p:nvSpPr>
        <p:spPr>
          <a:xfrm>
            <a:off x="640080" y="3840480"/>
            <a:ext cx="10911535" cy="1051560"/>
          </a:xfrm>
          <a:prstGeom prst="roundRect">
            <a:avLst>
              <a:gd name="adj" fmla="val 10435"/>
            </a:avLst>
          </a:prstGeom>
          <a:solidFill>
            <a:srgbClr val="1B2330"/>
          </a:solidFill>
          <a:ln w="12700">
            <a:solidFill>
              <a:srgbClr val="2A3340"/>
            </a:solidFill>
            <a:prstDash val="solid"/>
          </a:ln>
          <a:effectLst>
            <a:outerShdw blurRad="1143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41" name="Text 34"/>
          <p:cNvSpPr/>
          <p:nvPr/>
        </p:nvSpPr>
        <p:spPr>
          <a:xfrm>
            <a:off x="640080" y="3950208"/>
            <a:ext cx="1091153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score</a:t>
            </a:r>
            <a:r>
              <a:rPr lang="en-US" sz="20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=  base score  </a:t>
            </a:r>
            <a:r>
              <a:rPr lang="en-US" sz="2000" b="1" dirty="0">
                <a:solidFill>
                  <a:srgbClr val="6E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r>
              <a:rPr lang="en-US" sz="2000" b="1" dirty="0">
                <a:solidFill>
                  <a:srgbClr val="8B7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behavioral  </a:t>
            </a:r>
            <a:r>
              <a:rPr lang="en-US" sz="2000" b="1" dirty="0">
                <a:solidFill>
                  <a:srgbClr val="6E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r>
              <a:rPr lang="en-US" sz="2000" b="1" dirty="0">
                <a:solidFill>
                  <a:srgbClr val="8B7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honeypot  </a:t>
            </a:r>
            <a:r>
              <a:rPr lang="en-US" sz="2000" b="1" dirty="0">
                <a:solidFill>
                  <a:srgbClr val="6E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r>
              <a:rPr lang="en-US" sz="2000" b="1" dirty="0">
                <a:solidFill>
                  <a:srgbClr val="8B7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disqualifier</a:t>
            </a:r>
            <a:endParaRPr lang="en-US" sz="2000" dirty="0"/>
          </a:p>
        </p:txBody>
      </p:sp>
      <p:sp>
        <p:nvSpPr>
          <p:cNvPr id="42" name="Text 35"/>
          <p:cNvSpPr/>
          <p:nvPr/>
        </p:nvSpPr>
        <p:spPr>
          <a:xfrm>
            <a:off x="1005840" y="4434840"/>
            <a:ext cx="101800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 are multiplicative — a strong-on-paper profile that is impossible, off-target, or unreachable is pushed down no matter how good its keywords look.</a:t>
            </a:r>
            <a:endParaRPr lang="en-US" sz="1200" dirty="0"/>
          </a:p>
        </p:txBody>
      </p:sp>
      <p:sp>
        <p:nvSpPr>
          <p:cNvPr id="43" name="Text 36"/>
          <p:cNvSpPr/>
          <p:nvPr/>
        </p:nvSpPr>
        <p:spPr>
          <a:xfrm>
            <a:off x="640080" y="5212080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6E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UNDER:</a:t>
            </a:r>
            <a:endParaRPr lang="en-US" sz="1000" dirty="0"/>
          </a:p>
        </p:txBody>
      </p:sp>
      <p:sp>
        <p:nvSpPr>
          <p:cNvPr id="44" name="Shape 37"/>
          <p:cNvSpPr/>
          <p:nvPr/>
        </p:nvSpPr>
        <p:spPr>
          <a:xfrm>
            <a:off x="2103120" y="521208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1B2330"/>
          </a:solidFill>
          <a:ln w="12700">
            <a:solidFill>
              <a:srgbClr val="2DD4BF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5" name="Text 38"/>
          <p:cNvSpPr/>
          <p:nvPr/>
        </p:nvSpPr>
        <p:spPr>
          <a:xfrm>
            <a:off x="2103120" y="5212080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r>
              <a:rPr lang="en-US" sz="950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</a:t>
            </a:r>
            <a:endParaRPr lang="en-US" sz="950" dirty="0"/>
          </a:p>
        </p:txBody>
      </p:sp>
      <p:sp>
        <p:nvSpPr>
          <p:cNvPr id="46" name="Shape 39"/>
          <p:cNvSpPr/>
          <p:nvPr/>
        </p:nvSpPr>
        <p:spPr>
          <a:xfrm>
            <a:off x="3182112" y="521208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1B2330"/>
          </a:solidFill>
          <a:ln w="12700">
            <a:solidFill>
              <a:srgbClr val="2DD4BF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7" name="Text 40"/>
          <p:cNvSpPr/>
          <p:nvPr/>
        </p:nvSpPr>
        <p:spPr>
          <a:xfrm>
            <a:off x="3182112" y="5212080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r>
              <a:rPr lang="en-US" sz="950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CPU-only</a:t>
            </a:r>
            <a:endParaRPr lang="en-US" sz="950" dirty="0"/>
          </a:p>
        </p:txBody>
      </p:sp>
      <p:sp>
        <p:nvSpPr>
          <p:cNvPr id="48" name="Shape 41"/>
          <p:cNvSpPr/>
          <p:nvPr/>
        </p:nvSpPr>
        <p:spPr>
          <a:xfrm>
            <a:off x="4261104" y="521208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1B2330"/>
          </a:solidFill>
          <a:ln w="12700">
            <a:solidFill>
              <a:srgbClr val="2DD4BF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9" name="Text 42"/>
          <p:cNvSpPr/>
          <p:nvPr/>
        </p:nvSpPr>
        <p:spPr>
          <a:xfrm>
            <a:off x="4261104" y="5212080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r>
              <a:rPr lang="en-US" sz="950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GPU</a:t>
            </a:r>
            <a:endParaRPr lang="en-US" sz="950" dirty="0"/>
          </a:p>
        </p:txBody>
      </p:sp>
      <p:sp>
        <p:nvSpPr>
          <p:cNvPr id="50" name="Shape 43"/>
          <p:cNvSpPr/>
          <p:nvPr/>
        </p:nvSpPr>
        <p:spPr>
          <a:xfrm>
            <a:off x="5340096" y="521208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1B2330"/>
          </a:solidFill>
          <a:ln w="12700">
            <a:solidFill>
              <a:srgbClr val="8B7CF6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1" name="Text 44"/>
          <p:cNvSpPr/>
          <p:nvPr/>
        </p:nvSpPr>
        <p:spPr>
          <a:xfrm>
            <a:off x="5340096" y="5212080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B7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r>
              <a:rPr lang="en-US" sz="950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</a:t>
            </a:r>
            <a:endParaRPr lang="en-US" sz="950" dirty="0"/>
          </a:p>
        </p:txBody>
      </p:sp>
      <p:sp>
        <p:nvSpPr>
          <p:cNvPr id="52" name="Shape 45"/>
          <p:cNvSpPr/>
          <p:nvPr/>
        </p:nvSpPr>
        <p:spPr>
          <a:xfrm>
            <a:off x="6419088" y="521208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1B2330"/>
          </a:solidFill>
          <a:ln w="12700">
            <a:solidFill>
              <a:srgbClr val="8B7CF6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3" name="Text 46"/>
          <p:cNvSpPr/>
          <p:nvPr/>
        </p:nvSpPr>
        <p:spPr>
          <a:xfrm>
            <a:off x="6419088" y="5212080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8B7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r>
              <a:rPr lang="en-US" sz="950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bm25s backend</a:t>
            </a:r>
            <a:endParaRPr lang="en-US" sz="950" dirty="0"/>
          </a:p>
        </p:txBody>
      </p:sp>
      <p:sp>
        <p:nvSpPr>
          <p:cNvPr id="54" name="Text 47"/>
          <p:cNvSpPr/>
          <p:nvPr/>
        </p:nvSpPr>
        <p:spPr>
          <a:xfrm>
            <a:off x="10911535" y="647395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E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13</a:t>
            </a:r>
            <a:endParaRPr lang="en-US" sz="900" dirty="0"/>
          </a:p>
        </p:txBody>
      </p:sp>
      <p:sp>
        <p:nvSpPr>
          <p:cNvPr id="55" name="Text 48"/>
          <p:cNvSpPr/>
          <p:nvPr/>
        </p:nvSpPr>
        <p:spPr>
          <a:xfrm>
            <a:off x="640080" y="647395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E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HIREFIT RANKER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300" dirty="0">
                <a:solidFill>
                  <a:srgbClr val="8B7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READS A CANDIDATE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features separate keyword lists from recruiter-plausible fit.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335024"/>
            <a:ext cx="109115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signal is computed deterministically from profile facts — and every rank decomposes back into them.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3454298" cy="1417320"/>
          </a:xfrm>
          <a:prstGeom prst="roundRect">
            <a:avLst>
              <a:gd name="adj" fmla="val 7742"/>
            </a:avLst>
          </a:prstGeom>
          <a:solidFill>
            <a:srgbClr val="161C24"/>
          </a:solidFill>
          <a:ln w="12700">
            <a:solidFill>
              <a:srgbClr val="2A3340"/>
            </a:solidFill>
            <a:prstDash val="solid"/>
          </a:ln>
          <a:effectLst>
            <a:outerShdw blurRad="1143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77824" y="2112264"/>
            <a:ext cx="420624" cy="420624"/>
          </a:xfrm>
          <a:prstGeom prst="roundRect">
            <a:avLst>
              <a:gd name="adj" fmla="val 15217"/>
            </a:avLst>
          </a:prstGeom>
          <a:solidFill>
            <a:srgbClr val="8B7CF6">
              <a:alpha val="18000"/>
            </a:srgbClr>
          </a:solidFill>
          <a:ln w="12700">
            <a:solidFill>
              <a:srgbClr val="8B7CF6">
                <a:alpha val="45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361" y="2204801"/>
            <a:ext cx="235549" cy="23554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2112264"/>
            <a:ext cx="180837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&amp; depth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3225698" y="214884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1B2330"/>
          </a:solidFill>
          <a:ln w="12700">
            <a:solidFill>
              <a:srgbClr val="2DD4BF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3225698" y="2148840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features  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877824" y="2606040"/>
            <a:ext cx="297881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/ nice-to-have match, skill depth, endorsement trust, assessment scores, GitHub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368698" y="1874520"/>
            <a:ext cx="3454298" cy="1417320"/>
          </a:xfrm>
          <a:prstGeom prst="roundRect">
            <a:avLst>
              <a:gd name="adj" fmla="val 7742"/>
            </a:avLst>
          </a:prstGeom>
          <a:solidFill>
            <a:srgbClr val="161C24"/>
          </a:solidFill>
          <a:ln w="12700">
            <a:solidFill>
              <a:srgbClr val="2A3340"/>
            </a:solidFill>
            <a:prstDash val="solid"/>
          </a:ln>
          <a:effectLst>
            <a:outerShdw blurRad="1143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4606442" y="2112264"/>
            <a:ext cx="420624" cy="420624"/>
          </a:xfrm>
          <a:prstGeom prst="roundRect">
            <a:avLst>
              <a:gd name="adj" fmla="val 15217"/>
            </a:avLst>
          </a:prstGeom>
          <a:solidFill>
            <a:srgbClr val="8B7CF6">
              <a:alpha val="18000"/>
            </a:srgbClr>
          </a:solidFill>
          <a:ln w="12700">
            <a:solidFill>
              <a:srgbClr val="8B7CF6">
                <a:alpha val="45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8980" y="2204801"/>
            <a:ext cx="235549" cy="235549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145938" y="2112264"/>
            <a:ext cx="180837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Career evidence</a:t>
            </a:r>
            <a:endParaRPr lang="en-US" sz="1450" dirty="0"/>
          </a:p>
        </p:txBody>
      </p:sp>
      <p:sp>
        <p:nvSpPr>
          <p:cNvPr id="16" name="Shape 12"/>
          <p:cNvSpPr/>
          <p:nvPr/>
        </p:nvSpPr>
        <p:spPr>
          <a:xfrm>
            <a:off x="6954317" y="214884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1B2330"/>
          </a:solidFill>
          <a:ln w="12700">
            <a:solidFill>
              <a:srgbClr val="2DD4BF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3"/>
          <p:cNvSpPr/>
          <p:nvPr/>
        </p:nvSpPr>
        <p:spPr>
          <a:xfrm>
            <a:off x="6954317" y="2148840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features  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4606442" y="2606040"/>
            <a:ext cx="297881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product-company ratio, IR/ranking experience, production evidence, seniority, trajectory, scale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8097317" y="1874520"/>
            <a:ext cx="3454298" cy="1417320"/>
          </a:xfrm>
          <a:prstGeom prst="roundRect">
            <a:avLst>
              <a:gd name="adj" fmla="val 7742"/>
            </a:avLst>
          </a:prstGeom>
          <a:solidFill>
            <a:srgbClr val="161C24"/>
          </a:solidFill>
          <a:ln w="12700">
            <a:solidFill>
              <a:srgbClr val="2A3340"/>
            </a:solidFill>
            <a:prstDash val="solid"/>
          </a:ln>
          <a:effectLst>
            <a:outerShdw blurRad="1143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20" name="Shape 16"/>
          <p:cNvSpPr/>
          <p:nvPr/>
        </p:nvSpPr>
        <p:spPr>
          <a:xfrm>
            <a:off x="8335061" y="2112264"/>
            <a:ext cx="420624" cy="420624"/>
          </a:xfrm>
          <a:prstGeom prst="roundRect">
            <a:avLst>
              <a:gd name="adj" fmla="val 15217"/>
            </a:avLst>
          </a:prstGeom>
          <a:solidFill>
            <a:srgbClr val="8B7CF6">
              <a:alpha val="18000"/>
            </a:srgbClr>
          </a:solidFill>
          <a:ln w="12700">
            <a:solidFill>
              <a:srgbClr val="8B7CF6">
                <a:alpha val="45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7598" y="2204801"/>
            <a:ext cx="235549" cy="235549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874557" y="2112264"/>
            <a:ext cx="180837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Experience fit</a:t>
            </a:r>
            <a:endParaRPr lang="en-US" sz="1450" dirty="0"/>
          </a:p>
        </p:txBody>
      </p:sp>
      <p:sp>
        <p:nvSpPr>
          <p:cNvPr id="23" name="Shape 18"/>
          <p:cNvSpPr/>
          <p:nvPr/>
        </p:nvSpPr>
        <p:spPr>
          <a:xfrm>
            <a:off x="10682935" y="214884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1B2330"/>
          </a:solidFill>
          <a:ln w="12700">
            <a:solidFill>
              <a:srgbClr val="2DD4BF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Text 19"/>
          <p:cNvSpPr/>
          <p:nvPr/>
        </p:nvSpPr>
        <p:spPr>
          <a:xfrm>
            <a:off x="10682935" y="2148840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features  </a:t>
            </a:r>
            <a:endParaRPr lang="en-US" sz="950" dirty="0"/>
          </a:p>
        </p:txBody>
      </p:sp>
      <p:sp>
        <p:nvSpPr>
          <p:cNvPr id="25" name="Text 20"/>
          <p:cNvSpPr/>
          <p:nvPr/>
        </p:nvSpPr>
        <p:spPr>
          <a:xfrm>
            <a:off x="8335061" y="2606040"/>
            <a:ext cx="297881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years-of-experience band, education, ML/AI tenure, open-source signal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640080" y="3547872"/>
            <a:ext cx="3454298" cy="1417320"/>
          </a:xfrm>
          <a:prstGeom prst="roundRect">
            <a:avLst>
              <a:gd name="adj" fmla="val 7742"/>
            </a:avLst>
          </a:prstGeom>
          <a:solidFill>
            <a:srgbClr val="161C24"/>
          </a:solidFill>
          <a:ln w="12700">
            <a:solidFill>
              <a:srgbClr val="2A3340"/>
            </a:solidFill>
            <a:prstDash val="solid"/>
          </a:ln>
          <a:effectLst>
            <a:outerShdw blurRad="1143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27" name="Shape 22"/>
          <p:cNvSpPr/>
          <p:nvPr/>
        </p:nvSpPr>
        <p:spPr>
          <a:xfrm>
            <a:off x="877824" y="3785616"/>
            <a:ext cx="420624" cy="420624"/>
          </a:xfrm>
          <a:prstGeom prst="roundRect">
            <a:avLst>
              <a:gd name="adj" fmla="val 15217"/>
            </a:avLst>
          </a:prstGeom>
          <a:solidFill>
            <a:srgbClr val="8B7CF6">
              <a:alpha val="18000"/>
            </a:srgbClr>
          </a:solidFill>
          <a:ln w="12700">
            <a:solidFill>
              <a:srgbClr val="8B7CF6">
                <a:alpha val="45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0361" y="3878153"/>
            <a:ext cx="235549" cy="235549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417320" y="3785616"/>
            <a:ext cx="180837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</a:t>
            </a:r>
            <a:endParaRPr lang="en-US" sz="1450" dirty="0"/>
          </a:p>
        </p:txBody>
      </p:sp>
      <p:sp>
        <p:nvSpPr>
          <p:cNvPr id="30" name="Shape 24"/>
          <p:cNvSpPr/>
          <p:nvPr/>
        </p:nvSpPr>
        <p:spPr>
          <a:xfrm>
            <a:off x="3225698" y="3822192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1B2330"/>
          </a:solidFill>
          <a:ln w="12700">
            <a:solidFill>
              <a:srgbClr val="2DD4BF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Text 25"/>
          <p:cNvSpPr/>
          <p:nvPr/>
        </p:nvSpPr>
        <p:spPr>
          <a:xfrm>
            <a:off x="3225698" y="3822192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features  </a:t>
            </a:r>
            <a:endParaRPr lang="en-US" sz="950" dirty="0"/>
          </a:p>
        </p:txBody>
      </p:sp>
      <p:sp>
        <p:nvSpPr>
          <p:cNvPr id="32" name="Text 26"/>
          <p:cNvSpPr/>
          <p:nvPr/>
        </p:nvSpPr>
        <p:spPr>
          <a:xfrm>
            <a:off x="877824" y="4279392"/>
            <a:ext cx="297881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availability, engagement, responsiveness, interview reliability, profile quality, notice</a:t>
            </a:r>
            <a:endParaRPr lang="en-US" sz="1100" dirty="0"/>
          </a:p>
        </p:txBody>
      </p:sp>
      <p:sp>
        <p:nvSpPr>
          <p:cNvPr id="33" name="Shape 27"/>
          <p:cNvSpPr/>
          <p:nvPr/>
        </p:nvSpPr>
        <p:spPr>
          <a:xfrm>
            <a:off x="4368698" y="3547872"/>
            <a:ext cx="3454298" cy="1417320"/>
          </a:xfrm>
          <a:prstGeom prst="roundRect">
            <a:avLst>
              <a:gd name="adj" fmla="val 7742"/>
            </a:avLst>
          </a:prstGeom>
          <a:solidFill>
            <a:srgbClr val="161C24"/>
          </a:solidFill>
          <a:ln w="12700">
            <a:solidFill>
              <a:srgbClr val="2A3340"/>
            </a:solidFill>
            <a:prstDash val="solid"/>
          </a:ln>
          <a:effectLst>
            <a:outerShdw blurRad="1143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34" name="Shape 28"/>
          <p:cNvSpPr/>
          <p:nvPr/>
        </p:nvSpPr>
        <p:spPr>
          <a:xfrm>
            <a:off x="4606442" y="3785616"/>
            <a:ext cx="420624" cy="420624"/>
          </a:xfrm>
          <a:prstGeom prst="roundRect">
            <a:avLst>
              <a:gd name="adj" fmla="val 15217"/>
            </a:avLst>
          </a:prstGeom>
          <a:solidFill>
            <a:srgbClr val="8B7CF6">
              <a:alpha val="18000"/>
            </a:srgbClr>
          </a:solidFill>
          <a:ln w="12700">
            <a:solidFill>
              <a:srgbClr val="8B7CF6">
                <a:alpha val="45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8980" y="3878153"/>
            <a:ext cx="235549" cy="235549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5145938" y="3785616"/>
            <a:ext cx="180837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Logistics</a:t>
            </a:r>
            <a:endParaRPr lang="en-US" sz="1450" dirty="0"/>
          </a:p>
        </p:txBody>
      </p:sp>
      <p:sp>
        <p:nvSpPr>
          <p:cNvPr id="37" name="Shape 30"/>
          <p:cNvSpPr/>
          <p:nvPr/>
        </p:nvSpPr>
        <p:spPr>
          <a:xfrm>
            <a:off x="6954317" y="3822192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1B2330"/>
          </a:solidFill>
          <a:ln w="12700">
            <a:solidFill>
              <a:srgbClr val="2DD4BF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8" name="Text 31"/>
          <p:cNvSpPr/>
          <p:nvPr/>
        </p:nvSpPr>
        <p:spPr>
          <a:xfrm>
            <a:off x="6954317" y="3822192"/>
            <a:ext cx="960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features  </a:t>
            </a:r>
            <a:endParaRPr lang="en-US" sz="950" dirty="0"/>
          </a:p>
        </p:txBody>
      </p:sp>
      <p:sp>
        <p:nvSpPr>
          <p:cNvPr id="39" name="Text 32"/>
          <p:cNvSpPr/>
          <p:nvPr/>
        </p:nvSpPr>
        <p:spPr>
          <a:xfrm>
            <a:off x="4606442" y="4279392"/>
            <a:ext cx="297881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preferred-location match, willingness to relocate</a:t>
            </a:r>
            <a:endParaRPr lang="en-US" sz="1100" dirty="0"/>
          </a:p>
        </p:txBody>
      </p:sp>
      <p:sp>
        <p:nvSpPr>
          <p:cNvPr id="40" name="Shape 33"/>
          <p:cNvSpPr/>
          <p:nvPr/>
        </p:nvSpPr>
        <p:spPr>
          <a:xfrm>
            <a:off x="8097317" y="3547872"/>
            <a:ext cx="3454298" cy="1417320"/>
          </a:xfrm>
          <a:prstGeom prst="roundRect">
            <a:avLst>
              <a:gd name="adj" fmla="val 7742"/>
            </a:avLst>
          </a:prstGeom>
          <a:solidFill>
            <a:srgbClr val="1B2330"/>
          </a:solidFill>
          <a:ln w="12700">
            <a:solidFill>
              <a:srgbClr val="2A3340"/>
            </a:solidFill>
            <a:prstDash val="solid"/>
          </a:ln>
          <a:effectLst>
            <a:outerShdw blurRad="1143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41" name="Shape 34"/>
          <p:cNvSpPr/>
          <p:nvPr/>
        </p:nvSpPr>
        <p:spPr>
          <a:xfrm>
            <a:off x="8335061" y="3785616"/>
            <a:ext cx="420624" cy="420624"/>
          </a:xfrm>
          <a:prstGeom prst="roundRect">
            <a:avLst>
              <a:gd name="adj" fmla="val 15217"/>
            </a:avLst>
          </a:prstGeom>
          <a:solidFill>
            <a:srgbClr val="2DD4BF">
              <a:alpha val="18000"/>
            </a:srgbClr>
          </a:solidFill>
          <a:ln w="12700">
            <a:solidFill>
              <a:srgbClr val="2DD4BF">
                <a:alpha val="45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4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7598" y="3878153"/>
            <a:ext cx="235549" cy="235549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8874557" y="3785616"/>
            <a:ext cx="253989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Multiplicative guardrails</a:t>
            </a:r>
            <a:endParaRPr lang="en-US" sz="1450" dirty="0"/>
          </a:p>
        </p:txBody>
      </p:sp>
      <p:sp>
        <p:nvSpPr>
          <p:cNvPr id="44" name="Text 36"/>
          <p:cNvSpPr/>
          <p:nvPr/>
        </p:nvSpPr>
        <p:spPr>
          <a:xfrm>
            <a:off x="8335061" y="4279392"/>
            <a:ext cx="297881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Behavioral, honeypot &amp; disqualifier multipliers gate the base score so traps can’t buy their way to the top.</a:t>
            </a:r>
            <a:endParaRPr lang="en-US" sz="1100" dirty="0"/>
          </a:p>
        </p:txBody>
      </p:sp>
      <p:sp>
        <p:nvSpPr>
          <p:cNvPr id="45" name="Text 37"/>
          <p:cNvSpPr/>
          <p:nvPr/>
        </p:nvSpPr>
        <p:spPr>
          <a:xfrm>
            <a:off x="10911535" y="647395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E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13</a:t>
            </a:r>
            <a:endParaRPr lang="en-US" sz="900" dirty="0"/>
          </a:p>
        </p:txBody>
      </p:sp>
      <p:sp>
        <p:nvSpPr>
          <p:cNvPr id="46" name="Text 38"/>
          <p:cNvSpPr/>
          <p:nvPr/>
        </p:nvSpPr>
        <p:spPr>
          <a:xfrm>
            <a:off x="640080" y="647395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E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HIREFIT RANKER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Oval 69">
            <a:extLst>
              <a:ext uri="{FF2B5EF4-FFF2-40B4-BE49-F238E27FC236}">
                <a16:creationId xmlns:a16="http://schemas.microsoft.com/office/drawing/2014/main" id="{59274BAD-4ABC-C843-C202-C0B5D1FEF26B}"/>
              </a:ext>
            </a:extLst>
          </p:cNvPr>
          <p:cNvSpPr/>
          <p:nvPr/>
        </p:nvSpPr>
        <p:spPr>
          <a:xfrm>
            <a:off x="-1828800" y="4846320"/>
            <a:ext cx="4572000" cy="4572000"/>
          </a:xfrm>
          <a:prstGeom prst="ellipse">
            <a:avLst/>
          </a:prstGeom>
          <a:solidFill>
            <a:srgbClr val="2DD4BF">
              <a:alpha val="6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0D6765F2-2674-C0ED-4C52-A83E03A1433C}"/>
              </a:ext>
            </a:extLst>
          </p:cNvPr>
          <p:cNvSpPr/>
          <p:nvPr/>
        </p:nvSpPr>
        <p:spPr>
          <a:xfrm>
            <a:off x="8503920" y="-1554480"/>
            <a:ext cx="5029200" cy="5029200"/>
          </a:xfrm>
          <a:prstGeom prst="ellipse">
            <a:avLst/>
          </a:prstGeom>
          <a:solidFill>
            <a:srgbClr val="8B7CF6">
              <a:alpha val="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6D7BEF85-12C3-E6B9-D2B8-A8F42044E610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C0E78EF-6AE3-1679-7A27-24E35E857507}"/>
              </a:ext>
            </a:extLst>
          </p:cNvPr>
          <p:cNvSpPr txBox="1"/>
          <p:nvPr/>
        </p:nvSpPr>
        <p:spPr>
          <a:xfrm>
            <a:off x="640080" y="384048"/>
            <a:ext cx="1088136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150" b="1">
                <a:solidFill>
                  <a:srgbClr val="8B7CF6"/>
                </a:solidFill>
                <a:latin typeface="Arial" panose="020B0604020202020204" pitchFamily="34" charset="0"/>
              </a:rPr>
              <a:t>SEE IT WORK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04F5ADA-5BD8-4BE6-E7B3-E1F9BDD33A82}"/>
              </a:ext>
            </a:extLst>
          </p:cNvPr>
          <p:cNvSpPr txBox="1"/>
          <p:nvPr/>
        </p:nvSpPr>
        <p:spPr>
          <a:xfrm>
            <a:off x="640080" y="658368"/>
            <a:ext cx="1088136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700" b="1">
                <a:solidFill>
                  <a:srgbClr val="E6EDF3"/>
                </a:solidFill>
                <a:latin typeface="Arial" panose="020B0604020202020204" pitchFamily="34" charset="0"/>
              </a:rPr>
              <a:t>The shortlist is real: every rank is traceable.</a:t>
            </a:r>
            <a:endParaRPr lang="en-IN" sz="2700" b="1">
              <a:solidFill>
                <a:srgbClr val="E6EDF3"/>
              </a:solidFill>
              <a:latin typeface="Arial" panose="020B0604020202020204" pitchFamily="34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E3E70A1-7D70-10D1-8D8B-38081C3299B3}"/>
              </a:ext>
            </a:extLst>
          </p:cNvPr>
          <p:cNvSpPr txBox="1"/>
          <p:nvPr/>
        </p:nvSpPr>
        <p:spPr>
          <a:xfrm>
            <a:off x="640080" y="1298448"/>
            <a:ext cx="1088136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9AA7B4"/>
                </a:solidFill>
                <a:latin typeface="Arial" panose="020B0604020202020204" pitchFamily="34" charset="0"/>
              </a:rPr>
              <a:t>Live output from the released 100K pool, plus the exact feature values and guardrails behind the #1 candidate.</a:t>
            </a:r>
            <a:endParaRPr lang="en-IN" sz="1300">
              <a:solidFill>
                <a:srgbClr val="9AA7B4"/>
              </a:solidFill>
              <a:latin typeface="Arial" panose="020B0604020202020204" pitchFamily="34" charset="0"/>
            </a:endParaRPr>
          </a:p>
        </p:txBody>
      </p: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EFD139DA-5F14-F8C7-BD2B-F4742404DD5B}"/>
              </a:ext>
            </a:extLst>
          </p:cNvPr>
          <p:cNvSpPr/>
          <p:nvPr/>
        </p:nvSpPr>
        <p:spPr>
          <a:xfrm>
            <a:off x="640080" y="1810512"/>
            <a:ext cx="6172200" cy="4160520"/>
          </a:xfrm>
          <a:prstGeom prst="roundRect">
            <a:avLst>
              <a:gd name="adj" fmla="val 3500"/>
            </a:avLst>
          </a:prstGeom>
          <a:solidFill>
            <a:srgbClr val="161C24"/>
          </a:solidFill>
          <a:ln w="12700">
            <a:solidFill>
              <a:srgbClr val="2A33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0931DDB-0982-4257-EF26-ECD0828B706A}"/>
              </a:ext>
            </a:extLst>
          </p:cNvPr>
          <p:cNvSpPr txBox="1"/>
          <p:nvPr/>
        </p:nvSpPr>
        <p:spPr>
          <a:xfrm>
            <a:off x="932688" y="2029968"/>
            <a:ext cx="2103120" cy="22313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450" b="1">
                <a:solidFill>
                  <a:srgbClr val="E6EDF3"/>
                </a:solidFill>
                <a:latin typeface="Arial" panose="020B0604020202020204" pitchFamily="34" charset="0"/>
              </a:rPr>
              <a:t>Ranked output</a:t>
            </a:r>
          </a:p>
        </p:txBody>
      </p:sp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1750F5A8-79F8-C983-EAE8-AFE87AFBBCF3}"/>
              </a:ext>
            </a:extLst>
          </p:cNvPr>
          <p:cNvSpPr/>
          <p:nvPr/>
        </p:nvSpPr>
        <p:spPr>
          <a:xfrm>
            <a:off x="4992624" y="2029968"/>
            <a:ext cx="1353312" cy="256032"/>
          </a:xfrm>
          <a:prstGeom prst="roundRect">
            <a:avLst>
              <a:gd name="adj" fmla="val 50000"/>
            </a:avLst>
          </a:prstGeom>
          <a:solidFill>
            <a:srgbClr val="1B2330"/>
          </a:solidFill>
          <a:ln w="12700" cap="flat" cmpd="sng" algn="ctr">
            <a:solidFill>
              <a:srgbClr val="8B7CF6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C2F0938-5EC7-939F-48C0-7FD2074206EE}"/>
              </a:ext>
            </a:extLst>
          </p:cNvPr>
          <p:cNvSpPr txBox="1"/>
          <p:nvPr/>
        </p:nvSpPr>
        <p:spPr>
          <a:xfrm>
            <a:off x="5065776" y="2061972"/>
            <a:ext cx="1207008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850" b="1">
                <a:solidFill>
                  <a:srgbClr val="E6EDF3"/>
                </a:solidFill>
                <a:latin typeface="Arial" panose="020B0604020202020204" pitchFamily="34" charset="0"/>
              </a:rPr>
              <a:t>submission.csv top 6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5FD40BF-E129-7511-DA1A-9E3C8F78289F}"/>
              </a:ext>
            </a:extLst>
          </p:cNvPr>
          <p:cNvSpPr txBox="1"/>
          <p:nvPr/>
        </p:nvSpPr>
        <p:spPr>
          <a:xfrm>
            <a:off x="932688" y="2450592"/>
            <a:ext cx="4572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850" b="1">
                <a:solidFill>
                  <a:srgbClr val="6E7C8C"/>
                </a:solidFill>
                <a:latin typeface="Arial" panose="020B0604020202020204" pitchFamily="34" charset="0"/>
              </a:rPr>
              <a:t>Rank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E790DC6-FA51-F9BA-EECC-3EEAD5DC6454}"/>
              </a:ext>
            </a:extLst>
          </p:cNvPr>
          <p:cNvSpPr txBox="1"/>
          <p:nvPr/>
        </p:nvSpPr>
        <p:spPr>
          <a:xfrm>
            <a:off x="1572768" y="2450592"/>
            <a:ext cx="356616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850" b="1">
                <a:solidFill>
                  <a:srgbClr val="6E7C8C"/>
                </a:solidFill>
                <a:latin typeface="Arial" panose="020B0604020202020204" pitchFamily="34" charset="0"/>
              </a:rPr>
              <a:t>Candidate evidence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775322F6-D773-54A9-E63D-E0ABA465369E}"/>
              </a:ext>
            </a:extLst>
          </p:cNvPr>
          <p:cNvSpPr txBox="1"/>
          <p:nvPr/>
        </p:nvSpPr>
        <p:spPr>
          <a:xfrm>
            <a:off x="5230368" y="2450592"/>
            <a:ext cx="384048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IN" sz="850" b="1">
                <a:solidFill>
                  <a:srgbClr val="6E7C8C"/>
                </a:solidFill>
                <a:latin typeface="Arial" panose="020B0604020202020204" pitchFamily="34" charset="0"/>
              </a:rPr>
              <a:t>YOE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2E609EAB-FDAF-247D-CCFE-88D6347AE885}"/>
              </a:ext>
            </a:extLst>
          </p:cNvPr>
          <p:cNvSpPr txBox="1"/>
          <p:nvPr/>
        </p:nvSpPr>
        <p:spPr>
          <a:xfrm>
            <a:off x="5815584" y="2450592"/>
            <a:ext cx="493776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IN" sz="850" b="1">
                <a:solidFill>
                  <a:srgbClr val="6E7C8C"/>
                </a:solidFill>
                <a:latin typeface="Arial" panose="020B0604020202020204" pitchFamily="34" charset="0"/>
              </a:rPr>
              <a:t>Score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264C4DB8-CF93-4D71-1914-A47548F2D0A5}"/>
              </a:ext>
            </a:extLst>
          </p:cNvPr>
          <p:cNvSpPr/>
          <p:nvPr/>
        </p:nvSpPr>
        <p:spPr>
          <a:xfrm>
            <a:off x="868680" y="2706624"/>
            <a:ext cx="5559552" cy="420624"/>
          </a:xfrm>
          <a:prstGeom prst="rect">
            <a:avLst/>
          </a:prstGeom>
          <a:solidFill>
            <a:srgbClr val="1B2330">
              <a:alpha val="9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6252259B-C244-87A2-7AEA-35D05A0E3DC4}"/>
              </a:ext>
            </a:extLst>
          </p:cNvPr>
          <p:cNvSpPr/>
          <p:nvPr/>
        </p:nvSpPr>
        <p:spPr>
          <a:xfrm>
            <a:off x="950976" y="2775204"/>
            <a:ext cx="283464" cy="283464"/>
          </a:xfrm>
          <a:prstGeom prst="ellipse">
            <a:avLst/>
          </a:prstGeom>
          <a:solidFill>
            <a:srgbClr val="6D5DE0"/>
          </a:solidFill>
          <a:ln w="12700">
            <a:solidFill>
              <a:srgbClr val="8B7C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6A777F18-E4FB-A306-3D2C-9C355E4B17F3}"/>
              </a:ext>
            </a:extLst>
          </p:cNvPr>
          <p:cNvSpPr txBox="1"/>
          <p:nvPr/>
        </p:nvSpPr>
        <p:spPr>
          <a:xfrm>
            <a:off x="950976" y="2775204"/>
            <a:ext cx="283464" cy="1415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920" b="1">
                <a:solidFill>
                  <a:srgbClr val="E6EDF3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9CBF8938-AACE-ACF9-A451-D21D1E9DFDD0}"/>
              </a:ext>
            </a:extLst>
          </p:cNvPr>
          <p:cNvSpPr txBox="1"/>
          <p:nvPr/>
        </p:nvSpPr>
        <p:spPr>
          <a:xfrm>
            <a:off x="1481328" y="2724912"/>
            <a:ext cx="3337560" cy="1631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060" b="1">
                <a:solidFill>
                  <a:srgbClr val="E6EDF3"/>
                </a:solidFill>
                <a:latin typeface="Arial" panose="020B0604020202020204" pitchFamily="34" charset="0"/>
              </a:rPr>
              <a:t>Senior ML Engineer</a:t>
            </a:r>
            <a:r>
              <a:rPr lang="en-IN" sz="1060">
                <a:solidFill>
                  <a:srgbClr val="9AA7B4"/>
                </a:solidFill>
                <a:latin typeface="Arial" panose="020B0604020202020204" pitchFamily="34" charset="0"/>
              </a:rPr>
              <a:t> - Zomato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0376800-A7BE-5440-6025-98FA403CD24B}"/>
              </a:ext>
            </a:extLst>
          </p:cNvPr>
          <p:cNvSpPr txBox="1"/>
          <p:nvPr/>
        </p:nvSpPr>
        <p:spPr>
          <a:xfrm>
            <a:off x="1481328" y="2926080"/>
            <a:ext cx="3529584" cy="1261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nn-NO" sz="820">
                <a:solidFill>
                  <a:srgbClr val="6E7C8C"/>
                </a:solidFill>
                <a:latin typeface="Arial" panose="020B0604020202020204" pitchFamily="34" charset="0"/>
              </a:rPr>
              <a:t>hybrid retrieval + ranking at 50M+ queries</a:t>
            </a:r>
            <a:endParaRPr lang="en-IN" sz="820">
              <a:solidFill>
                <a:srgbClr val="6E7C8C"/>
              </a:solidFill>
              <a:latin typeface="Arial" panose="020B0604020202020204" pitchFamily="34" charset="0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AC935A1D-D600-EEAB-ECF4-BCB15620E957}"/>
              </a:ext>
            </a:extLst>
          </p:cNvPr>
          <p:cNvSpPr txBox="1"/>
          <p:nvPr/>
        </p:nvSpPr>
        <p:spPr>
          <a:xfrm>
            <a:off x="5248656" y="2779776"/>
            <a:ext cx="384048" cy="1569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IN" sz="1020">
                <a:solidFill>
                  <a:srgbClr val="9AA7B4"/>
                </a:solidFill>
                <a:latin typeface="Arial" panose="020B0604020202020204" pitchFamily="34" charset="0"/>
              </a:rPr>
              <a:t>7.2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6CC6E074-7365-3A99-628C-4DE2D7A27831}"/>
              </a:ext>
            </a:extLst>
          </p:cNvPr>
          <p:cNvSpPr txBox="1"/>
          <p:nvPr/>
        </p:nvSpPr>
        <p:spPr>
          <a:xfrm>
            <a:off x="5797296" y="2779776"/>
            <a:ext cx="530352" cy="1600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IN" sz="1040" b="1">
                <a:solidFill>
                  <a:srgbClr val="2DD4BF"/>
                </a:solidFill>
                <a:latin typeface="Arial" panose="020B0604020202020204" pitchFamily="34" charset="0"/>
              </a:rPr>
              <a:t>1.000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F29F3BB0-6F1D-8DE6-8180-39034CF1D7EE}"/>
              </a:ext>
            </a:extLst>
          </p:cNvPr>
          <p:cNvSpPr/>
          <p:nvPr/>
        </p:nvSpPr>
        <p:spPr>
          <a:xfrm>
            <a:off x="868680" y="3209544"/>
            <a:ext cx="5559552" cy="420624"/>
          </a:xfrm>
          <a:prstGeom prst="rect">
            <a:avLst/>
          </a:prstGeom>
          <a:solidFill>
            <a:srgbClr val="161C24">
              <a:alpha val="6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4967F2F8-2FB1-A8CE-C2E6-05BB4B35C45E}"/>
              </a:ext>
            </a:extLst>
          </p:cNvPr>
          <p:cNvSpPr/>
          <p:nvPr/>
        </p:nvSpPr>
        <p:spPr>
          <a:xfrm>
            <a:off x="950976" y="3278124"/>
            <a:ext cx="283464" cy="283464"/>
          </a:xfrm>
          <a:prstGeom prst="ellipse">
            <a:avLst/>
          </a:prstGeom>
          <a:solidFill>
            <a:srgbClr val="1B2330"/>
          </a:solidFill>
          <a:ln w="12700">
            <a:solidFill>
              <a:srgbClr val="8B7C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47EB5550-3D22-4047-91B1-14BA29312F9C}"/>
              </a:ext>
            </a:extLst>
          </p:cNvPr>
          <p:cNvSpPr txBox="1"/>
          <p:nvPr/>
        </p:nvSpPr>
        <p:spPr>
          <a:xfrm>
            <a:off x="950976" y="3278124"/>
            <a:ext cx="283464" cy="1415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920" b="1">
                <a:solidFill>
                  <a:srgbClr val="E6EDF3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19597BF2-D147-22C7-168B-08CC0471F62A}"/>
              </a:ext>
            </a:extLst>
          </p:cNvPr>
          <p:cNvSpPr txBox="1"/>
          <p:nvPr/>
        </p:nvSpPr>
        <p:spPr>
          <a:xfrm>
            <a:off x="1481328" y="3227832"/>
            <a:ext cx="3337560" cy="1631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060" b="1">
                <a:solidFill>
                  <a:srgbClr val="E6EDF3"/>
                </a:solidFill>
                <a:latin typeface="Arial" panose="020B0604020202020204" pitchFamily="34" charset="0"/>
              </a:rPr>
              <a:t>Senior NLP Engineer</a:t>
            </a:r>
            <a:r>
              <a:rPr lang="en-IN" sz="1060">
                <a:solidFill>
                  <a:srgbClr val="9AA7B4"/>
                </a:solidFill>
                <a:latin typeface="Arial" panose="020B0604020202020204" pitchFamily="34" charset="0"/>
              </a:rPr>
              <a:t> - Niramai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22D321A7-9133-1B68-631F-3DC729739EA9}"/>
              </a:ext>
            </a:extLst>
          </p:cNvPr>
          <p:cNvSpPr txBox="1"/>
          <p:nvPr/>
        </p:nvSpPr>
        <p:spPr>
          <a:xfrm>
            <a:off x="1481328" y="3429000"/>
            <a:ext cx="3529584" cy="1261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20">
                <a:solidFill>
                  <a:srgbClr val="6E7C8C"/>
                </a:solidFill>
                <a:latin typeface="Arial" panose="020B0604020202020204" pitchFamily="34" charset="0"/>
              </a:rPr>
              <a:t>semantic search + embeddings + strong response</a:t>
            </a:r>
            <a:endParaRPr lang="en-IN" sz="820">
              <a:solidFill>
                <a:srgbClr val="6E7C8C"/>
              </a:solidFill>
              <a:latin typeface="Arial" panose="020B0604020202020204" pitchFamily="34" charset="0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8681EB53-5E7C-F0D2-F6EC-FAA9856EC5E5}"/>
              </a:ext>
            </a:extLst>
          </p:cNvPr>
          <p:cNvSpPr txBox="1"/>
          <p:nvPr/>
        </p:nvSpPr>
        <p:spPr>
          <a:xfrm>
            <a:off x="5248656" y="3282696"/>
            <a:ext cx="384048" cy="1569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IN" sz="1020">
                <a:solidFill>
                  <a:srgbClr val="9AA7B4"/>
                </a:solidFill>
                <a:latin typeface="Arial" panose="020B0604020202020204" pitchFamily="34" charset="0"/>
              </a:rPr>
              <a:t>7.8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728D317A-E44C-A2DA-7779-F2183EC83615}"/>
              </a:ext>
            </a:extLst>
          </p:cNvPr>
          <p:cNvSpPr txBox="1"/>
          <p:nvPr/>
        </p:nvSpPr>
        <p:spPr>
          <a:xfrm>
            <a:off x="5797296" y="3282696"/>
            <a:ext cx="530352" cy="1600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IN" sz="1040" b="1">
                <a:solidFill>
                  <a:srgbClr val="E6EDF3"/>
                </a:solidFill>
                <a:latin typeface="Arial" panose="020B0604020202020204" pitchFamily="34" charset="0"/>
              </a:rPr>
              <a:t>0.940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3972B81B-2CC5-5110-E4D5-15FC4B246551}"/>
              </a:ext>
            </a:extLst>
          </p:cNvPr>
          <p:cNvSpPr/>
          <p:nvPr/>
        </p:nvSpPr>
        <p:spPr>
          <a:xfrm>
            <a:off x="868680" y="3712464"/>
            <a:ext cx="5559552" cy="420624"/>
          </a:xfrm>
          <a:prstGeom prst="rect">
            <a:avLst/>
          </a:prstGeom>
          <a:solidFill>
            <a:srgbClr val="161C24">
              <a:alpha val="6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1EE31729-541A-B056-BFC5-6FA34649F0ED}"/>
              </a:ext>
            </a:extLst>
          </p:cNvPr>
          <p:cNvSpPr/>
          <p:nvPr/>
        </p:nvSpPr>
        <p:spPr>
          <a:xfrm>
            <a:off x="950976" y="3781044"/>
            <a:ext cx="283464" cy="283464"/>
          </a:xfrm>
          <a:prstGeom prst="ellipse">
            <a:avLst/>
          </a:prstGeom>
          <a:solidFill>
            <a:srgbClr val="1B2330"/>
          </a:solidFill>
          <a:ln w="12700">
            <a:solidFill>
              <a:srgbClr val="8B7C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021A9A07-7A0B-B932-AFF9-918F65302515}"/>
              </a:ext>
            </a:extLst>
          </p:cNvPr>
          <p:cNvSpPr txBox="1"/>
          <p:nvPr/>
        </p:nvSpPr>
        <p:spPr>
          <a:xfrm>
            <a:off x="950976" y="3781044"/>
            <a:ext cx="283464" cy="1415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920" b="1">
                <a:solidFill>
                  <a:srgbClr val="E6EDF3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91D234F5-9C71-193F-9CB7-783397D95F22}"/>
              </a:ext>
            </a:extLst>
          </p:cNvPr>
          <p:cNvSpPr txBox="1"/>
          <p:nvPr/>
        </p:nvSpPr>
        <p:spPr>
          <a:xfrm>
            <a:off x="1481328" y="3730752"/>
            <a:ext cx="3337560" cy="1631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060" b="1">
                <a:solidFill>
                  <a:srgbClr val="E6EDF3"/>
                </a:solidFill>
                <a:latin typeface="Arial" panose="020B0604020202020204" pitchFamily="34" charset="0"/>
              </a:rPr>
              <a:t>Senior ML Engineer</a:t>
            </a:r>
            <a:r>
              <a:rPr lang="en-US" sz="1060">
                <a:solidFill>
                  <a:srgbClr val="9AA7B4"/>
                </a:solidFill>
                <a:latin typeface="Arial" panose="020B0604020202020204" pitchFamily="34" charset="0"/>
              </a:rPr>
              <a:t> - Genpact AI</a:t>
            </a:r>
            <a:endParaRPr lang="en-IN" sz="1060">
              <a:solidFill>
                <a:srgbClr val="9AA7B4"/>
              </a:solidFill>
              <a:latin typeface="Arial" panose="020B0604020202020204" pitchFamily="34" charset="0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65163C17-B8D7-1E4F-D059-7B57741FA520}"/>
              </a:ext>
            </a:extLst>
          </p:cNvPr>
          <p:cNvSpPr txBox="1"/>
          <p:nvPr/>
        </p:nvSpPr>
        <p:spPr>
          <a:xfrm>
            <a:off x="1481328" y="3931920"/>
            <a:ext cx="3529584" cy="1261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820">
                <a:solidFill>
                  <a:srgbClr val="6E7C8C"/>
                </a:solidFill>
                <a:latin typeface="Arial" panose="020B0604020202020204" pitchFamily="34" charset="0"/>
              </a:rPr>
              <a:t>IR, pgvector, Sentence Transformers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ACC8B7A6-AD90-8FF7-F9B5-18A94651F414}"/>
              </a:ext>
            </a:extLst>
          </p:cNvPr>
          <p:cNvSpPr txBox="1"/>
          <p:nvPr/>
        </p:nvSpPr>
        <p:spPr>
          <a:xfrm>
            <a:off x="5248656" y="3785616"/>
            <a:ext cx="384048" cy="1569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IN" sz="1020">
                <a:solidFill>
                  <a:srgbClr val="9AA7B4"/>
                </a:solidFill>
                <a:latin typeface="Arial" panose="020B0604020202020204" pitchFamily="34" charset="0"/>
              </a:rPr>
              <a:t>6.1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405C7A32-FB22-8F48-AEA1-435902DC3715}"/>
              </a:ext>
            </a:extLst>
          </p:cNvPr>
          <p:cNvSpPr txBox="1"/>
          <p:nvPr/>
        </p:nvSpPr>
        <p:spPr>
          <a:xfrm>
            <a:off x="5797296" y="3785616"/>
            <a:ext cx="530352" cy="1600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IN" sz="1040" b="1">
                <a:solidFill>
                  <a:srgbClr val="E6EDF3"/>
                </a:solidFill>
                <a:latin typeface="Arial" panose="020B0604020202020204" pitchFamily="34" charset="0"/>
              </a:rPr>
              <a:t>0.933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1D96B96E-C73B-44D7-C000-EF2AE7D19AD8}"/>
              </a:ext>
            </a:extLst>
          </p:cNvPr>
          <p:cNvSpPr/>
          <p:nvPr/>
        </p:nvSpPr>
        <p:spPr>
          <a:xfrm>
            <a:off x="868680" y="4215384"/>
            <a:ext cx="5559552" cy="420624"/>
          </a:xfrm>
          <a:prstGeom prst="rect">
            <a:avLst/>
          </a:prstGeom>
          <a:solidFill>
            <a:srgbClr val="161C24">
              <a:alpha val="6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E4E9BA67-BC9B-8533-D331-3BC66C48981B}"/>
              </a:ext>
            </a:extLst>
          </p:cNvPr>
          <p:cNvSpPr/>
          <p:nvPr/>
        </p:nvSpPr>
        <p:spPr>
          <a:xfrm>
            <a:off x="950976" y="4283964"/>
            <a:ext cx="283464" cy="283464"/>
          </a:xfrm>
          <a:prstGeom prst="ellipse">
            <a:avLst/>
          </a:prstGeom>
          <a:solidFill>
            <a:srgbClr val="1B2330"/>
          </a:solidFill>
          <a:ln w="12700">
            <a:solidFill>
              <a:srgbClr val="8B7C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C574ACB9-4395-0E45-CCC1-9C7B4F10B344}"/>
              </a:ext>
            </a:extLst>
          </p:cNvPr>
          <p:cNvSpPr txBox="1"/>
          <p:nvPr/>
        </p:nvSpPr>
        <p:spPr>
          <a:xfrm>
            <a:off x="950976" y="4283964"/>
            <a:ext cx="283464" cy="1415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920" b="1">
                <a:solidFill>
                  <a:srgbClr val="E6EDF3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91088F14-D80E-81E2-8126-DEE011BB499A}"/>
              </a:ext>
            </a:extLst>
          </p:cNvPr>
          <p:cNvSpPr txBox="1"/>
          <p:nvPr/>
        </p:nvSpPr>
        <p:spPr>
          <a:xfrm>
            <a:off x="1481328" y="4233672"/>
            <a:ext cx="3337560" cy="1631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060" b="1">
                <a:solidFill>
                  <a:srgbClr val="E6EDF3"/>
                </a:solidFill>
                <a:latin typeface="Arial" panose="020B0604020202020204" pitchFamily="34" charset="0"/>
              </a:rPr>
              <a:t>Senior AI Engineer</a:t>
            </a:r>
            <a:r>
              <a:rPr lang="en-IN" sz="1060">
                <a:solidFill>
                  <a:srgbClr val="9AA7B4"/>
                </a:solidFill>
                <a:latin typeface="Arial" panose="020B0604020202020204" pitchFamily="34" charset="0"/>
              </a:rPr>
              <a:t> - Apple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45C93A48-0608-70E3-E0F2-E2C6BBE199ED}"/>
              </a:ext>
            </a:extLst>
          </p:cNvPr>
          <p:cNvSpPr txBox="1"/>
          <p:nvPr/>
        </p:nvSpPr>
        <p:spPr>
          <a:xfrm>
            <a:off x="1481328" y="4434840"/>
            <a:ext cx="3529584" cy="1261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820">
                <a:solidFill>
                  <a:srgbClr val="6E7C8C"/>
                </a:solidFill>
                <a:latin typeface="Arial" panose="020B0604020202020204" pitchFamily="34" charset="0"/>
              </a:rPr>
              <a:t>FAISS + fine-tuning + 30-day notice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CEDAE3B7-FCC6-10BD-FDDC-5311B8B986DE}"/>
              </a:ext>
            </a:extLst>
          </p:cNvPr>
          <p:cNvSpPr txBox="1"/>
          <p:nvPr/>
        </p:nvSpPr>
        <p:spPr>
          <a:xfrm>
            <a:off x="5248656" y="4288536"/>
            <a:ext cx="384048" cy="1569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IN" sz="1020">
                <a:solidFill>
                  <a:srgbClr val="9AA7B4"/>
                </a:solidFill>
                <a:latin typeface="Arial" panose="020B0604020202020204" pitchFamily="34" charset="0"/>
              </a:rPr>
              <a:t>5.9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332A4FB0-F315-BF11-A0FC-198FDED68356}"/>
              </a:ext>
            </a:extLst>
          </p:cNvPr>
          <p:cNvSpPr txBox="1"/>
          <p:nvPr/>
        </p:nvSpPr>
        <p:spPr>
          <a:xfrm>
            <a:off x="5797296" y="4288536"/>
            <a:ext cx="530352" cy="1600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IN" sz="1040" b="1">
                <a:solidFill>
                  <a:srgbClr val="E6EDF3"/>
                </a:solidFill>
                <a:latin typeface="Arial" panose="020B0604020202020204" pitchFamily="34" charset="0"/>
              </a:rPr>
              <a:t>0.931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271AC048-521A-C76A-02DF-F573344D9ACD}"/>
              </a:ext>
            </a:extLst>
          </p:cNvPr>
          <p:cNvSpPr/>
          <p:nvPr/>
        </p:nvSpPr>
        <p:spPr>
          <a:xfrm>
            <a:off x="868680" y="4718304"/>
            <a:ext cx="5559552" cy="420624"/>
          </a:xfrm>
          <a:prstGeom prst="rect">
            <a:avLst/>
          </a:prstGeom>
          <a:solidFill>
            <a:srgbClr val="161C24">
              <a:alpha val="6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1758716B-D5B9-D5AF-8E57-186F713D84DE}"/>
              </a:ext>
            </a:extLst>
          </p:cNvPr>
          <p:cNvSpPr/>
          <p:nvPr/>
        </p:nvSpPr>
        <p:spPr>
          <a:xfrm>
            <a:off x="950976" y="4786884"/>
            <a:ext cx="283464" cy="283464"/>
          </a:xfrm>
          <a:prstGeom prst="ellipse">
            <a:avLst/>
          </a:prstGeom>
          <a:solidFill>
            <a:srgbClr val="1B2330"/>
          </a:solidFill>
          <a:ln w="12700">
            <a:solidFill>
              <a:srgbClr val="8B7C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5F95A906-1FE3-3EE9-B4A9-0E654143D093}"/>
              </a:ext>
            </a:extLst>
          </p:cNvPr>
          <p:cNvSpPr txBox="1"/>
          <p:nvPr/>
        </p:nvSpPr>
        <p:spPr>
          <a:xfrm>
            <a:off x="950976" y="4786884"/>
            <a:ext cx="283464" cy="1415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920" b="1">
                <a:solidFill>
                  <a:srgbClr val="E6EDF3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1C54A2B8-4420-B697-C7C9-F1D94A057907}"/>
              </a:ext>
            </a:extLst>
          </p:cNvPr>
          <p:cNvSpPr txBox="1"/>
          <p:nvPr/>
        </p:nvSpPr>
        <p:spPr>
          <a:xfrm>
            <a:off x="1481328" y="4736592"/>
            <a:ext cx="3337560" cy="1631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060" b="1">
                <a:solidFill>
                  <a:srgbClr val="E6EDF3"/>
                </a:solidFill>
                <a:latin typeface="Arial" panose="020B0604020202020204" pitchFamily="34" charset="0"/>
              </a:rPr>
              <a:t>Senior ML Engineer</a:t>
            </a:r>
            <a:r>
              <a:rPr lang="en-IN" sz="1060">
                <a:solidFill>
                  <a:srgbClr val="9AA7B4"/>
                </a:solidFill>
                <a:latin typeface="Arial" panose="020B0604020202020204" pitchFamily="34" charset="0"/>
              </a:rPr>
              <a:t> - Flipkart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64D4130E-0E72-2B55-BF9F-516AD735BF9D}"/>
              </a:ext>
            </a:extLst>
          </p:cNvPr>
          <p:cNvSpPr txBox="1"/>
          <p:nvPr/>
        </p:nvSpPr>
        <p:spPr>
          <a:xfrm>
            <a:off x="1481328" y="4937760"/>
            <a:ext cx="3529584" cy="1261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20">
                <a:solidFill>
                  <a:srgbClr val="6E7C8C"/>
                </a:solidFill>
                <a:latin typeface="Arial" panose="020B0604020202020204" pitchFamily="34" charset="0"/>
              </a:rPr>
              <a:t>OpenSearch + LLM fine-tuning; logistics flag</a:t>
            </a:r>
            <a:endParaRPr lang="en-IN" sz="820">
              <a:solidFill>
                <a:srgbClr val="6E7C8C"/>
              </a:solidFill>
              <a:latin typeface="Arial" panose="020B0604020202020204" pitchFamily="34" charset="0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4667DF28-07FF-D191-B312-47DEBBC260C4}"/>
              </a:ext>
            </a:extLst>
          </p:cNvPr>
          <p:cNvSpPr txBox="1"/>
          <p:nvPr/>
        </p:nvSpPr>
        <p:spPr>
          <a:xfrm>
            <a:off x="5248656" y="4791456"/>
            <a:ext cx="384048" cy="1569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IN" sz="1020">
                <a:solidFill>
                  <a:srgbClr val="9AA7B4"/>
                </a:solidFill>
                <a:latin typeface="Arial" panose="020B0604020202020204" pitchFamily="34" charset="0"/>
              </a:rPr>
              <a:t>8.1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09206C98-E105-CA05-700A-411234778B56}"/>
              </a:ext>
            </a:extLst>
          </p:cNvPr>
          <p:cNvSpPr txBox="1"/>
          <p:nvPr/>
        </p:nvSpPr>
        <p:spPr>
          <a:xfrm>
            <a:off x="5797296" y="4791456"/>
            <a:ext cx="530352" cy="1600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IN" sz="1040" b="1">
                <a:solidFill>
                  <a:srgbClr val="E6EDF3"/>
                </a:solidFill>
                <a:latin typeface="Arial" panose="020B0604020202020204" pitchFamily="34" charset="0"/>
              </a:rPr>
              <a:t>0.921</a:t>
            </a: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266EB07F-FD98-C799-797E-9550D59431AE}"/>
              </a:ext>
            </a:extLst>
          </p:cNvPr>
          <p:cNvSpPr/>
          <p:nvPr/>
        </p:nvSpPr>
        <p:spPr>
          <a:xfrm>
            <a:off x="868680" y="5221224"/>
            <a:ext cx="5559552" cy="420624"/>
          </a:xfrm>
          <a:prstGeom prst="rect">
            <a:avLst/>
          </a:prstGeom>
          <a:solidFill>
            <a:srgbClr val="161C24">
              <a:alpha val="6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8" name="Oval 117">
            <a:extLst>
              <a:ext uri="{FF2B5EF4-FFF2-40B4-BE49-F238E27FC236}">
                <a16:creationId xmlns:a16="http://schemas.microsoft.com/office/drawing/2014/main" id="{BF588870-B092-6259-DE85-98201D46AA04}"/>
              </a:ext>
            </a:extLst>
          </p:cNvPr>
          <p:cNvSpPr/>
          <p:nvPr/>
        </p:nvSpPr>
        <p:spPr>
          <a:xfrm>
            <a:off x="950976" y="5289804"/>
            <a:ext cx="283464" cy="283464"/>
          </a:xfrm>
          <a:prstGeom prst="ellipse">
            <a:avLst/>
          </a:prstGeom>
          <a:solidFill>
            <a:srgbClr val="1B2330"/>
          </a:solidFill>
          <a:ln w="12700">
            <a:solidFill>
              <a:srgbClr val="8B7C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F40AC9DE-F443-DC73-5495-501871B2491D}"/>
              </a:ext>
            </a:extLst>
          </p:cNvPr>
          <p:cNvSpPr txBox="1"/>
          <p:nvPr/>
        </p:nvSpPr>
        <p:spPr>
          <a:xfrm>
            <a:off x="950976" y="5289804"/>
            <a:ext cx="283464" cy="1415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920" b="1">
                <a:solidFill>
                  <a:srgbClr val="E6EDF3"/>
                </a:solidFill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812B6F3B-1521-4F33-2D35-F46901BFE89E}"/>
              </a:ext>
            </a:extLst>
          </p:cNvPr>
          <p:cNvSpPr txBox="1"/>
          <p:nvPr/>
        </p:nvSpPr>
        <p:spPr>
          <a:xfrm>
            <a:off x="1481328" y="5239512"/>
            <a:ext cx="3337560" cy="1631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060" b="1">
                <a:solidFill>
                  <a:srgbClr val="E6EDF3"/>
                </a:solidFill>
                <a:latin typeface="Arial" panose="020B0604020202020204" pitchFamily="34" charset="0"/>
              </a:rPr>
              <a:t>Senior AI Engineer</a:t>
            </a:r>
            <a:r>
              <a:rPr lang="en-IN" sz="1060">
                <a:solidFill>
                  <a:srgbClr val="9AA7B4"/>
                </a:solidFill>
                <a:latin typeface="Arial" panose="020B0604020202020204" pitchFamily="34" charset="0"/>
              </a:rPr>
              <a:t> - Netflix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D5E2A240-C915-560A-FBB0-33125042CEA1}"/>
              </a:ext>
            </a:extLst>
          </p:cNvPr>
          <p:cNvSpPr txBox="1"/>
          <p:nvPr/>
        </p:nvSpPr>
        <p:spPr>
          <a:xfrm>
            <a:off x="1481328" y="5440680"/>
            <a:ext cx="3529584" cy="1261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820">
                <a:solidFill>
                  <a:srgbClr val="6E7C8C"/>
                </a:solidFill>
                <a:latin typeface="Arial" panose="020B0604020202020204" pitchFamily="34" charset="0"/>
              </a:rPr>
              <a:t>Elasticsearch + Qdrant + PEFT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AEE1F685-98AF-1187-4995-F89D8574E3B8}"/>
              </a:ext>
            </a:extLst>
          </p:cNvPr>
          <p:cNvSpPr txBox="1"/>
          <p:nvPr/>
        </p:nvSpPr>
        <p:spPr>
          <a:xfrm>
            <a:off x="5248656" y="5294376"/>
            <a:ext cx="384048" cy="1569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IN" sz="1020">
                <a:solidFill>
                  <a:srgbClr val="9AA7B4"/>
                </a:solidFill>
                <a:latin typeface="Arial" panose="020B0604020202020204" pitchFamily="34" charset="0"/>
              </a:rPr>
              <a:t>7.8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73E96677-0BB9-BE21-F973-6888CB18E66D}"/>
              </a:ext>
            </a:extLst>
          </p:cNvPr>
          <p:cNvSpPr txBox="1"/>
          <p:nvPr/>
        </p:nvSpPr>
        <p:spPr>
          <a:xfrm>
            <a:off x="5797296" y="5294376"/>
            <a:ext cx="530352" cy="1600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IN" sz="1040" b="1">
                <a:solidFill>
                  <a:srgbClr val="E6EDF3"/>
                </a:solidFill>
                <a:latin typeface="Arial" panose="020B0604020202020204" pitchFamily="34" charset="0"/>
              </a:rPr>
              <a:t>0.902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ECB533EF-38CF-ABA4-28F6-EBC378E609C3}"/>
              </a:ext>
            </a:extLst>
          </p:cNvPr>
          <p:cNvSpPr txBox="1"/>
          <p:nvPr/>
        </p:nvSpPr>
        <p:spPr>
          <a:xfrm>
            <a:off x="932688" y="5623560"/>
            <a:ext cx="5394960" cy="2862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30" b="1">
                <a:solidFill>
                  <a:srgbClr val="8B7CF6"/>
                </a:solidFill>
                <a:latin typeface="Arial" panose="020B0604020202020204" pitchFamily="34" charset="0"/>
              </a:rPr>
              <a:t>Readout: </a:t>
            </a:r>
            <a:r>
              <a:rPr lang="en-US" sz="930">
                <a:solidFill>
                  <a:srgbClr val="9AA7B4"/>
                </a:solidFill>
                <a:latin typeface="Arial" panose="020B0604020202020204" pitchFamily="34" charset="0"/>
              </a:rPr>
              <a:t>the top six are senior AI/ML/NLP/search profiles with production evidence; tie-breaks are deterministic by candidate_id.</a:t>
            </a:r>
            <a:endParaRPr lang="en-IN" sz="930">
              <a:solidFill>
                <a:srgbClr val="9AA7B4"/>
              </a:solidFill>
              <a:latin typeface="Arial" panose="020B0604020202020204" pitchFamily="34" charset="0"/>
            </a:endParaRPr>
          </a:p>
        </p:txBody>
      </p:sp>
      <p:sp>
        <p:nvSpPr>
          <p:cNvPr id="125" name="Rectangle: Rounded Corners 124">
            <a:extLst>
              <a:ext uri="{FF2B5EF4-FFF2-40B4-BE49-F238E27FC236}">
                <a16:creationId xmlns:a16="http://schemas.microsoft.com/office/drawing/2014/main" id="{2BA23C8D-70DE-57D5-30D8-300109CF4624}"/>
              </a:ext>
            </a:extLst>
          </p:cNvPr>
          <p:cNvSpPr/>
          <p:nvPr/>
        </p:nvSpPr>
        <p:spPr>
          <a:xfrm>
            <a:off x="7086600" y="1810512"/>
            <a:ext cx="4462272" cy="4160520"/>
          </a:xfrm>
          <a:prstGeom prst="roundRect">
            <a:avLst>
              <a:gd name="adj" fmla="val 3500"/>
            </a:avLst>
          </a:prstGeom>
          <a:solidFill>
            <a:srgbClr val="1B2330"/>
          </a:solidFill>
          <a:ln w="12700">
            <a:solidFill>
              <a:srgbClr val="2A33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8A8DA593-2A17-DAB1-3F2F-995CCBEA71F1}"/>
              </a:ext>
            </a:extLst>
          </p:cNvPr>
          <p:cNvSpPr txBox="1"/>
          <p:nvPr/>
        </p:nvSpPr>
        <p:spPr>
          <a:xfrm>
            <a:off x="7360920" y="2029968"/>
            <a:ext cx="219456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500" b="1">
                <a:solidFill>
                  <a:srgbClr val="2DD4BF"/>
                </a:solidFill>
                <a:latin typeface="Arial" panose="020B0604020202020204" pitchFamily="34" charset="0"/>
              </a:rPr>
              <a:t>Why #1 wins</a:t>
            </a:r>
          </a:p>
        </p:txBody>
      </p:sp>
      <p:sp>
        <p:nvSpPr>
          <p:cNvPr id="127" name="Rectangle: Rounded Corners 126">
            <a:extLst>
              <a:ext uri="{FF2B5EF4-FFF2-40B4-BE49-F238E27FC236}">
                <a16:creationId xmlns:a16="http://schemas.microsoft.com/office/drawing/2014/main" id="{9F0D344D-A642-5D26-15DE-DBDB2597B43F}"/>
              </a:ext>
            </a:extLst>
          </p:cNvPr>
          <p:cNvSpPr/>
          <p:nvPr/>
        </p:nvSpPr>
        <p:spPr>
          <a:xfrm>
            <a:off x="10131552" y="2029968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1B2330"/>
          </a:solidFill>
          <a:ln w="12700" cap="flat" cmpd="sng" algn="ctr">
            <a:solidFill>
              <a:srgbClr val="2DD4BF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6C1BF720-D7D1-BBB5-8079-722857B8DDE3}"/>
              </a:ext>
            </a:extLst>
          </p:cNvPr>
          <p:cNvSpPr txBox="1"/>
          <p:nvPr/>
        </p:nvSpPr>
        <p:spPr>
          <a:xfrm>
            <a:off x="10204704" y="2061972"/>
            <a:ext cx="859536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850" b="1">
                <a:solidFill>
                  <a:srgbClr val="E6EDF3"/>
                </a:solidFill>
                <a:latin typeface="Arial" panose="020B0604020202020204" pitchFamily="34" charset="0"/>
              </a:rPr>
              <a:t>CAND_0018499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B802435B-3E9A-E9F5-0A61-F8D898BD30DD}"/>
              </a:ext>
            </a:extLst>
          </p:cNvPr>
          <p:cNvSpPr txBox="1"/>
          <p:nvPr/>
        </p:nvSpPr>
        <p:spPr>
          <a:xfrm>
            <a:off x="7360920" y="2359152"/>
            <a:ext cx="3840480" cy="1600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040" b="1">
                <a:solidFill>
                  <a:srgbClr val="E6EDF3"/>
                </a:solidFill>
                <a:latin typeface="Arial" panose="020B0604020202020204" pitchFamily="34" charset="0"/>
              </a:rPr>
              <a:t>Senior ML Engineer</a:t>
            </a:r>
            <a:r>
              <a:rPr lang="en-IN" sz="1040">
                <a:solidFill>
                  <a:srgbClr val="9AA7B4"/>
                </a:solidFill>
                <a:latin typeface="Arial" panose="020B0604020202020204" pitchFamily="34" charset="0"/>
              </a:rPr>
              <a:t> at Zomato | 7.2 yrs | Noida | 15-day notice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F64D8439-AB54-8679-7E39-8C50F41679E5}"/>
              </a:ext>
            </a:extLst>
          </p:cNvPr>
          <p:cNvSpPr txBox="1"/>
          <p:nvPr/>
        </p:nvSpPr>
        <p:spPr>
          <a:xfrm>
            <a:off x="7360920" y="2816352"/>
            <a:ext cx="3017520" cy="1508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980">
                <a:solidFill>
                  <a:srgbClr val="E6EDF3"/>
                </a:solidFill>
                <a:latin typeface="Arial" panose="020B0604020202020204" pitchFamily="34" charset="0"/>
              </a:rPr>
              <a:t>core_skill_match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E96801E7-7ACC-5F55-89EC-63337859E895}"/>
              </a:ext>
            </a:extLst>
          </p:cNvPr>
          <p:cNvSpPr txBox="1"/>
          <p:nvPr/>
        </p:nvSpPr>
        <p:spPr>
          <a:xfrm>
            <a:off x="10497312" y="2816352"/>
            <a:ext cx="566928" cy="1508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IN" sz="980" b="1">
                <a:solidFill>
                  <a:srgbClr val="2DD4BF"/>
                </a:solidFill>
                <a:latin typeface="Arial" panose="020B0604020202020204" pitchFamily="34" charset="0"/>
              </a:rPr>
              <a:t>0.982</a:t>
            </a: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38759B84-EFFA-966A-4631-658C81AE3581}"/>
              </a:ext>
            </a:extLst>
          </p:cNvPr>
          <p:cNvSpPr/>
          <p:nvPr/>
        </p:nvSpPr>
        <p:spPr>
          <a:xfrm>
            <a:off x="7360920" y="3035808"/>
            <a:ext cx="3703319" cy="68580"/>
          </a:xfrm>
          <a:prstGeom prst="rect">
            <a:avLst/>
          </a:prstGeom>
          <a:solidFill>
            <a:srgbClr val="2A334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EA0D3225-DB95-893A-1FC7-D6D6C6B42FA9}"/>
              </a:ext>
            </a:extLst>
          </p:cNvPr>
          <p:cNvSpPr/>
          <p:nvPr/>
        </p:nvSpPr>
        <p:spPr>
          <a:xfrm>
            <a:off x="7360920" y="3035808"/>
            <a:ext cx="3636660" cy="68580"/>
          </a:xfrm>
          <a:prstGeom prst="rect">
            <a:avLst/>
          </a:prstGeom>
          <a:solidFill>
            <a:srgbClr val="2DD4B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EE9C4589-0219-7C76-EAB2-F722F968AD23}"/>
              </a:ext>
            </a:extLst>
          </p:cNvPr>
          <p:cNvSpPr txBox="1"/>
          <p:nvPr/>
        </p:nvSpPr>
        <p:spPr>
          <a:xfrm>
            <a:off x="7360920" y="3246120"/>
            <a:ext cx="3017520" cy="1508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980">
                <a:solidFill>
                  <a:srgbClr val="E6EDF3"/>
                </a:solidFill>
                <a:latin typeface="Arial" panose="020B0604020202020204" pitchFamily="34" charset="0"/>
              </a:rPr>
              <a:t>production_evidence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B4A6747D-8E7E-F7A6-3702-78D359D088A0}"/>
              </a:ext>
            </a:extLst>
          </p:cNvPr>
          <p:cNvSpPr txBox="1"/>
          <p:nvPr/>
        </p:nvSpPr>
        <p:spPr>
          <a:xfrm>
            <a:off x="10497312" y="3246120"/>
            <a:ext cx="566928" cy="1508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IN" sz="980" b="1">
                <a:solidFill>
                  <a:srgbClr val="2DD4BF"/>
                </a:solidFill>
                <a:latin typeface="Arial" panose="020B0604020202020204" pitchFamily="34" charset="0"/>
              </a:rPr>
              <a:t>1.000</a:t>
            </a: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56B0C241-8397-506E-7404-1D7781D28445}"/>
              </a:ext>
            </a:extLst>
          </p:cNvPr>
          <p:cNvSpPr/>
          <p:nvPr/>
        </p:nvSpPr>
        <p:spPr>
          <a:xfrm>
            <a:off x="7360920" y="3465576"/>
            <a:ext cx="3703319" cy="68580"/>
          </a:xfrm>
          <a:prstGeom prst="rect">
            <a:avLst/>
          </a:prstGeom>
          <a:solidFill>
            <a:srgbClr val="2A334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7C42CE98-78E6-3AB6-1E65-D42D15332DDD}"/>
              </a:ext>
            </a:extLst>
          </p:cNvPr>
          <p:cNvSpPr/>
          <p:nvPr/>
        </p:nvSpPr>
        <p:spPr>
          <a:xfrm>
            <a:off x="7360920" y="3465576"/>
            <a:ext cx="3703319" cy="68580"/>
          </a:xfrm>
          <a:prstGeom prst="rect">
            <a:avLst/>
          </a:prstGeom>
          <a:solidFill>
            <a:srgbClr val="2DD4B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AB6818D4-D55B-CE72-00BF-8410D16E4E15}"/>
              </a:ext>
            </a:extLst>
          </p:cNvPr>
          <p:cNvSpPr txBox="1"/>
          <p:nvPr/>
        </p:nvSpPr>
        <p:spPr>
          <a:xfrm>
            <a:off x="7360920" y="3675888"/>
            <a:ext cx="3017520" cy="1508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980">
                <a:solidFill>
                  <a:srgbClr val="E6EDF3"/>
                </a:solidFill>
                <a:latin typeface="Arial" panose="020B0604020202020204" pitchFamily="34" charset="0"/>
              </a:rPr>
              <a:t>ir_ranking_experience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B8E7DF0C-11D3-CC9F-9AEE-F8135A435F41}"/>
              </a:ext>
            </a:extLst>
          </p:cNvPr>
          <p:cNvSpPr txBox="1"/>
          <p:nvPr/>
        </p:nvSpPr>
        <p:spPr>
          <a:xfrm>
            <a:off x="10497312" y="3675888"/>
            <a:ext cx="566928" cy="1508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IN" sz="980" b="1">
                <a:solidFill>
                  <a:srgbClr val="2DD4BF"/>
                </a:solidFill>
                <a:latin typeface="Arial" panose="020B0604020202020204" pitchFamily="34" charset="0"/>
              </a:rPr>
              <a:t>1.000</a:t>
            </a: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5C43AFD2-B3C7-39E8-95BA-1B52FF262DFF}"/>
              </a:ext>
            </a:extLst>
          </p:cNvPr>
          <p:cNvSpPr/>
          <p:nvPr/>
        </p:nvSpPr>
        <p:spPr>
          <a:xfrm>
            <a:off x="7360920" y="3895344"/>
            <a:ext cx="3703319" cy="68580"/>
          </a:xfrm>
          <a:prstGeom prst="rect">
            <a:avLst/>
          </a:prstGeom>
          <a:solidFill>
            <a:srgbClr val="2A334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7E3822FC-3290-0F95-C829-F430487F3019}"/>
              </a:ext>
            </a:extLst>
          </p:cNvPr>
          <p:cNvSpPr/>
          <p:nvPr/>
        </p:nvSpPr>
        <p:spPr>
          <a:xfrm>
            <a:off x="7360920" y="3895344"/>
            <a:ext cx="3703319" cy="68580"/>
          </a:xfrm>
          <a:prstGeom prst="rect">
            <a:avLst/>
          </a:prstGeom>
          <a:solidFill>
            <a:srgbClr val="2DD4B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86DFF22F-A30A-5A1B-FD9C-31091FEF9CA3}"/>
              </a:ext>
            </a:extLst>
          </p:cNvPr>
          <p:cNvSpPr txBox="1"/>
          <p:nvPr/>
        </p:nvSpPr>
        <p:spPr>
          <a:xfrm>
            <a:off x="7360920" y="4105656"/>
            <a:ext cx="3017520" cy="1508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980">
                <a:solidFill>
                  <a:srgbClr val="E6EDF3"/>
                </a:solidFill>
                <a:latin typeface="Arial" panose="020B0604020202020204" pitchFamily="34" charset="0"/>
              </a:rPr>
              <a:t>product_company_ratio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A7FB7E33-B5BD-505B-2F46-36E6FFE94F79}"/>
              </a:ext>
            </a:extLst>
          </p:cNvPr>
          <p:cNvSpPr txBox="1"/>
          <p:nvPr/>
        </p:nvSpPr>
        <p:spPr>
          <a:xfrm>
            <a:off x="10497312" y="4105656"/>
            <a:ext cx="566928" cy="1508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IN" sz="980" b="1">
                <a:solidFill>
                  <a:srgbClr val="2DD4BF"/>
                </a:solidFill>
                <a:latin typeface="Arial" panose="020B0604020202020204" pitchFamily="34" charset="0"/>
              </a:rPr>
              <a:t>1.000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5958C2B8-FEDE-81BA-EFA6-6EB2DEB39B59}"/>
              </a:ext>
            </a:extLst>
          </p:cNvPr>
          <p:cNvSpPr/>
          <p:nvPr/>
        </p:nvSpPr>
        <p:spPr>
          <a:xfrm>
            <a:off x="7360920" y="4325112"/>
            <a:ext cx="3703319" cy="68580"/>
          </a:xfrm>
          <a:prstGeom prst="rect">
            <a:avLst/>
          </a:prstGeom>
          <a:solidFill>
            <a:srgbClr val="2A334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F7B83E20-BBBC-BF29-EFA9-CF9C506A91D5}"/>
              </a:ext>
            </a:extLst>
          </p:cNvPr>
          <p:cNvSpPr/>
          <p:nvPr/>
        </p:nvSpPr>
        <p:spPr>
          <a:xfrm>
            <a:off x="7360920" y="4325112"/>
            <a:ext cx="3703319" cy="68580"/>
          </a:xfrm>
          <a:prstGeom prst="rect">
            <a:avLst/>
          </a:prstGeom>
          <a:solidFill>
            <a:srgbClr val="2DD4B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F8A2A697-ACAB-3AD3-ADA1-332962E6EAAC}"/>
              </a:ext>
            </a:extLst>
          </p:cNvPr>
          <p:cNvSpPr txBox="1"/>
          <p:nvPr/>
        </p:nvSpPr>
        <p:spPr>
          <a:xfrm>
            <a:off x="7360920" y="4535424"/>
            <a:ext cx="3017520" cy="1508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980">
                <a:solidFill>
                  <a:srgbClr val="E6EDF3"/>
                </a:solidFill>
                <a:latin typeface="Arial" panose="020B0604020202020204" pitchFamily="34" charset="0"/>
              </a:rPr>
              <a:t>career_trajectory_score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50A996BF-6F73-941D-A9B4-78FB03DF3AA3}"/>
              </a:ext>
            </a:extLst>
          </p:cNvPr>
          <p:cNvSpPr txBox="1"/>
          <p:nvPr/>
        </p:nvSpPr>
        <p:spPr>
          <a:xfrm>
            <a:off x="10497312" y="4535424"/>
            <a:ext cx="566928" cy="1508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IN" sz="980" b="1">
                <a:solidFill>
                  <a:srgbClr val="2DD4BF"/>
                </a:solidFill>
                <a:latin typeface="Arial" panose="020B0604020202020204" pitchFamily="34" charset="0"/>
              </a:rPr>
              <a:t>1.000</a:t>
            </a: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4DADF1DB-AA47-FA52-8D60-76D75DC27B2A}"/>
              </a:ext>
            </a:extLst>
          </p:cNvPr>
          <p:cNvSpPr/>
          <p:nvPr/>
        </p:nvSpPr>
        <p:spPr>
          <a:xfrm>
            <a:off x="7360920" y="4754880"/>
            <a:ext cx="3703319" cy="68580"/>
          </a:xfrm>
          <a:prstGeom prst="rect">
            <a:avLst/>
          </a:prstGeom>
          <a:solidFill>
            <a:srgbClr val="2A334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94FCB66B-9693-2540-9974-762342B030CB}"/>
              </a:ext>
            </a:extLst>
          </p:cNvPr>
          <p:cNvSpPr/>
          <p:nvPr/>
        </p:nvSpPr>
        <p:spPr>
          <a:xfrm>
            <a:off x="7360920" y="4754880"/>
            <a:ext cx="3703319" cy="68580"/>
          </a:xfrm>
          <a:prstGeom prst="rect">
            <a:avLst/>
          </a:prstGeom>
          <a:solidFill>
            <a:srgbClr val="2DD4B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0" name="Rectangle: Rounded Corners 149">
            <a:extLst>
              <a:ext uri="{FF2B5EF4-FFF2-40B4-BE49-F238E27FC236}">
                <a16:creationId xmlns:a16="http://schemas.microsoft.com/office/drawing/2014/main" id="{7E054154-1A8B-0C02-70B5-55FAAA5C495F}"/>
              </a:ext>
            </a:extLst>
          </p:cNvPr>
          <p:cNvSpPr/>
          <p:nvPr/>
        </p:nvSpPr>
        <p:spPr>
          <a:xfrm>
            <a:off x="7360920" y="5065776"/>
            <a:ext cx="1078992" cy="256032"/>
          </a:xfrm>
          <a:prstGeom prst="roundRect">
            <a:avLst>
              <a:gd name="adj" fmla="val 50000"/>
            </a:avLst>
          </a:prstGeom>
          <a:solidFill>
            <a:srgbClr val="1B2330"/>
          </a:solidFill>
          <a:ln w="12700" cap="flat" cmpd="sng" algn="ctr">
            <a:solidFill>
              <a:srgbClr val="8B7CF6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E9FA85BA-C536-0ED1-44DD-DBE93C591CEF}"/>
              </a:ext>
            </a:extLst>
          </p:cNvPr>
          <p:cNvSpPr txBox="1"/>
          <p:nvPr/>
        </p:nvSpPr>
        <p:spPr>
          <a:xfrm>
            <a:off x="7434072" y="5097780"/>
            <a:ext cx="932688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850" b="1">
                <a:solidFill>
                  <a:srgbClr val="E6EDF3"/>
                </a:solidFill>
                <a:latin typeface="Arial" panose="020B0604020202020204" pitchFamily="34" charset="0"/>
              </a:rPr>
              <a:t>behavior x1.10</a:t>
            </a:r>
          </a:p>
        </p:txBody>
      </p:sp>
      <p:sp>
        <p:nvSpPr>
          <p:cNvPr id="152" name="Rectangle: Rounded Corners 151">
            <a:extLst>
              <a:ext uri="{FF2B5EF4-FFF2-40B4-BE49-F238E27FC236}">
                <a16:creationId xmlns:a16="http://schemas.microsoft.com/office/drawing/2014/main" id="{D88F64E7-105F-BBEF-414F-A2D2F603D8CF}"/>
              </a:ext>
            </a:extLst>
          </p:cNvPr>
          <p:cNvSpPr/>
          <p:nvPr/>
        </p:nvSpPr>
        <p:spPr>
          <a:xfrm>
            <a:off x="8613648" y="5065776"/>
            <a:ext cx="1225296" cy="256032"/>
          </a:xfrm>
          <a:prstGeom prst="roundRect">
            <a:avLst>
              <a:gd name="adj" fmla="val 50000"/>
            </a:avLst>
          </a:prstGeom>
          <a:solidFill>
            <a:srgbClr val="1B2330"/>
          </a:solidFill>
          <a:ln w="12700" cap="flat" cmpd="sng" algn="ctr">
            <a:solidFill>
              <a:srgbClr val="34D399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6004B888-3842-74AB-3A10-0A8D111AB77B}"/>
              </a:ext>
            </a:extLst>
          </p:cNvPr>
          <p:cNvSpPr txBox="1"/>
          <p:nvPr/>
        </p:nvSpPr>
        <p:spPr>
          <a:xfrm>
            <a:off x="8686800" y="5097780"/>
            <a:ext cx="1078992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850" b="1">
                <a:solidFill>
                  <a:srgbClr val="E6EDF3"/>
                </a:solidFill>
                <a:latin typeface="Arial" panose="020B0604020202020204" pitchFamily="34" charset="0"/>
              </a:rPr>
              <a:t>honeypot x1.00</a:t>
            </a:r>
          </a:p>
        </p:txBody>
      </p:sp>
      <p:sp>
        <p:nvSpPr>
          <p:cNvPr id="154" name="Rectangle: Rounded Corners 153">
            <a:extLst>
              <a:ext uri="{FF2B5EF4-FFF2-40B4-BE49-F238E27FC236}">
                <a16:creationId xmlns:a16="http://schemas.microsoft.com/office/drawing/2014/main" id="{A150F443-D1B4-6B3D-508F-D98A006BA663}"/>
              </a:ext>
            </a:extLst>
          </p:cNvPr>
          <p:cNvSpPr/>
          <p:nvPr/>
        </p:nvSpPr>
        <p:spPr>
          <a:xfrm>
            <a:off x="10021824" y="5065776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1B2330"/>
          </a:solidFill>
          <a:ln w="12700" cap="flat" cmpd="sng" algn="ctr">
            <a:solidFill>
              <a:srgbClr val="34D399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B9DB95C4-B2B7-1E47-AA4A-D197407A46A0}"/>
              </a:ext>
            </a:extLst>
          </p:cNvPr>
          <p:cNvSpPr txBox="1"/>
          <p:nvPr/>
        </p:nvSpPr>
        <p:spPr>
          <a:xfrm>
            <a:off x="10094976" y="5097780"/>
            <a:ext cx="676656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850" b="1">
                <a:solidFill>
                  <a:srgbClr val="E6EDF3"/>
                </a:solidFill>
                <a:latin typeface="Arial" panose="020B0604020202020204" pitchFamily="34" charset="0"/>
              </a:rPr>
              <a:t>DQ x1.00</a:t>
            </a:r>
          </a:p>
        </p:txBody>
      </p:sp>
      <p:sp>
        <p:nvSpPr>
          <p:cNvPr id="156" name="Rectangle: Rounded Corners 155">
            <a:extLst>
              <a:ext uri="{FF2B5EF4-FFF2-40B4-BE49-F238E27FC236}">
                <a16:creationId xmlns:a16="http://schemas.microsoft.com/office/drawing/2014/main" id="{09EAD379-8A2E-44B2-3358-DC1669AF719C}"/>
              </a:ext>
            </a:extLst>
          </p:cNvPr>
          <p:cNvSpPr/>
          <p:nvPr/>
        </p:nvSpPr>
        <p:spPr>
          <a:xfrm>
            <a:off x="7360920" y="5449824"/>
            <a:ext cx="3703319" cy="512064"/>
          </a:xfrm>
          <a:prstGeom prst="roundRect">
            <a:avLst>
              <a:gd name="adj" fmla="val 3500"/>
            </a:avLst>
          </a:prstGeom>
          <a:solidFill>
            <a:srgbClr val="161C24"/>
          </a:solidFill>
          <a:ln w="12700">
            <a:solidFill>
              <a:srgbClr val="2A33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409B0A7F-9E2D-B66C-5C05-C69C0DAF15CD}"/>
              </a:ext>
            </a:extLst>
          </p:cNvPr>
          <p:cNvSpPr txBox="1"/>
          <p:nvPr/>
        </p:nvSpPr>
        <p:spPr>
          <a:xfrm>
            <a:off x="7516368" y="5541264"/>
            <a:ext cx="3383280" cy="2554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30" b="1">
                <a:solidFill>
                  <a:srgbClr val="8B7CF6"/>
                </a:solidFill>
                <a:latin typeface="Arial" panose="020B0604020202020204" pitchFamily="34" charset="0"/>
              </a:rPr>
              <a:t>Grounded reason: </a:t>
            </a:r>
            <a:r>
              <a:rPr lang="en-US" sz="830" i="1">
                <a:solidFill>
                  <a:srgbClr val="9AA7B4"/>
                </a:solidFill>
                <a:latin typeface="Arial" panose="020B0604020202020204" pitchFamily="34" charset="0"/>
              </a:rPr>
              <a:t>shipped retrieval/ranking; skills include Learning to Rank + Embeddings; response 0.61.</a:t>
            </a:r>
            <a:endParaRPr lang="en-IN" sz="830" i="1">
              <a:solidFill>
                <a:srgbClr val="9AA7B4"/>
              </a:solidFill>
              <a:latin typeface="Arial" panose="020B0604020202020204" pitchFamily="34" charset="0"/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F79F286E-DB10-AE93-9AF8-3A583F5A36CE}"/>
              </a:ext>
            </a:extLst>
          </p:cNvPr>
          <p:cNvSpPr txBox="1"/>
          <p:nvPr/>
        </p:nvSpPr>
        <p:spPr>
          <a:xfrm>
            <a:off x="10881360" y="6473952"/>
            <a:ext cx="914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IN" sz="900">
                <a:solidFill>
                  <a:srgbClr val="6E7C8C"/>
                </a:solidFill>
                <a:latin typeface="Arial" panose="020B0604020202020204" pitchFamily="34" charset="0"/>
              </a:rPr>
              <a:t>7 / 13</a:t>
            </a: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9CB67968-E6C3-95CA-08D8-4F09F611708F}"/>
              </a:ext>
            </a:extLst>
          </p:cNvPr>
          <p:cNvSpPr txBox="1"/>
          <p:nvPr/>
        </p:nvSpPr>
        <p:spPr>
          <a:xfrm>
            <a:off x="640080" y="6473952"/>
            <a:ext cx="27432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900" b="1">
                <a:solidFill>
                  <a:srgbClr val="6E7C8C"/>
                </a:solidFill>
                <a:latin typeface="Arial" panose="020B0604020202020204" pitchFamily="34" charset="0"/>
              </a:rPr>
              <a:t>HIREFIT RANKER</a:t>
            </a:r>
          </a:p>
        </p:txBody>
      </p:sp>
    </p:spTree>
    <p:extLst>
      <p:ext uri="{BB962C8B-B14F-4D97-AF65-F5344CB8AC3E}">
        <p14:creationId xmlns:p14="http://schemas.microsoft.com/office/powerpoint/2010/main" val="20339416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300" dirty="0">
                <a:solidFill>
                  <a:srgbClr val="8B7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HOLDS UP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Stuffers and honeypots never reach the shortlist.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335024"/>
            <a:ext cx="109115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on the released pool — the guardrails do real work, not decoration.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423818" cy="2606040"/>
          </a:xfrm>
          <a:prstGeom prst="roundRect">
            <a:avLst>
              <a:gd name="adj" fmla="val 4211"/>
            </a:avLst>
          </a:prstGeom>
          <a:solidFill>
            <a:srgbClr val="161C24"/>
          </a:solidFill>
          <a:ln w="12700">
            <a:solidFill>
              <a:srgbClr val="2A3340"/>
            </a:solidFill>
            <a:prstDash val="solid"/>
          </a:ln>
          <a:effectLst>
            <a:outerShdw blurRad="1143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14400" y="2240280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F2607B">
              <a:alpha val="18000"/>
            </a:srgbClr>
          </a:solidFill>
          <a:ln w="12700">
            <a:solidFill>
              <a:srgbClr val="F2607B">
                <a:alpha val="45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2340864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2240280"/>
            <a:ext cx="24179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 stuffers buried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14400" y="2926080"/>
            <a:ext cx="287517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260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4,800+</a:t>
            </a:r>
            <a:endParaRPr lang="en-US" sz="4400" dirty="0"/>
          </a:p>
        </p:txBody>
      </p:sp>
      <p:sp>
        <p:nvSpPr>
          <p:cNvPr id="10" name="Text 7"/>
          <p:cNvSpPr/>
          <p:nvPr/>
        </p:nvSpPr>
        <p:spPr>
          <a:xfrm>
            <a:off x="914400" y="3794760"/>
            <a:ext cx="287517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Wrong-role profiles across the pool's 12 non-target strata — zero reach the top-100.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383938" y="1965960"/>
            <a:ext cx="3423818" cy="2606040"/>
          </a:xfrm>
          <a:prstGeom prst="roundRect">
            <a:avLst>
              <a:gd name="adj" fmla="val 4211"/>
            </a:avLst>
          </a:prstGeom>
          <a:solidFill>
            <a:srgbClr val="161C24"/>
          </a:solidFill>
          <a:ln w="12700">
            <a:solidFill>
              <a:srgbClr val="2A3340"/>
            </a:solidFill>
            <a:prstDash val="solid"/>
          </a:ln>
          <a:effectLst>
            <a:outerShdw blurRad="1143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4658258" y="2240280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F2607B">
              <a:alpha val="18000"/>
            </a:srgbClr>
          </a:solidFill>
          <a:ln w="12700">
            <a:solidFill>
              <a:srgbClr val="F2607B">
                <a:alpha val="45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8842" y="2340864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52618" y="2240280"/>
            <a:ext cx="24179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Honeypots blocked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658258" y="2926080"/>
            <a:ext cx="287517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260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 → 0</a:t>
            </a:r>
            <a:endParaRPr lang="en-US" sz="4400" dirty="0"/>
          </a:p>
        </p:txBody>
      </p:sp>
      <p:sp>
        <p:nvSpPr>
          <p:cNvPr id="16" name="Text 12"/>
          <p:cNvSpPr/>
          <p:nvPr/>
        </p:nvSpPr>
        <p:spPr>
          <a:xfrm>
            <a:off x="4658258" y="3794760"/>
            <a:ext cx="287517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Impossible profiles detected, then zero emitted in the top 100. Challenge DQ threshold is &gt;10%.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8127797" y="1965960"/>
            <a:ext cx="3423818" cy="2606040"/>
          </a:xfrm>
          <a:prstGeom prst="roundRect">
            <a:avLst>
              <a:gd name="adj" fmla="val 4211"/>
            </a:avLst>
          </a:prstGeom>
          <a:solidFill>
            <a:srgbClr val="161C24"/>
          </a:solidFill>
          <a:ln w="12700">
            <a:solidFill>
              <a:srgbClr val="2A3340"/>
            </a:solidFill>
            <a:prstDash val="solid"/>
          </a:ln>
          <a:effectLst>
            <a:outerShdw blurRad="1143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18" name="Shape 14"/>
          <p:cNvSpPr/>
          <p:nvPr/>
        </p:nvSpPr>
        <p:spPr>
          <a:xfrm>
            <a:off x="8402117" y="2240280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F2B544">
              <a:alpha val="18000"/>
            </a:srgbClr>
          </a:solidFill>
          <a:ln w="12700">
            <a:solidFill>
              <a:srgbClr val="F2B544">
                <a:alpha val="45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2701" y="2340864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996477" y="2240280"/>
            <a:ext cx="24179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Unavailable down-weighted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8402117" y="2926080"/>
            <a:ext cx="287517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2B5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×0.42</a:t>
            </a:r>
            <a:endParaRPr lang="en-US" sz="4400" dirty="0"/>
          </a:p>
        </p:txBody>
      </p:sp>
      <p:sp>
        <p:nvSpPr>
          <p:cNvPr id="22" name="Text 17"/>
          <p:cNvSpPr/>
          <p:nvPr/>
        </p:nvSpPr>
        <p:spPr>
          <a:xfrm>
            <a:off x="8402117" y="3794760"/>
            <a:ext cx="287517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Behavioral multiplier on an 8-yr profile with 12% response &amp; not-open-to-work — pushed off the shortlist.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640080" y="4800600"/>
            <a:ext cx="10911535" cy="1051560"/>
          </a:xfrm>
          <a:prstGeom prst="roundRect">
            <a:avLst>
              <a:gd name="adj" fmla="val 10435"/>
            </a:avLst>
          </a:prstGeom>
          <a:solidFill>
            <a:srgbClr val="1B2330"/>
          </a:solidFill>
          <a:ln w="12700">
            <a:solidFill>
              <a:srgbClr val="2A3340"/>
            </a:solidFill>
            <a:prstDash val="solid"/>
          </a:ln>
          <a:effectLst>
            <a:outerShdw blurRad="1143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24" name="Shape 19"/>
          <p:cNvSpPr/>
          <p:nvPr/>
        </p:nvSpPr>
        <p:spPr>
          <a:xfrm>
            <a:off x="914400" y="5074920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8B7CF6">
              <a:alpha val="18000"/>
            </a:srgbClr>
          </a:solidFill>
          <a:ln w="12700">
            <a:solidFill>
              <a:srgbClr val="8B7CF6">
                <a:alpha val="45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984" y="5175504"/>
            <a:ext cx="256032" cy="25603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508760" y="4937760"/>
            <a:ext cx="97228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8B7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Plain-language fit is captured too:  </a:t>
            </a:r>
            <a:r>
              <a:rPr lang="en-US" sz="13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matching runs over the full profile text, not just the skills array — so an engineer who </a:t>
            </a:r>
            <a:r>
              <a:rPr lang="en-US" sz="1300" i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describes</a:t>
            </a:r>
            <a:r>
              <a:rPr lang="en-US" sz="13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building a recommender (without the buzzwords) still scores on core fit.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10911535" y="647395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E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13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640080" y="647395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E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HIREFIT RANKER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300" dirty="0">
                <a:solidFill>
                  <a:srgbClr val="8B7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independent LLM judge families confirm the top-10 — it isn’t self-graded.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335024"/>
            <a:ext cx="109115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avoided grading our ranker with its own heuristics. A separate judge scored a stratified sample.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2522144" cy="1097280"/>
          </a:xfrm>
          <a:prstGeom prst="roundRect">
            <a:avLst>
              <a:gd name="adj" fmla="val 10000"/>
            </a:avLst>
          </a:prstGeom>
          <a:solidFill>
            <a:srgbClr val="161C24"/>
          </a:solidFill>
          <a:ln w="12700">
            <a:solidFill>
              <a:srgbClr val="2A3340"/>
            </a:solidFill>
            <a:prstDash val="solid"/>
          </a:ln>
          <a:effectLst>
            <a:outerShdw blurRad="1143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1993392"/>
            <a:ext cx="25221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0.894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40080" y="2578608"/>
            <a:ext cx="2522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NDCG@10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36544" y="1874520"/>
            <a:ext cx="2522144" cy="1097280"/>
          </a:xfrm>
          <a:prstGeom prst="roundRect">
            <a:avLst>
              <a:gd name="adj" fmla="val 10000"/>
            </a:avLst>
          </a:prstGeom>
          <a:solidFill>
            <a:srgbClr val="161C24"/>
          </a:solidFill>
          <a:ln w="12700">
            <a:solidFill>
              <a:srgbClr val="2A3340"/>
            </a:solidFill>
            <a:prstDash val="solid"/>
          </a:ln>
          <a:effectLst>
            <a:outerShdw blurRad="1143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436544" y="1993392"/>
            <a:ext cx="25221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0.924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436544" y="2578608"/>
            <a:ext cx="2522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NDCG@50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33008" y="1874520"/>
            <a:ext cx="2522144" cy="1097280"/>
          </a:xfrm>
          <a:prstGeom prst="roundRect">
            <a:avLst>
              <a:gd name="adj" fmla="val 10000"/>
            </a:avLst>
          </a:prstGeom>
          <a:solidFill>
            <a:srgbClr val="161C24"/>
          </a:solidFill>
          <a:ln w="12700">
            <a:solidFill>
              <a:srgbClr val="2A3340"/>
            </a:solidFill>
            <a:prstDash val="solid"/>
          </a:ln>
          <a:effectLst>
            <a:outerShdw blurRad="1143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233008" y="1993392"/>
            <a:ext cx="25221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0.912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6233008" y="2578608"/>
            <a:ext cx="2522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029471" y="1874520"/>
            <a:ext cx="2522144" cy="1097280"/>
          </a:xfrm>
          <a:prstGeom prst="roundRect">
            <a:avLst>
              <a:gd name="adj" fmla="val 10000"/>
            </a:avLst>
          </a:prstGeom>
          <a:solidFill>
            <a:srgbClr val="161C24"/>
          </a:solidFill>
          <a:ln w="12700">
            <a:solidFill>
              <a:srgbClr val="2A3340"/>
            </a:solidFill>
            <a:prstDash val="solid"/>
          </a:ln>
          <a:effectLst>
            <a:outerShdw blurRad="1143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29471" y="1993392"/>
            <a:ext cx="25221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9029471" y="2578608"/>
            <a:ext cx="2522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P@10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3200400"/>
            <a:ext cx="5272888" cy="1874520"/>
          </a:xfrm>
          <a:prstGeom prst="roundRect">
            <a:avLst>
              <a:gd name="adj" fmla="val 5854"/>
            </a:avLst>
          </a:prstGeom>
          <a:solidFill>
            <a:srgbClr val="161C24"/>
          </a:solidFill>
          <a:ln w="12700">
            <a:solidFill>
              <a:srgbClr val="2A3340"/>
            </a:solidFill>
            <a:prstDash val="solid"/>
          </a:ln>
          <a:effectLst>
            <a:outerShdw blurRad="1143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914400" y="3429000"/>
            <a:ext cx="420624" cy="420624"/>
          </a:xfrm>
          <a:prstGeom prst="roundRect">
            <a:avLst>
              <a:gd name="adj" fmla="val 15217"/>
            </a:avLst>
          </a:prstGeom>
          <a:solidFill>
            <a:srgbClr val="F2B544">
              <a:alpha val="18000"/>
            </a:srgbClr>
          </a:solidFill>
          <a:ln w="12700">
            <a:solidFill>
              <a:srgbClr val="F2B544">
                <a:alpha val="45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937" y="3521537"/>
            <a:ext cx="235549" cy="235549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444752" y="3429000"/>
            <a:ext cx="43584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was judged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932688" y="3931920"/>
            <a:ext cx="47242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249   </a:t>
            </a:r>
            <a:r>
              <a:rPr lang="en-US" sz="1100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stratified candidates — ranker top ranks + higher heuristic tiers + a random control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932688" y="4315968"/>
            <a:ext cx="47242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Judges</a:t>
            </a:r>
            <a:r>
              <a:rPr lang="en-US" sz="1100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gemini-2.5-flash + gpt-4.1-mini + deepseek, same rubric, same 249 ids: kappa 0.918–0.935 across all pairs.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932688" y="4700016"/>
            <a:ext cx="47242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Top-10   all 4–5 (judge 1); all tier-5, NDCG@10 = 1.0 (judge 2)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278728" y="3200400"/>
            <a:ext cx="5272888" cy="1874520"/>
          </a:xfrm>
          <a:prstGeom prst="roundRect">
            <a:avLst>
              <a:gd name="adj" fmla="val 5854"/>
            </a:avLst>
          </a:prstGeom>
          <a:solidFill>
            <a:srgbClr val="1B2330"/>
          </a:solidFill>
          <a:ln w="12700">
            <a:solidFill>
              <a:srgbClr val="2A3340"/>
            </a:solidFill>
            <a:prstDash val="solid"/>
          </a:ln>
          <a:effectLst>
            <a:outerShdw blurRad="1143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6553048" y="3429000"/>
            <a:ext cx="420624" cy="420624"/>
          </a:xfrm>
          <a:prstGeom prst="roundRect">
            <a:avLst>
              <a:gd name="adj" fmla="val 15217"/>
            </a:avLst>
          </a:prstGeom>
          <a:solidFill>
            <a:srgbClr val="2DD4BF">
              <a:alpha val="18000"/>
            </a:srgbClr>
          </a:solidFill>
          <a:ln w="12700">
            <a:solidFill>
              <a:srgbClr val="2DD4BF">
                <a:alpha val="45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5585" y="3521537"/>
            <a:ext cx="235549" cy="235549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7083400" y="3429000"/>
            <a:ext cx="43584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propped up by our own labels</a:t>
            </a:r>
            <a:endParaRPr lang="en-US" sz="1500" dirty="0"/>
          </a:p>
        </p:txBody>
      </p:sp>
      <p:sp>
        <p:nvSpPr>
          <p:cNvPr id="28" name="Text 24"/>
          <p:cNvSpPr/>
          <p:nvPr/>
        </p:nvSpPr>
        <p:spPr>
          <a:xfrm>
            <a:off x="6571336" y="3931920"/>
            <a:ext cx="472424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judge composite (0.911) is slightly higher than our non-circular heuristic harness (0.886) — the ranking is strong by an outside opinion, not just our own.</a:t>
            </a:r>
            <a:endParaRPr lang="en-US" sz="1250" dirty="0"/>
          </a:p>
        </p:txBody>
      </p:sp>
      <p:sp>
        <p:nvSpPr>
          <p:cNvPr id="29" name="Shape 25"/>
          <p:cNvSpPr/>
          <p:nvPr/>
        </p:nvSpPr>
        <p:spPr>
          <a:xfrm>
            <a:off x="640080" y="5257800"/>
            <a:ext cx="10911535" cy="658368"/>
          </a:xfrm>
          <a:prstGeom prst="roundRect">
            <a:avLst>
              <a:gd name="adj" fmla="val 16667"/>
            </a:avLst>
          </a:prstGeom>
          <a:solidFill>
            <a:srgbClr val="161C24"/>
          </a:solidFill>
          <a:ln w="12700">
            <a:solidFill>
              <a:srgbClr val="2A3340"/>
            </a:solidFill>
            <a:prstDash val="solid"/>
          </a:ln>
          <a:effectLst>
            <a:outerShdw blurRad="1143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p/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5413248"/>
            <a:ext cx="292608" cy="292608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1325880" y="5257800"/>
            <a:ext cx="990569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2B5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framing:  a development-time proxy on a 249-candidate sample, not the hidden challenge score. The one post-freeze change (8-swap calibration) was re-tested by a judge family added after adoption: +0.0124, 6 confirm / 1 tie / 1 contested (docs/llm_judge_eval_3.md).</a:t>
            </a:r>
            <a:endParaRPr lang="en-US" sz="1200" dirty="0"/>
          </a:p>
        </p:txBody>
      </p:sp>
      <p:sp>
        <p:nvSpPr>
          <p:cNvPr id="32" name="Text 27"/>
          <p:cNvSpPr/>
          <p:nvPr/>
        </p:nvSpPr>
        <p:spPr>
          <a:xfrm>
            <a:off x="10911535" y="647395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E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13</a:t>
            </a:r>
            <a:endParaRPr lang="en-US" sz="900" dirty="0"/>
          </a:p>
        </p:txBody>
      </p:sp>
      <p:sp>
        <p:nvSpPr>
          <p:cNvPr id="33" name="Text 28"/>
          <p:cNvSpPr/>
          <p:nvPr/>
        </p:nvSpPr>
        <p:spPr>
          <a:xfrm>
            <a:off x="640080" y="647395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E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HIREFIT RANKER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ED9998D3-4237-66E4-3FFA-742BA440BF2F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54EB237-F78D-0269-84C8-933F09F66FAA}"/>
              </a:ext>
            </a:extLst>
          </p:cNvPr>
          <p:cNvSpPr txBox="1"/>
          <p:nvPr/>
        </p:nvSpPr>
        <p:spPr>
          <a:xfrm>
            <a:off x="640080" y="384048"/>
            <a:ext cx="1088136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150" b="1">
                <a:solidFill>
                  <a:srgbClr val="8B7CF6"/>
                </a:solidFill>
                <a:latin typeface="Arial" panose="020B0604020202020204" pitchFamily="34" charset="0"/>
              </a:rPr>
              <a:t>TRADEOFFS &amp; LIMITS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2161346-604D-E5F8-1933-90B9D4C6FEAC}"/>
              </a:ext>
            </a:extLst>
          </p:cNvPr>
          <p:cNvSpPr txBox="1"/>
          <p:nvPr/>
        </p:nvSpPr>
        <p:spPr>
          <a:xfrm>
            <a:off x="640080" y="658368"/>
            <a:ext cx="1088136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000" b="1">
                <a:solidFill>
                  <a:srgbClr val="E6EDF3"/>
                </a:solidFill>
                <a:latin typeface="Arial" panose="020B0604020202020204" pitchFamily="34" charset="0"/>
              </a:rPr>
              <a:t>Reproducibility beats raw model power.</a:t>
            </a:r>
            <a:endParaRPr lang="en-IN" sz="3000" b="1">
              <a:solidFill>
                <a:srgbClr val="E6EDF3"/>
              </a:solidFill>
              <a:latin typeface="Arial" panose="020B0604020202020204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6D84A61-C4E7-EB28-E06B-A18D38B3E52E}"/>
              </a:ext>
            </a:extLst>
          </p:cNvPr>
          <p:cNvSpPr txBox="1"/>
          <p:nvPr/>
        </p:nvSpPr>
        <p:spPr>
          <a:xfrm>
            <a:off x="640080" y="1335024"/>
            <a:ext cx="1088136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9AA7B4"/>
                </a:solidFill>
                <a:latin typeface="Arial" panose="020B0604020202020204" pitchFamily="34" charset="0"/>
              </a:rPr>
              <a:t>The deck does not hide limitations; it turns them into Stage-5 defense points judges can verify.</a:t>
            </a:r>
            <a:endParaRPr lang="en-IN" sz="1300">
              <a:solidFill>
                <a:srgbClr val="9AA7B4"/>
              </a:solidFill>
              <a:latin typeface="Arial" panose="020B0604020202020204" pitchFamily="34" charset="0"/>
            </a:endParaRP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6B5A105F-DC77-6142-08D2-4212DB0225D8}"/>
              </a:ext>
            </a:extLst>
          </p:cNvPr>
          <p:cNvSpPr/>
          <p:nvPr/>
        </p:nvSpPr>
        <p:spPr>
          <a:xfrm>
            <a:off x="640080" y="1874520"/>
            <a:ext cx="5349240" cy="4069080"/>
          </a:xfrm>
          <a:prstGeom prst="roundRect">
            <a:avLst>
              <a:gd name="adj" fmla="val 3500"/>
            </a:avLst>
          </a:prstGeom>
          <a:solidFill>
            <a:srgbClr val="161C24"/>
          </a:solidFill>
          <a:ln w="12700">
            <a:solidFill>
              <a:srgbClr val="2A33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A395892-7750-E775-B810-FD5AA94829AF}"/>
              </a:ext>
            </a:extLst>
          </p:cNvPr>
          <p:cNvSpPr txBox="1"/>
          <p:nvPr/>
        </p:nvSpPr>
        <p:spPr>
          <a:xfrm>
            <a:off x="932688" y="2103120"/>
            <a:ext cx="27432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500" b="1">
                <a:solidFill>
                  <a:srgbClr val="E6EDF3"/>
                </a:solidFill>
                <a:latin typeface="Arial" panose="020B0604020202020204" pitchFamily="34" charset="0"/>
              </a:rPr>
              <a:t>Defensible decisions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D2BE1CFD-69F6-40B2-27C7-E7B03EF33DFA}"/>
              </a:ext>
            </a:extLst>
          </p:cNvPr>
          <p:cNvSpPr/>
          <p:nvPr/>
        </p:nvSpPr>
        <p:spPr>
          <a:xfrm>
            <a:off x="4645152" y="2121408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1B2330"/>
          </a:solidFill>
          <a:ln w="12700" cap="flat" cmpd="sng" algn="ctr">
            <a:solidFill>
              <a:srgbClr val="2DD4BF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2764EEF-F1EF-8E57-349A-54673CF2B21F}"/>
              </a:ext>
            </a:extLst>
          </p:cNvPr>
          <p:cNvSpPr txBox="1"/>
          <p:nvPr/>
        </p:nvSpPr>
        <p:spPr>
          <a:xfrm>
            <a:off x="4718304" y="2153412"/>
            <a:ext cx="768096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850" b="1">
                <a:solidFill>
                  <a:srgbClr val="E6EDF3"/>
                </a:solidFill>
                <a:latin typeface="Arial" panose="020B0604020202020204" pitchFamily="34" charset="0"/>
              </a:rPr>
              <a:t>shipped path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C6E666A7-A9DA-282A-6235-719927B41A78}"/>
              </a:ext>
            </a:extLst>
          </p:cNvPr>
          <p:cNvSpPr/>
          <p:nvPr/>
        </p:nvSpPr>
        <p:spPr>
          <a:xfrm>
            <a:off x="932688" y="2670048"/>
            <a:ext cx="146304" cy="146304"/>
          </a:xfrm>
          <a:prstGeom prst="ellipse">
            <a:avLst/>
          </a:prstGeom>
          <a:solidFill>
            <a:srgbClr val="34D3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0A5A3A1-DF61-ACF6-B576-2C5E7168D4BA}"/>
              </a:ext>
            </a:extLst>
          </p:cNvPr>
          <p:cNvSpPr txBox="1"/>
          <p:nvPr/>
        </p:nvSpPr>
        <p:spPr>
          <a:xfrm>
            <a:off x="1234440" y="2633472"/>
            <a:ext cx="4160520" cy="1815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180" b="1">
                <a:solidFill>
                  <a:srgbClr val="E6EDF3"/>
                </a:solidFill>
                <a:latin typeface="Arial" panose="020B0604020202020204" pitchFamily="34" charset="0"/>
              </a:rPr>
              <a:t>No LLM per candidate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32CB621-651A-9B23-3182-9D88579452BA}"/>
              </a:ext>
            </a:extLst>
          </p:cNvPr>
          <p:cNvSpPr txBox="1"/>
          <p:nvPr/>
        </p:nvSpPr>
        <p:spPr>
          <a:xfrm>
            <a:off x="1234440" y="2871216"/>
            <a:ext cx="4224528" cy="2985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70">
                <a:solidFill>
                  <a:srgbClr val="9AA7B4"/>
                </a:solidFill>
                <a:latin typeface="Arial" panose="020B0604020202020204" pitchFamily="34" charset="0"/>
              </a:rPr>
              <a:t>100K hosted calls break the CPU/no-network budget and make reproduction fragile.</a:t>
            </a:r>
            <a:endParaRPr lang="en-IN" sz="970">
              <a:solidFill>
                <a:srgbClr val="9AA7B4"/>
              </a:solidFill>
              <a:latin typeface="Arial" panose="020B0604020202020204" pitchFamily="34" charset="0"/>
            </a:endParaRP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6FDE318C-29BE-36A5-1F3B-FBC27953EE1B}"/>
              </a:ext>
            </a:extLst>
          </p:cNvPr>
          <p:cNvSpPr/>
          <p:nvPr/>
        </p:nvSpPr>
        <p:spPr>
          <a:xfrm>
            <a:off x="932688" y="3438144"/>
            <a:ext cx="146304" cy="146304"/>
          </a:xfrm>
          <a:prstGeom prst="ellipse">
            <a:avLst/>
          </a:prstGeom>
          <a:solidFill>
            <a:srgbClr val="34D3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3CF24C1-F991-1B4B-FE0E-8E3AB42E7A78}"/>
              </a:ext>
            </a:extLst>
          </p:cNvPr>
          <p:cNvSpPr txBox="1"/>
          <p:nvPr/>
        </p:nvSpPr>
        <p:spPr>
          <a:xfrm>
            <a:off x="1234440" y="3401568"/>
            <a:ext cx="4160520" cy="1815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180" b="1">
                <a:solidFill>
                  <a:srgbClr val="E6EDF3"/>
                </a:solidFill>
                <a:latin typeface="Arial" panose="020B0604020202020204" pitchFamily="34" charset="0"/>
              </a:rPr>
              <a:t>Dense embeddings tested, then kept off</a:t>
            </a:r>
            <a:endParaRPr lang="en-IN" sz="1180" b="1">
              <a:solidFill>
                <a:srgbClr val="E6EDF3"/>
              </a:solidFill>
              <a:latin typeface="Arial" panose="020B0604020202020204" pitchFamily="34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51AB0D3-8CA4-3230-8396-8D93CD6ECB37}"/>
              </a:ext>
            </a:extLst>
          </p:cNvPr>
          <p:cNvSpPr txBox="1"/>
          <p:nvPr/>
        </p:nvSpPr>
        <p:spPr>
          <a:xfrm>
            <a:off x="1234440" y="3639312"/>
            <a:ext cx="4224528" cy="2985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70">
                <a:solidFill>
                  <a:srgbClr val="9AA7B4"/>
                </a:solidFill>
                <a:latin typeface="Arial" panose="020B0604020202020204" pitchFamily="34" charset="0"/>
              </a:rPr>
              <a:t>NDCG@10 was flat while runtime and complexity rose, so the simpler ranker won.</a:t>
            </a:r>
            <a:endParaRPr lang="en-IN" sz="970">
              <a:solidFill>
                <a:srgbClr val="9AA7B4"/>
              </a:solidFill>
              <a:latin typeface="Arial" panose="020B0604020202020204" pitchFamily="34" charset="0"/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A6F9E95D-C63D-FC46-63E6-3C72E8A8BBCA}"/>
              </a:ext>
            </a:extLst>
          </p:cNvPr>
          <p:cNvSpPr/>
          <p:nvPr/>
        </p:nvSpPr>
        <p:spPr>
          <a:xfrm>
            <a:off x="932688" y="4206240"/>
            <a:ext cx="146304" cy="146304"/>
          </a:xfrm>
          <a:prstGeom prst="ellipse">
            <a:avLst/>
          </a:prstGeom>
          <a:solidFill>
            <a:srgbClr val="34D3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980977D-A3C7-654D-95ED-64E182E42EC9}"/>
              </a:ext>
            </a:extLst>
          </p:cNvPr>
          <p:cNvSpPr txBox="1"/>
          <p:nvPr/>
        </p:nvSpPr>
        <p:spPr>
          <a:xfrm>
            <a:off x="1234440" y="4169664"/>
            <a:ext cx="4160520" cy="1815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180" b="1">
                <a:solidFill>
                  <a:srgbClr val="E6EDF3"/>
                </a:solidFill>
                <a:latin typeface="Arial" panose="020B0604020202020204" pitchFamily="34" charset="0"/>
              </a:rPr>
              <a:t>Guardrails are multiplicative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465C445-A809-101B-386B-5A132CB5948C}"/>
              </a:ext>
            </a:extLst>
          </p:cNvPr>
          <p:cNvSpPr txBox="1"/>
          <p:nvPr/>
        </p:nvSpPr>
        <p:spPr>
          <a:xfrm>
            <a:off x="1234440" y="4407408"/>
            <a:ext cx="4224528" cy="2985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70">
                <a:solidFill>
                  <a:srgbClr val="9AA7B4"/>
                </a:solidFill>
                <a:latin typeface="Arial" panose="020B0604020202020204" pitchFamily="34" charset="0"/>
              </a:rPr>
              <a:t>Impossible, off-target, or unreachable profiles cannot buy rank with keywords.</a:t>
            </a:r>
            <a:endParaRPr lang="en-IN" sz="970">
              <a:solidFill>
                <a:srgbClr val="9AA7B4"/>
              </a:solidFill>
              <a:latin typeface="Arial" panose="020B0604020202020204" pitchFamily="34" charset="0"/>
            </a:endParaRP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5566CFCC-B2AE-132E-6A32-85EE8E53E0FC}"/>
              </a:ext>
            </a:extLst>
          </p:cNvPr>
          <p:cNvSpPr/>
          <p:nvPr/>
        </p:nvSpPr>
        <p:spPr>
          <a:xfrm>
            <a:off x="932688" y="4974336"/>
            <a:ext cx="146304" cy="146304"/>
          </a:xfrm>
          <a:prstGeom prst="ellipse">
            <a:avLst/>
          </a:prstGeom>
          <a:solidFill>
            <a:srgbClr val="34D3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9652D21-839F-758D-6273-08AE6899099B}"/>
              </a:ext>
            </a:extLst>
          </p:cNvPr>
          <p:cNvSpPr txBox="1"/>
          <p:nvPr/>
        </p:nvSpPr>
        <p:spPr>
          <a:xfrm>
            <a:off x="1234440" y="4937760"/>
            <a:ext cx="4160520" cy="1815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180" b="1">
                <a:solidFill>
                  <a:srgbClr val="E6EDF3"/>
                </a:solidFill>
                <a:latin typeface="Arial" panose="020B0604020202020204" pitchFamily="34" charset="0"/>
              </a:rPr>
              <a:t>Deterministic reasoning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92C095F-02DB-60A3-F6BF-11A1992E2BDC}"/>
              </a:ext>
            </a:extLst>
          </p:cNvPr>
          <p:cNvSpPr txBox="1"/>
          <p:nvPr/>
        </p:nvSpPr>
        <p:spPr>
          <a:xfrm>
            <a:off x="1234440" y="5175504"/>
            <a:ext cx="4224528" cy="1492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70">
                <a:solidFill>
                  <a:srgbClr val="9AA7B4"/>
                </a:solidFill>
                <a:latin typeface="Arial" panose="020B0604020202020204" pitchFamily="34" charset="0"/>
              </a:rPr>
              <a:t>Same input gives the same CSV; every sentence points to real profile facts.</a:t>
            </a:r>
            <a:endParaRPr lang="en-IN" sz="970">
              <a:solidFill>
                <a:srgbClr val="9AA7B4"/>
              </a:solidFill>
              <a:latin typeface="Arial" panose="020B0604020202020204" pitchFamily="34" charset="0"/>
            </a:endParaRP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9425DBE5-6E1C-F454-DF69-C0DE1628AB39}"/>
              </a:ext>
            </a:extLst>
          </p:cNvPr>
          <p:cNvSpPr/>
          <p:nvPr/>
        </p:nvSpPr>
        <p:spPr>
          <a:xfrm>
            <a:off x="6327648" y="1874520"/>
            <a:ext cx="5221224" cy="4069080"/>
          </a:xfrm>
          <a:prstGeom prst="roundRect">
            <a:avLst>
              <a:gd name="adj" fmla="val 3500"/>
            </a:avLst>
          </a:prstGeom>
          <a:solidFill>
            <a:srgbClr val="1B2330"/>
          </a:solidFill>
          <a:ln w="12700">
            <a:solidFill>
              <a:srgbClr val="2A33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402E204-3320-E613-E7A3-C3422B452F16}"/>
              </a:ext>
            </a:extLst>
          </p:cNvPr>
          <p:cNvSpPr txBox="1"/>
          <p:nvPr/>
        </p:nvSpPr>
        <p:spPr>
          <a:xfrm>
            <a:off x="6620256" y="2103120"/>
            <a:ext cx="283464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500" b="1">
                <a:solidFill>
                  <a:srgbClr val="F2B544"/>
                </a:solidFill>
                <a:latin typeface="Arial" panose="020B0604020202020204" pitchFamily="34" charset="0"/>
              </a:rPr>
              <a:t>Next hardening moves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EA2188D7-A674-11A2-BC24-7C5599F69278}"/>
              </a:ext>
            </a:extLst>
          </p:cNvPr>
          <p:cNvSpPr/>
          <p:nvPr/>
        </p:nvSpPr>
        <p:spPr>
          <a:xfrm>
            <a:off x="10168128" y="2121408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1B2330"/>
          </a:solidFill>
          <a:ln w="12700" cap="flat" cmpd="sng" algn="ctr">
            <a:solidFill>
              <a:srgbClr val="F2B544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FB3AF8D-AC8D-AF5C-CC28-827BAF66CDCF}"/>
              </a:ext>
            </a:extLst>
          </p:cNvPr>
          <p:cNvSpPr txBox="1"/>
          <p:nvPr/>
        </p:nvSpPr>
        <p:spPr>
          <a:xfrm>
            <a:off x="10241280" y="2153412"/>
            <a:ext cx="859536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IN" sz="850" b="1">
                <a:solidFill>
                  <a:srgbClr val="E6EDF3"/>
                </a:solidFill>
                <a:latin typeface="Arial" panose="020B0604020202020204" pitchFamily="34" charset="0"/>
              </a:rPr>
              <a:t>honest roadmap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8C9C10B7-5A12-EDD2-C55F-FBFBC7FC0A26}"/>
              </a:ext>
            </a:extLst>
          </p:cNvPr>
          <p:cNvSpPr/>
          <p:nvPr/>
        </p:nvSpPr>
        <p:spPr>
          <a:xfrm>
            <a:off x="6620256" y="2670048"/>
            <a:ext cx="146305" cy="146304"/>
          </a:xfrm>
          <a:prstGeom prst="ellipse">
            <a:avLst/>
          </a:prstGeom>
          <a:solidFill>
            <a:srgbClr val="F2B5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BCCC323-0FD6-74B1-9D75-C5081038251E}"/>
              </a:ext>
            </a:extLst>
          </p:cNvPr>
          <p:cNvSpPr txBox="1"/>
          <p:nvPr/>
        </p:nvSpPr>
        <p:spPr>
          <a:xfrm>
            <a:off x="6922008" y="2633472"/>
            <a:ext cx="3977640" cy="1815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180" b="1">
                <a:solidFill>
                  <a:srgbClr val="E6EDF3"/>
                </a:solidFill>
                <a:latin typeface="Arial" panose="020B0604020202020204" pitchFamily="34" charset="0"/>
              </a:rPr>
              <a:t>Hidden ground truth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3450987-E5E3-55D7-DAD0-B890DBEDF3D5}"/>
              </a:ext>
            </a:extLst>
          </p:cNvPr>
          <p:cNvSpPr txBox="1"/>
          <p:nvPr/>
        </p:nvSpPr>
        <p:spPr>
          <a:xfrm>
            <a:off x="6922008" y="2871216"/>
            <a:ext cx="4069080" cy="2985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70">
                <a:solidFill>
                  <a:srgbClr val="9AA7B4"/>
                </a:solidFill>
                <a:latin typeface="Arial" panose="020B0604020202020204" pitchFamily="34" charset="0"/>
              </a:rPr>
              <a:t>The official leaderboard is unseen, so proxy eval is evidence - not a score claim.</a:t>
            </a:r>
            <a:endParaRPr lang="en-IN" sz="970">
              <a:solidFill>
                <a:srgbClr val="9AA7B4"/>
              </a:solidFill>
              <a:latin typeface="Arial" panose="020B0604020202020204" pitchFamily="34" charset="0"/>
            </a:endParaRP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ACFA018F-70B3-3FC7-8CA0-2630C810BFD7}"/>
              </a:ext>
            </a:extLst>
          </p:cNvPr>
          <p:cNvSpPr/>
          <p:nvPr/>
        </p:nvSpPr>
        <p:spPr>
          <a:xfrm>
            <a:off x="6620256" y="3438144"/>
            <a:ext cx="146305" cy="146304"/>
          </a:xfrm>
          <a:prstGeom prst="ellipse">
            <a:avLst/>
          </a:prstGeom>
          <a:solidFill>
            <a:srgbClr val="F2B5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B67AD5C-6325-897F-5918-03809559024E}"/>
              </a:ext>
            </a:extLst>
          </p:cNvPr>
          <p:cNvSpPr txBox="1"/>
          <p:nvPr/>
        </p:nvSpPr>
        <p:spPr>
          <a:xfrm>
            <a:off x="6922008" y="3401568"/>
            <a:ext cx="3977640" cy="1815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180" b="1">
                <a:solidFill>
                  <a:srgbClr val="E6EDF3"/>
                </a:solidFill>
                <a:latin typeface="Arial" panose="020B0604020202020204" pitchFamily="34" charset="0"/>
              </a:rPr>
              <a:t>Conservative hard-trap recall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5CA9012-83C7-78FB-450B-5197DF33BFA9}"/>
              </a:ext>
            </a:extLst>
          </p:cNvPr>
          <p:cNvSpPr txBox="1"/>
          <p:nvPr/>
        </p:nvSpPr>
        <p:spPr>
          <a:xfrm>
            <a:off x="6922008" y="3639312"/>
            <a:ext cx="4069080" cy="2985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70">
                <a:solidFill>
                  <a:srgbClr val="9AA7B4"/>
                </a:solidFill>
                <a:latin typeface="Arial" panose="020B0604020202020204" pitchFamily="34" charset="0"/>
              </a:rPr>
              <a:t>53 hard traps are blocked; softer suspicious profiles are down-weighted, not over-zeroed.</a:t>
            </a:r>
            <a:endParaRPr lang="en-IN" sz="970">
              <a:solidFill>
                <a:srgbClr val="9AA7B4"/>
              </a:solidFill>
              <a:latin typeface="Arial" panose="020B0604020202020204" pitchFamily="34" charset="0"/>
            </a:endParaRP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4D2DCEE6-4F93-0777-F568-EE8CC4494EB7}"/>
              </a:ext>
            </a:extLst>
          </p:cNvPr>
          <p:cNvSpPr/>
          <p:nvPr/>
        </p:nvSpPr>
        <p:spPr>
          <a:xfrm>
            <a:off x="6620256" y="4206240"/>
            <a:ext cx="146305" cy="146304"/>
          </a:xfrm>
          <a:prstGeom prst="ellipse">
            <a:avLst/>
          </a:prstGeom>
          <a:solidFill>
            <a:srgbClr val="F2B5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72A7CE0-AD36-A8A0-95BC-81D017C6E757}"/>
              </a:ext>
            </a:extLst>
          </p:cNvPr>
          <p:cNvSpPr txBox="1"/>
          <p:nvPr/>
        </p:nvSpPr>
        <p:spPr>
          <a:xfrm>
            <a:off x="6922008" y="4169664"/>
            <a:ext cx="3977640" cy="1815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180" b="1">
                <a:solidFill>
                  <a:srgbClr val="E6EDF3"/>
                </a:solidFill>
                <a:latin typeface="Arial" panose="020B0604020202020204" pitchFamily="34" charset="0"/>
              </a:rPr>
              <a:t>Learned ranking layer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3BDCBC8-26CB-3637-B4F1-B93E0DA85C62}"/>
              </a:ext>
            </a:extLst>
          </p:cNvPr>
          <p:cNvSpPr txBox="1"/>
          <p:nvPr/>
        </p:nvSpPr>
        <p:spPr>
          <a:xfrm>
            <a:off x="6922008" y="4407408"/>
            <a:ext cx="4069080" cy="2985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70">
                <a:solidFill>
                  <a:srgbClr val="9AA7B4"/>
                </a:solidFill>
                <a:latin typeface="Arial" panose="020B0604020202020204" pitchFamily="34" charset="0"/>
              </a:rPr>
              <a:t>Future labels could train LambdaMART/XGBoost over these same features.</a:t>
            </a:r>
            <a:endParaRPr lang="en-IN" sz="970">
              <a:solidFill>
                <a:srgbClr val="9AA7B4"/>
              </a:solidFill>
              <a:latin typeface="Arial" panose="020B0604020202020204" pitchFamily="34" charset="0"/>
            </a:endParaRP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DE643930-814C-A471-7958-9543710F14CF}"/>
              </a:ext>
            </a:extLst>
          </p:cNvPr>
          <p:cNvSpPr/>
          <p:nvPr/>
        </p:nvSpPr>
        <p:spPr>
          <a:xfrm>
            <a:off x="6620256" y="4974336"/>
            <a:ext cx="146305" cy="146304"/>
          </a:xfrm>
          <a:prstGeom prst="ellipse">
            <a:avLst/>
          </a:prstGeom>
          <a:solidFill>
            <a:srgbClr val="F2B54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25B9317-2BAC-3C5A-192F-941B13C5A173}"/>
              </a:ext>
            </a:extLst>
          </p:cNvPr>
          <p:cNvSpPr txBox="1"/>
          <p:nvPr/>
        </p:nvSpPr>
        <p:spPr>
          <a:xfrm>
            <a:off x="6922008" y="4937760"/>
            <a:ext cx="3977640" cy="1815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1180" b="1">
                <a:solidFill>
                  <a:srgbClr val="E6EDF3"/>
                </a:solidFill>
                <a:latin typeface="Arial" panose="020B0604020202020204" pitchFamily="34" charset="0"/>
              </a:rPr>
              <a:t>Stage-3 fallback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8828866-18CD-81AE-4355-588C89B9E6E5}"/>
              </a:ext>
            </a:extLst>
          </p:cNvPr>
          <p:cNvSpPr txBox="1"/>
          <p:nvPr/>
        </p:nvSpPr>
        <p:spPr>
          <a:xfrm>
            <a:off x="6922008" y="5175504"/>
            <a:ext cx="4069080" cy="2985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70">
                <a:solidFill>
                  <a:srgbClr val="9AA7B4"/>
                </a:solidFill>
                <a:latin typeface="Arial" panose="020B0604020202020204" pitchFamily="34" charset="0"/>
              </a:rPr>
              <a:t>If multiprocessing is constrained, --workers 1 preserves the exact same ranking output.</a:t>
            </a:r>
            <a:endParaRPr lang="en-IN" sz="970">
              <a:solidFill>
                <a:srgbClr val="9AA7B4"/>
              </a:solidFill>
              <a:latin typeface="Arial" panose="020B0604020202020204" pitchFamily="34" charset="0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D4244A4-91F0-1D7E-70B3-924D9921A5B3}"/>
              </a:ext>
            </a:extLst>
          </p:cNvPr>
          <p:cNvSpPr txBox="1"/>
          <p:nvPr/>
        </p:nvSpPr>
        <p:spPr>
          <a:xfrm>
            <a:off x="10881360" y="6473952"/>
            <a:ext cx="914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IN" sz="900">
                <a:solidFill>
                  <a:srgbClr val="6E7C8C"/>
                </a:solidFill>
                <a:latin typeface="Arial" panose="020B0604020202020204" pitchFamily="34" charset="0"/>
              </a:rPr>
              <a:t>10 / 13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6E0AFF0-E97A-F8A4-E153-3C6C28B07756}"/>
              </a:ext>
            </a:extLst>
          </p:cNvPr>
          <p:cNvSpPr txBox="1"/>
          <p:nvPr/>
        </p:nvSpPr>
        <p:spPr>
          <a:xfrm>
            <a:off x="640080" y="6473952"/>
            <a:ext cx="27432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IN" sz="900" b="1">
                <a:solidFill>
                  <a:srgbClr val="6E7C8C"/>
                </a:solidFill>
                <a:latin typeface="Arial" panose="020B0604020202020204" pitchFamily="34" charset="0"/>
              </a:rPr>
              <a:t>HIREFIT RANKER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300" dirty="0">
                <a:solidFill>
                  <a:srgbClr val="8B7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REPRODUCIBILITY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2600" b="1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command reproduces the shortlist — offline, well under the five-minute limit.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335024"/>
            <a:ext cx="109115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the Stage-3 sandbox: it runs unmodified inside the challenge’s compute box.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10911535" cy="868680"/>
          </a:xfrm>
          <a:prstGeom prst="roundRect">
            <a:avLst>
              <a:gd name="adj" fmla="val 12632"/>
            </a:avLst>
          </a:prstGeom>
          <a:solidFill>
            <a:srgbClr val="0A0D11"/>
          </a:solidFill>
          <a:ln w="12700">
            <a:solidFill>
              <a:srgbClr val="2A3340"/>
            </a:solidFill>
            <a:prstDash val="solid"/>
          </a:ln>
          <a:effectLst>
            <a:outerShdw blurRad="1143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212848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920240"/>
            <a:ext cx="999713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rank.py --candidates ./candidates.jsonl --out ./submission.csv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0080" y="3108960"/>
            <a:ext cx="20295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E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2669626" y="3108960"/>
            <a:ext cx="24354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E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 LIMIT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105080" y="3108960"/>
            <a:ext cx="230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E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40080" y="3675888"/>
            <a:ext cx="6765152" cy="475488"/>
          </a:xfrm>
          <a:prstGeom prst="roundRect">
            <a:avLst>
              <a:gd name="adj" fmla="val 23077"/>
            </a:avLst>
          </a:prstGeom>
          <a:solidFill>
            <a:srgbClr val="161C24"/>
          </a:solidFill>
          <a:ln w="12700">
            <a:solidFill>
              <a:srgbClr val="2A3340"/>
            </a:solidFill>
            <a:prstDash val="solid"/>
          </a:ln>
          <a:effectLst>
            <a:outerShdw blurRad="1143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822960" y="3675888"/>
            <a:ext cx="184666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2852506" y="3675888"/>
            <a:ext cx="2252575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≤ 5 min (300s)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5287960" y="3675888"/>
            <a:ext cx="21172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80–125 s</a:t>
            </a:r>
            <a:endParaRPr lang="en-US" sz="125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1184" y="3803904"/>
            <a:ext cx="219456" cy="219456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40080" y="4242816"/>
            <a:ext cx="6765152" cy="475488"/>
          </a:xfrm>
          <a:prstGeom prst="roundRect">
            <a:avLst>
              <a:gd name="adj" fmla="val 23077"/>
            </a:avLst>
          </a:prstGeom>
          <a:solidFill>
            <a:srgbClr val="1B2330"/>
          </a:solidFill>
          <a:ln w="12700">
            <a:solidFill>
              <a:srgbClr val="2A3340"/>
            </a:solidFill>
            <a:prstDash val="solid"/>
          </a:ln>
          <a:effectLst>
            <a:outerShdw blurRad="1143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17" name="Text 13"/>
          <p:cNvSpPr/>
          <p:nvPr/>
        </p:nvSpPr>
        <p:spPr>
          <a:xfrm>
            <a:off x="822960" y="4242816"/>
            <a:ext cx="184666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2852506" y="4242816"/>
            <a:ext cx="2252575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≤ 16 GB RAM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5287960" y="4242816"/>
            <a:ext cx="21172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~6.1 GB peak</a:t>
            </a:r>
            <a:endParaRPr lang="en-US" sz="125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1184" y="4370832"/>
            <a:ext cx="219456" cy="219456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640080" y="4809744"/>
            <a:ext cx="6765152" cy="475488"/>
          </a:xfrm>
          <a:prstGeom prst="roundRect">
            <a:avLst>
              <a:gd name="adj" fmla="val 23077"/>
            </a:avLst>
          </a:prstGeom>
          <a:solidFill>
            <a:srgbClr val="161C24"/>
          </a:solidFill>
          <a:ln w="12700">
            <a:solidFill>
              <a:srgbClr val="2A3340"/>
            </a:solidFill>
            <a:prstDash val="solid"/>
          </a:ln>
          <a:effectLst>
            <a:outerShdw blurRad="1143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22" name="Text 17"/>
          <p:cNvSpPr/>
          <p:nvPr/>
        </p:nvSpPr>
        <p:spPr>
          <a:xfrm>
            <a:off x="822960" y="4809744"/>
            <a:ext cx="184666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2852506" y="4809744"/>
            <a:ext cx="2252575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only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5287960" y="4809744"/>
            <a:ext cx="21172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only</a:t>
            </a:r>
            <a:endParaRPr lang="en-US" sz="1250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1184" y="4937760"/>
            <a:ext cx="219456" cy="219456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640080" y="5376672"/>
            <a:ext cx="6765152" cy="475488"/>
          </a:xfrm>
          <a:prstGeom prst="roundRect">
            <a:avLst>
              <a:gd name="adj" fmla="val 23077"/>
            </a:avLst>
          </a:prstGeom>
          <a:solidFill>
            <a:srgbClr val="1B2330"/>
          </a:solidFill>
          <a:ln w="12700">
            <a:solidFill>
              <a:srgbClr val="2A3340"/>
            </a:solidFill>
            <a:prstDash val="solid"/>
          </a:ln>
          <a:effectLst>
            <a:outerShdw blurRad="1143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27" name="Text 21"/>
          <p:cNvSpPr/>
          <p:nvPr/>
        </p:nvSpPr>
        <p:spPr>
          <a:xfrm>
            <a:off x="822960" y="5376672"/>
            <a:ext cx="184666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</a:t>
            </a:r>
            <a:endParaRPr lang="en-US" sz="1250" dirty="0"/>
          </a:p>
        </p:txBody>
      </p:sp>
      <p:sp>
        <p:nvSpPr>
          <p:cNvPr id="28" name="Text 22"/>
          <p:cNvSpPr/>
          <p:nvPr/>
        </p:nvSpPr>
        <p:spPr>
          <a:xfrm>
            <a:off x="2852506" y="5376672"/>
            <a:ext cx="2252575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 during ranking</a:t>
            </a:r>
            <a:endParaRPr lang="en-US" sz="1250" dirty="0"/>
          </a:p>
        </p:txBody>
      </p:sp>
      <p:sp>
        <p:nvSpPr>
          <p:cNvPr id="29" name="Text 23"/>
          <p:cNvSpPr/>
          <p:nvPr/>
        </p:nvSpPr>
        <p:spPr>
          <a:xfrm>
            <a:off x="5287960" y="5376672"/>
            <a:ext cx="21172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offline</a:t>
            </a:r>
            <a:endParaRPr lang="en-US" sz="1250" dirty="0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1184" y="5504688"/>
            <a:ext cx="219456" cy="219456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7770992" y="3108960"/>
            <a:ext cx="3780623" cy="2724912"/>
          </a:xfrm>
          <a:prstGeom prst="roundRect">
            <a:avLst>
              <a:gd name="adj" fmla="val 4027"/>
            </a:avLst>
          </a:prstGeom>
          <a:solidFill>
            <a:srgbClr val="161C24"/>
          </a:solidFill>
          <a:ln w="12700">
            <a:solidFill>
              <a:srgbClr val="2A3340"/>
            </a:solidFill>
            <a:prstDash val="solid"/>
          </a:ln>
          <a:effectLst>
            <a:outerShdw blurRad="1143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32" name="Shape 25"/>
          <p:cNvSpPr/>
          <p:nvPr/>
        </p:nvSpPr>
        <p:spPr>
          <a:xfrm>
            <a:off x="8045312" y="3337560"/>
            <a:ext cx="420624" cy="420624"/>
          </a:xfrm>
          <a:prstGeom prst="roundRect">
            <a:avLst>
              <a:gd name="adj" fmla="val 15217"/>
            </a:avLst>
          </a:prstGeom>
          <a:solidFill>
            <a:srgbClr val="8B7CF6">
              <a:alpha val="18000"/>
            </a:srgbClr>
          </a:solidFill>
          <a:ln w="12700">
            <a:solidFill>
              <a:srgbClr val="8B7CF6">
                <a:alpha val="45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7849" y="3430097"/>
            <a:ext cx="235549" cy="235549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8575664" y="3337560"/>
            <a:ext cx="2866223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Submission package</a:t>
            </a:r>
            <a:endParaRPr lang="en-US" sz="1500" dirty="0"/>
          </a:p>
        </p:txBody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3600" y="3904488"/>
            <a:ext cx="201168" cy="201168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8374496" y="3840480"/>
            <a:ext cx="2957663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repo — clean, tested, reproducible</a:t>
            </a:r>
            <a:endParaRPr lang="en-US" sz="1150" dirty="0"/>
          </a:p>
        </p:txBody>
      </p:sp>
      <p:pic>
        <p:nvPicPr>
          <p:cNvPr id="37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3600" y="4288536"/>
            <a:ext cx="201168" cy="201168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8374496" y="4224528"/>
            <a:ext cx="2957663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submission.csv — top-100 + grounded reasoning</a:t>
            </a:r>
            <a:endParaRPr lang="en-US" sz="1150" dirty="0"/>
          </a:p>
        </p:txBody>
      </p:sp>
      <p:pic>
        <p:nvPicPr>
          <p:cNvPr id="39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3600" y="4672584"/>
            <a:ext cx="201168" cy="201168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8374496" y="4608576"/>
            <a:ext cx="2957663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METHODOLOGY.md — every choice, with the why</a:t>
            </a:r>
            <a:endParaRPr lang="en-US" sz="1150" dirty="0"/>
          </a:p>
        </p:txBody>
      </p:sp>
      <p:pic>
        <p:nvPicPr>
          <p:cNvPr id="41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3600" y="5056632"/>
            <a:ext cx="201168" cy="201168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8374496" y="4992624"/>
            <a:ext cx="2957663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sandbox — HuggingFace Space</a:t>
            </a:r>
            <a:endParaRPr lang="en-US" sz="1150" dirty="0"/>
          </a:p>
        </p:txBody>
      </p:sp>
      <p:pic>
        <p:nvPicPr>
          <p:cNvPr id="43" name="Image 1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3600" y="5440680"/>
            <a:ext cx="201168" cy="201168"/>
          </a:xfrm>
          <a:prstGeom prst="rect">
            <a:avLst/>
          </a:prstGeom>
        </p:spPr>
      </p:pic>
      <p:sp>
        <p:nvSpPr>
          <p:cNvPr id="44" name="Text 31"/>
          <p:cNvSpPr/>
          <p:nvPr/>
        </p:nvSpPr>
        <p:spPr>
          <a:xfrm>
            <a:off x="8374496" y="5376672"/>
            <a:ext cx="2957663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eval evidence committed (249 labels)</a:t>
            </a:r>
            <a:endParaRPr lang="en-US" sz="1150" dirty="0"/>
          </a:p>
        </p:txBody>
      </p:sp>
      <p:sp>
        <p:nvSpPr>
          <p:cNvPr id="45" name="Text 32"/>
          <p:cNvSpPr/>
          <p:nvPr/>
        </p:nvSpPr>
        <p:spPr>
          <a:xfrm>
            <a:off x="10911535" y="647395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E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13</a:t>
            </a:r>
            <a:endParaRPr lang="en-US" sz="900" dirty="0"/>
          </a:p>
        </p:txBody>
      </p:sp>
      <p:sp>
        <p:nvSpPr>
          <p:cNvPr id="46" name="Text 33"/>
          <p:cNvSpPr/>
          <p:nvPr/>
        </p:nvSpPr>
        <p:spPr>
          <a:xfrm>
            <a:off x="640080" y="647395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E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HIREFIT RANKER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300" dirty="0">
                <a:solidFill>
                  <a:srgbClr val="8B7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INSIDE REDROB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1153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drop-in scoring layer for Redrob's hiring stack — auditable by design.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335024"/>
            <a:ext cx="109115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Ranks talent on behavior and evidence, not resumes — the same thesis as the platform it would join.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2522144" cy="1097280"/>
          </a:xfrm>
          <a:prstGeom prst="roundRect">
            <a:avLst>
              <a:gd name="adj" fmla="val 10000"/>
            </a:avLst>
          </a:prstGeom>
          <a:solidFill>
            <a:srgbClr val="161C24"/>
          </a:solidFill>
          <a:ln w="12700">
            <a:solidFill>
              <a:srgbClr val="2A3340"/>
            </a:solidFill>
            <a:prstDash val="solid"/>
          </a:ln>
          <a:effectLst>
            <a:outerShdw blurRad="1143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1993392"/>
            <a:ext cx="25221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 ms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40080" y="2578608"/>
            <a:ext cx="2522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API, MEASURED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36544" y="1874520"/>
            <a:ext cx="2522144" cy="1097280"/>
          </a:xfrm>
          <a:prstGeom prst="roundRect">
            <a:avLst>
              <a:gd name="adj" fmla="val 10000"/>
            </a:avLst>
          </a:prstGeom>
          <a:solidFill>
            <a:srgbClr val="161C24"/>
          </a:solidFill>
          <a:ln w="12700">
            <a:solidFill>
              <a:srgbClr val="2A3340"/>
            </a:solidFill>
            <a:prstDash val="solid"/>
          </a:ln>
          <a:effectLst>
            <a:outerShdw blurRad="1143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436544" y="1993392"/>
            <a:ext cx="25221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cmd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436544" y="2578608"/>
            <a:ext cx="2522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REPRODUCTION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33008" y="1874520"/>
            <a:ext cx="2522144" cy="1097280"/>
          </a:xfrm>
          <a:prstGeom prst="roundRect">
            <a:avLst>
              <a:gd name="adj" fmla="val 10000"/>
            </a:avLst>
          </a:prstGeom>
          <a:solidFill>
            <a:srgbClr val="161C24"/>
          </a:solidFill>
          <a:ln w="12700">
            <a:solidFill>
              <a:srgbClr val="2A3340"/>
            </a:solidFill>
            <a:prstDash val="solid"/>
          </a:ln>
          <a:effectLst>
            <a:outerShdw blurRad="1143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233008" y="1993392"/>
            <a:ext cx="25221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6233008" y="2578608"/>
            <a:ext cx="2522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CALLS PER RANKED CANDIDATE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029471" y="1874520"/>
            <a:ext cx="2522144" cy="1097280"/>
          </a:xfrm>
          <a:prstGeom prst="roundRect">
            <a:avLst>
              <a:gd name="adj" fmla="val 10000"/>
            </a:avLst>
          </a:prstGeom>
          <a:solidFill>
            <a:srgbClr val="161C24"/>
          </a:solidFill>
          <a:ln w="12700">
            <a:solidFill>
              <a:srgbClr val="2A3340"/>
            </a:solidFill>
            <a:prstDash val="solid"/>
          </a:ln>
          <a:effectLst>
            <a:outerShdw blurRad="1143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29471" y="1993392"/>
            <a:ext cx="25221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9029471" y="2578608"/>
            <a:ext cx="25221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AA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 FEATURES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3200400"/>
            <a:ext cx="5272888" cy="1874520"/>
          </a:xfrm>
          <a:prstGeom prst="roundRect">
            <a:avLst>
              <a:gd name="adj" fmla="val 5854"/>
            </a:avLst>
          </a:prstGeom>
          <a:solidFill>
            <a:srgbClr val="161C24"/>
          </a:solidFill>
          <a:ln w="12700">
            <a:solidFill>
              <a:srgbClr val="2A3340"/>
            </a:solidFill>
            <a:prstDash val="solid"/>
          </a:ln>
          <a:effectLst>
            <a:outerShdw blurRad="1143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914400" y="3429000"/>
            <a:ext cx="420624" cy="420624"/>
          </a:xfrm>
          <a:prstGeom prst="roundRect">
            <a:avLst>
              <a:gd name="adj" fmla="val 15217"/>
            </a:avLst>
          </a:prstGeom>
          <a:solidFill>
            <a:srgbClr val="F2B544">
              <a:alpha val="18000"/>
            </a:srgbClr>
          </a:solidFill>
          <a:ln w="12700">
            <a:solidFill>
              <a:srgbClr val="F2B544">
                <a:alpha val="45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937" y="3521537"/>
            <a:ext cx="235549" cy="235549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444752" y="3429000"/>
            <a:ext cx="43584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path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932688" y="3931920"/>
            <a:ext cx="47242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JD compiler   any role text compiles into the same deterministic scoring program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932688" y="4315968"/>
            <a:ext cx="47242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payload   per-candidate JSON: features, multipliers, flags — recruiter-readable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932688" y="4700016"/>
            <a:ext cx="47242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Signals   behavioral multipliers consume Redrob activity data natively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278728" y="3200400"/>
            <a:ext cx="5272888" cy="1874520"/>
          </a:xfrm>
          <a:prstGeom prst="roundRect">
            <a:avLst>
              <a:gd name="adj" fmla="val 5854"/>
            </a:avLst>
          </a:prstGeom>
          <a:solidFill>
            <a:srgbClr val="1B2330"/>
          </a:solidFill>
          <a:ln w="12700">
            <a:solidFill>
              <a:srgbClr val="2A3340"/>
            </a:solidFill>
            <a:prstDash val="solid"/>
          </a:ln>
          <a:effectLst>
            <a:outerShdw blurRad="1143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6553048" y="3429000"/>
            <a:ext cx="420624" cy="420624"/>
          </a:xfrm>
          <a:prstGeom prst="roundRect">
            <a:avLst>
              <a:gd name="adj" fmla="val 15217"/>
            </a:avLst>
          </a:prstGeom>
          <a:solidFill>
            <a:srgbClr val="2DD4BF">
              <a:alpha val="18000"/>
            </a:srgbClr>
          </a:solidFill>
          <a:ln w="12700">
            <a:solidFill>
              <a:srgbClr val="2DD4BF">
                <a:alpha val="45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5585" y="3521537"/>
            <a:ext cx="235549" cy="235549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7083400" y="3429000"/>
            <a:ext cx="43584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Roadmap, honestly</a:t>
            </a:r>
            <a:endParaRPr lang="en-US" sz="1500" dirty="0"/>
          </a:p>
        </p:txBody>
      </p:sp>
      <p:sp>
        <p:nvSpPr>
          <p:cNvPr id="28" name="Text 24"/>
          <p:cNvSpPr/>
          <p:nvPr/>
        </p:nvSpPr>
        <p:spPr>
          <a:xfrm>
            <a:off x="6571336" y="3931920"/>
            <a:ext cx="472424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Indic-script normalization is a localized swap (one module) — the architecture is script-agnostic. When real outcome labels exist, LambdaMART can replace the hand weights over the same 28 features without touching the audit trail: the features are the durable asset.</a:t>
            </a:r>
            <a:endParaRPr lang="en-US" sz="1250" dirty="0"/>
          </a:p>
        </p:txBody>
      </p:sp>
      <p:sp>
        <p:nvSpPr>
          <p:cNvPr id="29" name="Shape 25"/>
          <p:cNvSpPr/>
          <p:nvPr/>
        </p:nvSpPr>
        <p:spPr>
          <a:xfrm>
            <a:off x="640080" y="5257800"/>
            <a:ext cx="10911535" cy="658368"/>
          </a:xfrm>
          <a:prstGeom prst="roundRect">
            <a:avLst>
              <a:gd name="adj" fmla="val 16667"/>
            </a:avLst>
          </a:prstGeom>
          <a:solidFill>
            <a:srgbClr val="161C24"/>
          </a:solidFill>
          <a:ln w="12700">
            <a:solidFill>
              <a:srgbClr val="2A3340"/>
            </a:solidFill>
            <a:prstDash val="solid"/>
          </a:ln>
          <a:effectLst>
            <a:outerShdw blurRad="1143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p/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5413248"/>
            <a:ext cx="292608" cy="292608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1325880" y="5257800"/>
            <a:ext cx="990569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2B5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LLMs where they are strong — offline judging and evaluation — and deterministic evidence where hiring decisions need to be defended.</a:t>
            </a:r>
            <a:endParaRPr lang="en-US" sz="1200" dirty="0"/>
          </a:p>
        </p:txBody>
      </p:sp>
      <p:sp>
        <p:nvSpPr>
          <p:cNvPr id="32" name="Text 27"/>
          <p:cNvSpPr/>
          <p:nvPr/>
        </p:nvSpPr>
        <p:spPr>
          <a:xfrm>
            <a:off x="10911535" y="647395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E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13</a:t>
            </a:r>
            <a:endParaRPr lang="en-US" sz="900" dirty="0"/>
          </a:p>
        </p:txBody>
      </p:sp>
      <p:sp>
        <p:nvSpPr>
          <p:cNvPr id="33" name="Text 28"/>
          <p:cNvSpPr/>
          <p:nvPr/>
        </p:nvSpPr>
        <p:spPr>
          <a:xfrm>
            <a:off x="640080" y="647395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E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HIREFIT RANKER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2011680"/>
            <a:ext cx="7315200" cy="7315200"/>
          </a:xfrm>
          <a:prstGeom prst="ellipse">
            <a:avLst/>
          </a:prstGeom>
          <a:solidFill>
            <a:srgbClr val="8B7CF6">
              <a:alpha val="10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2377440" y="-2377440"/>
            <a:ext cx="5943600" cy="5943600"/>
          </a:xfrm>
          <a:prstGeom prst="ellipse">
            <a:avLst/>
          </a:prstGeom>
          <a:solidFill>
            <a:srgbClr val="2DD4BF">
              <a:alpha val="7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13716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8B7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TAKEAWAY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10515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don’t rank resumes.
We rank </a:t>
            </a:r>
            <a:r>
              <a:rPr lang="en-US" sz="4600" b="1" dirty="0">
                <a:solidFill>
                  <a:srgbClr val="2DD4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hireability</a:t>
            </a:r>
            <a:r>
              <a:rPr lang="en-US" sz="46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4600" dirty="0"/>
          </a:p>
        </p:txBody>
      </p:sp>
      <p:sp>
        <p:nvSpPr>
          <p:cNvPr id="6" name="Shape 4"/>
          <p:cNvSpPr/>
          <p:nvPr/>
        </p:nvSpPr>
        <p:spPr>
          <a:xfrm>
            <a:off x="640080" y="3611880"/>
            <a:ext cx="5272888" cy="548640"/>
          </a:xfrm>
          <a:prstGeom prst="roundRect">
            <a:avLst>
              <a:gd name="adj" fmla="val 20000"/>
            </a:avLst>
          </a:prstGeom>
          <a:solidFill>
            <a:srgbClr val="161C24"/>
          </a:solidFill>
          <a:ln w="12700">
            <a:solidFill>
              <a:srgbClr val="2A3340"/>
            </a:solidFill>
            <a:prstDash val="solid"/>
          </a:ln>
          <a:effectLst>
            <a:outerShdw blurRad="1143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p/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767328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3611880"/>
            <a:ext cx="44956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careers &amp; behavior, not buzzwords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78728" y="3611880"/>
            <a:ext cx="5272888" cy="548640"/>
          </a:xfrm>
          <a:prstGeom prst="roundRect">
            <a:avLst>
              <a:gd name="adj" fmla="val 20000"/>
            </a:avLst>
          </a:prstGeom>
          <a:solidFill>
            <a:srgbClr val="161C24"/>
          </a:solidFill>
          <a:ln w="12700">
            <a:solidFill>
              <a:srgbClr val="2A3340"/>
            </a:solidFill>
            <a:prstDash val="solid"/>
          </a:ln>
          <a:effectLst>
            <a:outerShdw blurRad="1143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p/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7328" y="3767328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873088" y="3611880"/>
            <a:ext cx="44956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Blocks honeypots, stuffers &amp; the unavailable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4270248"/>
            <a:ext cx="5272888" cy="548640"/>
          </a:xfrm>
          <a:prstGeom prst="roundRect">
            <a:avLst>
              <a:gd name="adj" fmla="val 20000"/>
            </a:avLst>
          </a:prstGeom>
          <a:solidFill>
            <a:srgbClr val="161C24"/>
          </a:solidFill>
          <a:ln w="12700">
            <a:solidFill>
              <a:srgbClr val="2A3340"/>
            </a:solidFill>
            <a:prstDash val="solid"/>
          </a:ln>
          <a:effectLst>
            <a:outerShdw blurRad="1143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p/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4425696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4270248"/>
            <a:ext cx="44956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rank explained by 28 named features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6278728" y="4270248"/>
            <a:ext cx="5272888" cy="548640"/>
          </a:xfrm>
          <a:prstGeom prst="roundRect">
            <a:avLst>
              <a:gd name="adj" fmla="val 20000"/>
            </a:avLst>
          </a:prstGeom>
          <a:solidFill>
            <a:srgbClr val="161C24"/>
          </a:solidFill>
          <a:ln w="12700">
            <a:solidFill>
              <a:srgbClr val="2A3340"/>
            </a:solidFill>
            <a:prstDash val="solid"/>
          </a:ln>
          <a:effectLst>
            <a:outerShdw blurRad="1143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p/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7328" y="4425696"/>
            <a:ext cx="237744" cy="23774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873088" y="4270248"/>
            <a:ext cx="44956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100K scored offline, on CPU, in 80s on cloud hardware</a:t>
            </a:r>
            <a:endParaRPr lang="en-US" sz="1250" dirty="0"/>
          </a:p>
        </p:txBody>
      </p:sp>
      <p:sp>
        <p:nvSpPr>
          <p:cNvPr id="18" name="Shape 12"/>
          <p:cNvSpPr/>
          <p:nvPr/>
        </p:nvSpPr>
        <p:spPr>
          <a:xfrm>
            <a:off x="640080" y="4928616"/>
            <a:ext cx="5272888" cy="548640"/>
          </a:xfrm>
          <a:prstGeom prst="roundRect">
            <a:avLst>
              <a:gd name="adj" fmla="val 20000"/>
            </a:avLst>
          </a:prstGeom>
          <a:solidFill>
            <a:srgbClr val="161C24"/>
          </a:solidFill>
          <a:ln w="12700">
            <a:solidFill>
              <a:srgbClr val="2A3340"/>
            </a:solidFill>
            <a:prstDash val="solid"/>
          </a:ln>
          <a:effectLst>
            <a:outerShdw blurRad="1143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p/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680" y="5084064"/>
            <a:ext cx="237744" cy="237744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234440" y="4928616"/>
            <a:ext cx="44956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Top-10 verified by an independent judge</a:t>
            </a:r>
            <a:endParaRPr lang="en-US" sz="1250" dirty="0"/>
          </a:p>
        </p:txBody>
      </p:sp>
      <p:sp>
        <p:nvSpPr>
          <p:cNvPr id="21" name="Text 14"/>
          <p:cNvSpPr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HireFit Ranker  ·  Redrob Data &amp; AI Challenge  ·  github.com/bansalbhunesh/redrob-hirefit-ranker</a:t>
            </a:r>
            <a:endParaRPr lang="en-US" sz="11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C0261FE-64F1-5EE0-7AFD-DC46F47EA74A}"/>
              </a:ext>
            </a:extLst>
          </p:cNvPr>
          <p:cNvSpPr txBox="1"/>
          <p:nvPr/>
        </p:nvSpPr>
        <p:spPr>
          <a:xfrm>
            <a:off x="10881360" y="6473952"/>
            <a:ext cx="914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IN" sz="900">
                <a:solidFill>
                  <a:srgbClr val="6E7C8C"/>
                </a:solidFill>
                <a:latin typeface="Arial" panose="020B0604020202020204" pitchFamily="34" charset="0"/>
              </a:rP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1576</Words>
  <Application>Microsoft Office PowerPoint</Application>
  <PresentationFormat>Widescreen</PresentationFormat>
  <Paragraphs>271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HireFit Ranker — Redrob Data &amp; AI Challenge</dc:title>
  <dc:subject>PptxGenJS Presentation</dc:subject>
  <dc:creator>Bhunesh Bansal</dc:creator>
  <cp:lastModifiedBy>bhunesh bansal</cp:lastModifiedBy>
  <cp:revision>6</cp:revision>
  <dcterms:created xsi:type="dcterms:W3CDTF">2026-06-09T15:19:30Z</dcterms:created>
  <dcterms:modified xsi:type="dcterms:W3CDTF">2026-06-09T16:44:05Z</dcterms:modified>
</cp:coreProperties>
</file>