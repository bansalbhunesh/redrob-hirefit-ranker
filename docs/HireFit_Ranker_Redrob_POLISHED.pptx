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f5a20e656f44260" /><Relationship Type="http://schemas.openxmlformats.org/officeDocument/2006/relationships/extended-properties" Target="/docProps/app.xml" Id="Rd68a41e704364fdf" /><Relationship Type="http://schemas.openxmlformats.org/officeDocument/2006/relationships/officeDocument" Target="/ppt/presentation.xml" Id="Rce22d008feaf438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710c1c6ac6648d6"/>
  </p:sldMasterIdLst>
  <p:notesMasterIdLst>
    <p:notesMasterId xmlns:r="http://schemas.openxmlformats.org/officeDocument/2006/relationships" r:id="Rd6550b342a88432c"/>
  </p:notesMasterIdLst>
  <p:sldIdLst>
    <p:sldId xmlns:r="http://schemas.openxmlformats.org/officeDocument/2006/relationships" id="256" r:id="Rcedbd3bd8c9243e1"/>
    <p:sldId xmlns:r="http://schemas.openxmlformats.org/officeDocument/2006/relationships" id="257" r:id="R16783bd5c4f44cca"/>
    <p:sldId xmlns:r="http://schemas.openxmlformats.org/officeDocument/2006/relationships" id="258" r:id="R584c1a2156de4fb5"/>
    <p:sldId xmlns:r="http://schemas.openxmlformats.org/officeDocument/2006/relationships" id="259" r:id="Re93eb0a1d69f4a2f"/>
    <p:sldId xmlns:r="http://schemas.openxmlformats.org/officeDocument/2006/relationships" id="260" r:id="R4707ef539f354802"/>
    <p:sldId xmlns:r="http://schemas.openxmlformats.org/officeDocument/2006/relationships" id="261" r:id="R9fc1f42d857d41d9"/>
    <p:sldId xmlns:r="http://schemas.openxmlformats.org/officeDocument/2006/relationships" id="262" r:id="Rf1300f81950c4128"/>
    <p:sldId xmlns:r="http://schemas.openxmlformats.org/officeDocument/2006/relationships" id="263" r:id="Rd7a82ccb21854f7b"/>
    <p:sldId xmlns:r="http://schemas.openxmlformats.org/officeDocument/2006/relationships" id="264" r:id="R5a911b07d8e040b5"/>
    <p:sldId xmlns:r="http://schemas.openxmlformats.org/officeDocument/2006/relationships" id="265" r:id="R1f2e8a9d78954128"/>
    <p:sldId xmlns:r="http://schemas.openxmlformats.org/officeDocument/2006/relationships" id="266" r:id="Rca9f3b7ffc92498f"/>
    <p:sldId xmlns:r="http://schemas.openxmlformats.org/officeDocument/2006/relationships" id="267" r:id="Raa17a047ddc44f53"/>
    <p:sldId xmlns:r="http://schemas.openxmlformats.org/officeDocument/2006/relationships" id="268" r:id="R8a12917861cc4b8f"/>
    <p:sldId xmlns:r="http://schemas.openxmlformats.org/officeDocument/2006/relationships" id="269" r:id="R5dd872466e574d6a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a4cdf0c00f447c4" /><Relationship Type="http://schemas.openxmlformats.org/officeDocument/2006/relationships/slideMaster" Target="/ppt/slideMasters/slideMaster1.xml" Id="R9710c1c6ac6648d6" /><Relationship Type="http://schemas.openxmlformats.org/officeDocument/2006/relationships/notesMaster" Target="/ppt/notesMasters/notesMaster1.xml" Id="Rd6550b342a88432c" /><Relationship Type="http://schemas.openxmlformats.org/officeDocument/2006/relationships/presProps" Target="/ppt/presProps.xml" Id="Rb335bd9d79934a62" /><Relationship Type="http://schemas.openxmlformats.org/officeDocument/2006/relationships/tableStyles" Target="/ppt/tableStyles.xml" Id="Recbc2c17ba9b42e3" /><Relationship Type="http://schemas.openxmlformats.org/officeDocument/2006/relationships/slide" Target="/ppt/slides/slide1.xml" Id="Rcedbd3bd8c9243e1" /><Relationship Type="http://schemas.openxmlformats.org/officeDocument/2006/relationships/slide" Target="/ppt/slides/slide2.xml" Id="R16783bd5c4f44cca" /><Relationship Type="http://schemas.openxmlformats.org/officeDocument/2006/relationships/slide" Target="/ppt/slides/slide3.xml" Id="R584c1a2156de4fb5" /><Relationship Type="http://schemas.openxmlformats.org/officeDocument/2006/relationships/slide" Target="/ppt/slides/slide4.xml" Id="Re93eb0a1d69f4a2f" /><Relationship Type="http://schemas.openxmlformats.org/officeDocument/2006/relationships/slide" Target="/ppt/slides/slide5.xml" Id="R4707ef539f354802" /><Relationship Type="http://schemas.openxmlformats.org/officeDocument/2006/relationships/slide" Target="/ppt/slides/slide6.xml" Id="R9fc1f42d857d41d9" /><Relationship Type="http://schemas.openxmlformats.org/officeDocument/2006/relationships/slide" Target="/ppt/slides/slide7.xml" Id="Rf1300f81950c4128" /><Relationship Type="http://schemas.openxmlformats.org/officeDocument/2006/relationships/slide" Target="/ppt/slides/slide8.xml" Id="Rd7a82ccb21854f7b" /><Relationship Type="http://schemas.openxmlformats.org/officeDocument/2006/relationships/slide" Target="/ppt/slides/slide9.xml" Id="R5a911b07d8e040b5" /><Relationship Type="http://schemas.openxmlformats.org/officeDocument/2006/relationships/slide" Target="/ppt/slides/slide10.xml" Id="R1f2e8a9d78954128" /><Relationship Type="http://schemas.openxmlformats.org/officeDocument/2006/relationships/slide" Target="/ppt/slides/slide11.xml" Id="Rca9f3b7ffc92498f" /><Relationship Type="http://schemas.openxmlformats.org/officeDocument/2006/relationships/slide" Target="/ppt/slides/slide12.xml" Id="Raa17a047ddc44f53" /><Relationship Type="http://schemas.openxmlformats.org/officeDocument/2006/relationships/slide" Target="/ppt/slides/slide13.xml" Id="R8a12917861cc4b8f" /><Relationship Type="http://schemas.openxmlformats.org/officeDocument/2006/relationships/slide" Target="/ppt/slides/slide14.xml" Id="R5dd872466e574d6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2e72cacfcad404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2458ea182224f45" /><Relationship Type="http://schemas.openxmlformats.org/officeDocument/2006/relationships/notesMaster" Target="/ppt/notesMasters/notesMaster1.xml" Id="Rdfdb79745d28421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3d474f78456414c" /><Relationship Type="http://schemas.openxmlformats.org/officeDocument/2006/relationships/notesMaster" Target="/ppt/notesMasters/notesMaster1.xml" Id="R6c37e3c8c4ff456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5a12bde5890456e" /><Relationship Type="http://schemas.openxmlformats.org/officeDocument/2006/relationships/notesMaster" Target="/ppt/notesMasters/notesMaster1.xml" Id="R094392f9c01b461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b598a461ef14f0f" /><Relationship Type="http://schemas.openxmlformats.org/officeDocument/2006/relationships/notesMaster" Target="/ppt/notesMasters/notesMaster1.xml" Id="R7915cb50972a47d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fa82d926a624b15" /><Relationship Type="http://schemas.openxmlformats.org/officeDocument/2006/relationships/notesMaster" Target="/ppt/notesMasters/notesMaster1.xml" Id="Re9311305206b43c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517953468d44226" /><Relationship Type="http://schemas.openxmlformats.org/officeDocument/2006/relationships/notesMaster" Target="/ppt/notesMasters/notesMaster1.xml" Id="R542468fd41af41e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609097d33804037" /><Relationship Type="http://schemas.openxmlformats.org/officeDocument/2006/relationships/notesMaster" Target="/ppt/notesMasters/notesMaster1.xml" Id="R484d34ac29fe47e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4cbe0df2cd5494f" /><Relationship Type="http://schemas.openxmlformats.org/officeDocument/2006/relationships/notesMaster" Target="/ppt/notesMasters/notesMaster1.xml" Id="Rfb5a97609400419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2f603ae4a9e8423d" /><Relationship Type="http://schemas.openxmlformats.org/officeDocument/2006/relationships/notesMaster" Target="/ppt/notesMasters/notesMaster1.xml" Id="Rfe519d1131c2429d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a420217d84e24c14" /><Relationship Type="http://schemas.openxmlformats.org/officeDocument/2006/relationships/notesMaster" Target="/ppt/notesMasters/notesMaster1.xml" Id="Rb4c0ed62eb1a4ba0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0afb0178f7bc42f7" /><Relationship Type="http://schemas.openxmlformats.org/officeDocument/2006/relationships/notesMaster" Target="/ppt/notesMasters/notesMaster1.xml" Id="R9786ba201835408d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1bacb5eb46214499" /><Relationship Type="http://schemas.openxmlformats.org/officeDocument/2006/relationships/notesMaster" Target="/ppt/notesMasters/notesMaster1.xml" Id="Rb947244274e14896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3296997b1e994410" /><Relationship Type="http://schemas.openxmlformats.org/officeDocument/2006/relationships/notesMaster" Target="/ppt/notesMasters/notesMaster1.xml" Id="Rd569ad408e8d44a8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b76af29799f64f0e" /><Relationship Type="http://schemas.openxmlformats.org/officeDocument/2006/relationships/notesMaster" Target="/ppt/notesMasters/notesMaster1.xml" Id="R02b3021dbd12421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126e9f1a23e417d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440a7732b054746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2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e8a9ebfd5eb4858" /><Relationship Type="http://schemas.openxmlformats.org/officeDocument/2006/relationships/slideLayout" Target="/ppt/slideLayouts/slideLayout1.xml" Id="R06ba1d12edd148e8" /><Relationship Type="http://schemas.openxmlformats.org/officeDocument/2006/relationships/slideLayout" Target="/ppt/slideLayouts/slideLayout2.xml" Id="R81566a1adebc43fa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6ba1d12edd148e8"/>
    <p:sldLayoutId xmlns:r="http://schemas.openxmlformats.org/officeDocument/2006/relationships" id="2147483650" r:id="R81566a1adebc43fa"/>
  </p:sldLayoutIdLst>
  <p:hf sldNum="0" hdr="0" ftr="0" dt="0"/>
  <p:txStyles>
    <p:titleStyle>
      <a:lvl1pPr xmlns:a="http://schemas.openxmlformats.org/drawingml/2006/main" algn="ctr"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>
        <a:spcBef>
          <a:spcPts val="0"/>
        </a:spcBef>
        <a:buChar char="•"/>
        <a:defRPr sz="3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>
        <a:spcBef>
          <a:spcPts val="0"/>
        </a:spcBef>
        <a:buChar char="–"/>
        <a:defRPr sz="2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spcBef>
          <a:spcPts val="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spcBef>
          <a:spcPts val="0"/>
        </a:spcBef>
        <a:buChar char="–"/>
        <a:defRPr sz="20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spcBef>
          <a:spcPts val="0"/>
        </a:spcBef>
        <a:buChar char="»"/>
        <a:defRPr sz="20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spcBef>
          <a:spcPts val="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spcBef>
          <a:spcPts val="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spcBef>
          <a:spcPts val="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spcBef>
          <a:spcPts val="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dd259f3e4c748ed" /><Relationship Type="http://schemas.openxmlformats.org/officeDocument/2006/relationships/image" Target="/ppt/media/image.png" Id="Rdb1de5ea171e4667" /><Relationship Type="http://schemas.openxmlformats.org/officeDocument/2006/relationships/notesSlide" Target="/ppt/notesSlides/notesSlide1.xml" Id="Re24cbb8fe358462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84b9a7616cf453a" /><Relationship Type="http://schemas.openxmlformats.org/officeDocument/2006/relationships/image" Target="/ppt/media/image2.png" Id="Rf7ad44f4bb2c428e" /><Relationship Type="http://schemas.openxmlformats.org/officeDocument/2006/relationships/image" Target="/ppt/media/image3.png" Id="Rfd29686062534d32" /><Relationship Type="http://schemas.openxmlformats.org/officeDocument/2006/relationships/image" Target="/ppt/media/image4.png" Id="Rcd43c9e2ab1a40f7" /><Relationship Type="http://schemas.openxmlformats.org/officeDocument/2006/relationships/image" Target="/ppt/media/image5.png" Id="R29690d64225f425c" /><Relationship Type="http://schemas.openxmlformats.org/officeDocument/2006/relationships/image" Target="/ppt/media/image6.png" Id="R42ebfaf9661b4df5" /><Relationship Type="http://schemas.openxmlformats.org/officeDocument/2006/relationships/notesSlide" Target="/ppt/notesSlides/notesSlide2.xml" Id="Rbb09602e3ca348a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a1594a55e524453" /><Relationship Type="http://schemas.openxmlformats.org/officeDocument/2006/relationships/image" Target="/ppt/media/image2.png" Id="Rc016ce6ed39b465d" /><Relationship Type="http://schemas.openxmlformats.org/officeDocument/2006/relationships/image" Target="/ppt/media/image7.png" Id="Rb45efb3398264897" /><Relationship Type="http://schemas.openxmlformats.org/officeDocument/2006/relationships/image" Target="/ppt/media/image8.png" Id="R75fefb51f7c849ee" /><Relationship Type="http://schemas.openxmlformats.org/officeDocument/2006/relationships/notesSlide" Target="/ppt/notesSlides/notesSlide3.xml" Id="R2e72316be8ad483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d71b0e95574491b" /><Relationship Type="http://schemas.openxmlformats.org/officeDocument/2006/relationships/image" Target="/ppt/media/image9.png" Id="Re73688ad7a964448" /><Relationship Type="http://schemas.openxmlformats.org/officeDocument/2006/relationships/image" Target="/ppt/media/image7.png" Id="R31f5302f759b4ce4" /><Relationship Type="http://schemas.openxmlformats.org/officeDocument/2006/relationships/image" Target="/ppt/media/image10.png" Id="R99da71a3ae324cec" /><Relationship Type="http://schemas.openxmlformats.org/officeDocument/2006/relationships/notesSlide" Target="/ppt/notesSlides/notesSlide4.xml" Id="R34eec29a840644b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af4fa986b9f446f" /><Relationship Type="http://schemas.openxmlformats.org/officeDocument/2006/relationships/image" Target="/ppt/media/image11.png" Id="R6eee3c375f074e10" /><Relationship Type="http://schemas.openxmlformats.org/officeDocument/2006/relationships/notesSlide" Target="/ppt/notesSlides/notesSlide5.xml" Id="R69ad3207db164c5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cd0165e8ade4c8c" /><Relationship Type="http://schemas.openxmlformats.org/officeDocument/2006/relationships/image" Target="/ppt/media/image12.png" Id="R13b5a93e654e4bb5" /><Relationship Type="http://schemas.openxmlformats.org/officeDocument/2006/relationships/image" Target="/ppt/media/image13.png" Id="R52a70efa563c47f5" /><Relationship Type="http://schemas.openxmlformats.org/officeDocument/2006/relationships/image" Target="/ppt/media/image5.png" Id="Re8dec7b2467f4c01" /><Relationship Type="http://schemas.openxmlformats.org/officeDocument/2006/relationships/image" Target="/ppt/media/image14.png" Id="R3cd471aece284464" /><Relationship Type="http://schemas.openxmlformats.org/officeDocument/2006/relationships/image" Target="/ppt/media/image15.png" Id="R9e3ce0653f324161" /><Relationship Type="http://schemas.openxmlformats.org/officeDocument/2006/relationships/image" Target="/ppt/media/image16.png" Id="R12cb2c03060b462d" /><Relationship Type="http://schemas.openxmlformats.org/officeDocument/2006/relationships/notesSlide" Target="/ppt/notesSlides/notesSlide6.xml" Id="R3e86ccd8017b4af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0caab1055c2416d" /><Relationship Type="http://schemas.openxmlformats.org/officeDocument/2006/relationships/notesSlide" Target="/ppt/notesSlides/notesSlide7.xml" Id="Rf9ed250b9f73498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6e45cb6930a4beb" /><Relationship Type="http://schemas.openxmlformats.org/officeDocument/2006/relationships/image" Target="/ppt/media/image2.png" Id="R49865f381fb948c0" /><Relationship Type="http://schemas.openxmlformats.org/officeDocument/2006/relationships/image" Target="/ppt/media/image4.png" Id="R50432924aa0542f0" /><Relationship Type="http://schemas.openxmlformats.org/officeDocument/2006/relationships/image" Target="/ppt/media/image5.png" Id="R01f273678db3411d" /><Relationship Type="http://schemas.openxmlformats.org/officeDocument/2006/relationships/image" Target="/ppt/media/image17.png" Id="Ra9377e8fbf014803" /><Relationship Type="http://schemas.openxmlformats.org/officeDocument/2006/relationships/notesSlide" Target="/ppt/notesSlides/notesSlide8.xml" Id="R553309d66940484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c6c23514ed642c5" /><Relationship Type="http://schemas.openxmlformats.org/officeDocument/2006/relationships/image" Target="/ppt/media/image9.png" Id="R67034d7291fe46d0" /><Relationship Type="http://schemas.openxmlformats.org/officeDocument/2006/relationships/image" Target="/ppt/media/image7.png" Id="R8a14dac314bb4721" /><Relationship Type="http://schemas.openxmlformats.org/officeDocument/2006/relationships/image" Target="/ppt/media/image10.png" Id="Rd5dbfd1a142141fd" /><Relationship Type="http://schemas.openxmlformats.org/officeDocument/2006/relationships/notesSlide" Target="/ppt/notesSlides/notesSlide9.xml" Id="Rd4e94e0027a94105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c9451bef9de4910" /><Relationship Type="http://schemas.openxmlformats.org/officeDocument/2006/relationships/notesSlide" Target="/ppt/notesSlides/notesSlide10.xml" Id="Rccd22b2dfdf04171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34e8bc885244fe0" /><Relationship Type="http://schemas.openxmlformats.org/officeDocument/2006/relationships/image" Target="/ppt/media/image18.png" Id="R2095f778814b4b50" /><Relationship Type="http://schemas.openxmlformats.org/officeDocument/2006/relationships/image" Target="/ppt/media/image7.png" Id="R7c1a690778a044c6" /><Relationship Type="http://schemas.openxmlformats.org/officeDocument/2006/relationships/image" Target="/ppt/media/image19.png" Id="Rdb885ac6a7fb41eb" /><Relationship Type="http://schemas.openxmlformats.org/officeDocument/2006/relationships/image" Target="/ppt/media/image8.png" Id="Ra9785c0a3de64037" /><Relationship Type="http://schemas.openxmlformats.org/officeDocument/2006/relationships/notesSlide" Target="/ppt/notesSlides/notesSlide11.xml" Id="R466a191e46c84db0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5b84f5e9e3a45ad" /><Relationship Type="http://schemas.openxmlformats.org/officeDocument/2006/relationships/image" Target="/ppt/media/image9.png" Id="Rf53c03d11fc74f3d" /><Relationship Type="http://schemas.openxmlformats.org/officeDocument/2006/relationships/image" Target="/ppt/media/image7.png" Id="R82ba7ce170264c85" /><Relationship Type="http://schemas.openxmlformats.org/officeDocument/2006/relationships/image" Target="/ppt/media/image10.png" Id="R65b759cbb95942d2" /><Relationship Type="http://schemas.openxmlformats.org/officeDocument/2006/relationships/notesSlide" Target="/ppt/notesSlides/notesSlide12.xml" Id="R0f317f7a19fb4e50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2c2d7fe617449fa" /><Relationship Type="http://schemas.openxmlformats.org/officeDocument/2006/relationships/image" Target="/ppt/media/image7.png" Id="R2460d34c72ed4884" /><Relationship Type="http://schemas.openxmlformats.org/officeDocument/2006/relationships/image" Target="/ppt/media/image16.png" Id="Rdf8159cc54e3401f" /><Relationship Type="http://schemas.openxmlformats.org/officeDocument/2006/relationships/image" Target="/ppt/media/image17.png" Id="R92940fff40f8444a" /><Relationship Type="http://schemas.openxmlformats.org/officeDocument/2006/relationships/image" Target="/ppt/media/image20.png" Id="R5ee52c8aa8504975" /><Relationship Type="http://schemas.openxmlformats.org/officeDocument/2006/relationships/image" Target="/ppt/media/image21.png" Id="Rb2749c2c4e7f430b" /><Relationship Type="http://schemas.openxmlformats.org/officeDocument/2006/relationships/notesSlide" Target="/ppt/notesSlides/notesSlide13.xml" Id="R78a28677272a445d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0f3f6997364b49" /><Relationship Type="http://schemas.openxmlformats.org/officeDocument/2006/relationships/image" Target="/ppt/media/image9.png" Id="R2f205d154a214b25" /><Relationship Type="http://schemas.openxmlformats.org/officeDocument/2006/relationships/image" Target="/ppt/media/image7.png" Id="Rf10f14bf0a1244cd" /><Relationship Type="http://schemas.openxmlformats.org/officeDocument/2006/relationships/image" Target="/ppt/media/image10.png" Id="R001d84ceec3d4fbb" /><Relationship Type="http://schemas.openxmlformats.org/officeDocument/2006/relationships/notesSlide" Target="/ppt/notesSlides/notesSlide14.xml" Id="R59c69e2d62a34ab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E111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29ABBF6C-62F0-4C6B-B05B-4199C0A7F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0" y="-2011680"/>
            <a:ext cx="6400800" cy="6400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7CF6">
              <a:alpha val="10000"/>
            </a:srgbClr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E267DC30-4AC5-43C7-8C10-05AA6B059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194560" y="3108960"/>
            <a:ext cx="5943600" cy="5943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DD4BF">
              <a:alpha val="7000"/>
            </a:srgbClr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DAC524C1-CEF9-451F-A559-52896C103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02920"/>
            <a:ext cx="457200" cy="457200"/>
          </a:xfrm>
          <a:prstGeom xmlns:a="http://schemas.openxmlformats.org/drawingml/2006/main" prst="roundRect">
            <a:avLst>
              <a:gd name="adj" fmla="val 14000"/>
            </a:avLst>
          </a:prstGeom>
          <a:solidFill xmlns:a="http://schemas.openxmlformats.org/drawingml/2006/main">
            <a:srgbClr val="8B7CF6">
              <a:alpha val="18000"/>
            </a:srgbClr>
          </a:solidFill>
          <a:ln xmlns:a="http://schemas.openxmlformats.org/drawingml/2006/main" w="12700">
            <a:solidFill>
              <a:srgbClr val="8B7CF6">
                <a:alpha val="45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28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b1de5ea171e466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40664" y="603504"/>
            <a:ext cx="256032" cy="256032"/>
          </a:xfrm>
          <a:prstGeom xmlns:a="http://schemas.openxmlformats.org/drawingml/2006/main" prst="rect">
            <a:avLst/>
          </a:prstGeom>
        </p:spPr>
      </p:pic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B2C53CD7-2CDB-4E1B-AA0D-2AF2A9A58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548640"/>
            <a:ext cx="73152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 spc="200">
                <a:solidFill>
                  <a:srgbClr val="9AA7B4"/>
                </a:solidFill>
                <a:latin typeface="Arial"/>
                <a:ea typeface="Arial"/>
                <a:cs typeface="Arial"/>
              </a:rPr>
              <a:t>REDROB · DATA &amp; AI CHALLENGE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C8CE4648-D335-4B17-A5DB-CAF7B2A9B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057400"/>
            <a:ext cx="1051560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6000" b="1">
                <a:solidFill>
                  <a:srgbClr val="E6EDF3"/>
                </a:solidFill>
                <a:latin typeface="Arial"/>
                <a:ea typeface="Arial"/>
                <a:cs typeface="Arial"/>
              </a:rPr>
              <a:t>HireFit Ranker V6</a:t>
            </a:r>
          </a:p>
        </p:txBody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005790DA-DBBF-42CF-8045-53DB59857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154680"/>
            <a:ext cx="1051560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E6EDF3"/>
                </a:solidFill>
                <a:latin typeface="Arial"/>
                <a:ea typeface="Arial"/>
                <a:cs typeface="Arial"/>
              </a:rPr>
              <a:t>Universal strength. Battle-proof release.</a:t>
            </a:r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CF33CC87-6ADD-4A4B-AB95-47C1B409C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886200"/>
            <a:ext cx="877824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lnSpc>
                <a:spcPct val="110000"/>
              </a:lnSpc>
              <a:buNone/>
            </a:pPr>
            <a:r>
              <a:rPr sz="1450">
                <a:solidFill>
                  <a:srgbClr val="9AA7B4"/>
                </a:solidFill>
                <a:latin typeface="Arial"/>
                <a:ea typeface="Arial"/>
                <a:cs typeface="Arial"/>
              </a:rPr>
              <a:t>A deterministic AI recruiter that reads careers and behavior —</a:t>
            </a:r>
          </a:p>
          <a:p xmlns:a="http://schemas.openxmlformats.org/drawingml/2006/main">
            <a:pPr marL="0" indent="0">
              <a:lnSpc>
                <a:spcPct val="110000"/>
              </a:lnSpc>
              <a:buNone/>
            </a:pPr>
            <a:r>
              <a:rPr sz="1450">
                <a:solidFill>
                  <a:srgbClr val="9AA7B4"/>
                </a:solidFill>
                <a:latin typeface="Arial"/>
                <a:ea typeface="Arial"/>
                <a:cs typeface="Arial"/>
              </a:rPr>
              <a:t>then publishes an exact, validated top-100 shortlist.</a:t>
            </a:r>
          </a:p>
        </p:txBody>
      </p:sp>
      <p:sp>
        <p:nvSpPr>
          <p:cNvPr id="10" name="Shape 7">
            <a:extLst xmlns:a="http://schemas.openxmlformats.org/drawingml/2006/main">
              <a:ext uri="{FF2B5EF4-FFF2-40B4-BE49-F238E27FC236}">
                <a16:creationId xmlns:a16="http://schemas.microsoft.com/office/drawing/2014/main" id="{DEC875FC-E18D-4E89-9517-CBEC47294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983480"/>
            <a:ext cx="2487168" cy="1051560"/>
          </a:xfrm>
          <a:prstGeom xmlns:a="http://schemas.openxmlformats.org/drawingml/2006/main" prst="roundRect">
            <a:avLst>
              <a:gd name="adj" fmla="val 10435"/>
            </a:avLst>
          </a:prstGeom>
          <a:solidFill xmlns:a="http://schemas.openxmlformats.org/drawingml/2006/main">
            <a:srgbClr val="161C24"/>
          </a:solidFill>
          <a:ln xmlns:a="http://schemas.openxmlformats.org/drawingml/2006/main" w="12700">
            <a:solidFill>
              <a:srgbClr val="2A3340"/>
            </a:solidFill>
            <a:prstDash val="solid"/>
          </a:ln>
          <a:effectLst xmlns:a="http://schemas.openxmlformats.org/drawingml/2006/main"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93F4813D-66C7-4405-AE2D-07596B371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120640"/>
            <a:ext cx="2487168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3300" b="1">
                <a:solidFill>
                  <a:srgbClr val="8B7CF6"/>
                </a:solidFill>
                <a:latin typeface="Arial"/>
                <a:ea typeface="Arial"/>
                <a:cs typeface="Arial"/>
              </a:rPr>
              <a:t>100K</a:t>
            </a:r>
          </a:p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CD47C73D-10A7-45C7-9B3B-E74A3D0F7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650992"/>
            <a:ext cx="2487168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>
                <a:solidFill>
                  <a:srgbClr val="9AA7B4"/>
                </a:solidFill>
                <a:latin typeface="Arial"/>
                <a:ea typeface="Arial"/>
                <a:cs typeface="Arial"/>
              </a:rPr>
              <a:t>candidates scored</a:t>
            </a:r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FF7876C1-3E5C-4382-A978-1B9851658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3280" y="4983480"/>
            <a:ext cx="2487168" cy="1051560"/>
          </a:xfrm>
          <a:prstGeom xmlns:a="http://schemas.openxmlformats.org/drawingml/2006/main" prst="roundRect">
            <a:avLst>
              <a:gd name="adj" fmla="val 10435"/>
            </a:avLst>
          </a:prstGeom>
          <a:solidFill xmlns:a="http://schemas.openxmlformats.org/drawingml/2006/main">
            <a:srgbClr val="161C24"/>
          </a:solidFill>
          <a:ln xmlns:a="http://schemas.openxmlformats.org/drawingml/2006/main" w="12700">
            <a:solidFill>
              <a:srgbClr val="2A3340"/>
            </a:solidFill>
            <a:prstDash val="solid"/>
          </a:ln>
          <a:effectLst xmlns:a="http://schemas.openxmlformats.org/drawingml/2006/main"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CBD05C48-BF57-4A1E-8F04-E24A7A22B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3280" y="5120640"/>
            <a:ext cx="2487168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3300" b="1">
                <a:solidFill>
                  <a:srgbClr val="2DD4BF"/>
                </a:solidFill>
                <a:latin typeface="Arial"/>
                <a:ea typeface="Arial"/>
                <a:cs typeface="Arial"/>
              </a:rPr>
              <a:t>136s</a:t>
            </a:r>
          </a:p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6AF14BB8-5D30-49C5-95A7-31F3103E9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3280" y="5650992"/>
            <a:ext cx="2487168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>
                <a:solidFill>
                  <a:srgbClr val="9AA7B4"/>
                </a:solidFill>
                <a:latin typeface="Arial"/>
                <a:ea typeface="Arial"/>
                <a:cs typeface="Arial"/>
              </a:rPr>
              <a:t>100K · 2 CPU · release</a:t>
            </a:r>
          </a:p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A353D646-50CF-40A4-8EBF-E37F4A2BA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4983480"/>
            <a:ext cx="2487168" cy="1051560"/>
          </a:xfrm>
          <a:prstGeom xmlns:a="http://schemas.openxmlformats.org/drawingml/2006/main" prst="roundRect">
            <a:avLst>
              <a:gd name="adj" fmla="val 10435"/>
            </a:avLst>
          </a:prstGeom>
          <a:solidFill xmlns:a="http://schemas.openxmlformats.org/drawingml/2006/main">
            <a:srgbClr val="161C24"/>
          </a:solidFill>
          <a:ln xmlns:a="http://schemas.openxmlformats.org/drawingml/2006/main" w="12700">
            <a:solidFill>
              <a:srgbClr val="2A3340"/>
            </a:solidFill>
            <a:prstDash val="solid"/>
          </a:ln>
          <a:effectLst xmlns:a="http://schemas.openxmlformats.org/drawingml/2006/main"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2C463F89-71FC-4242-A62F-40BEC32A6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5120640"/>
            <a:ext cx="2487168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3300" b="1">
                <a:solidFill>
                  <a:srgbClr val="2DD4BF"/>
                </a:solidFill>
                <a:latin typeface="Arial"/>
                <a:ea typeface="Arial"/>
                <a:cs typeface="Arial"/>
              </a:rPr>
              <a:t>#1</a:t>
            </a:r>
          </a:p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C8285AAA-3E90-4A88-8AF1-94AEDF438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5650992"/>
            <a:ext cx="2487168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>
                <a:solidFill>
                  <a:srgbClr val="9AA7B4"/>
                </a:solidFill>
                <a:latin typeface="Arial"/>
                <a:ea typeface="Arial"/>
                <a:cs typeface="Arial"/>
              </a:rPr>
              <a:t>of 673 · seven-evaluator mean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5406FAF1-C98A-4B2B-A40F-ED5C361C9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0" y="4983480"/>
            <a:ext cx="2487168" cy="1051560"/>
          </a:xfrm>
          <a:prstGeom xmlns:a="http://schemas.openxmlformats.org/drawingml/2006/main" prst="roundRect">
            <a:avLst>
              <a:gd name="adj" fmla="val 10435"/>
            </a:avLst>
          </a:prstGeom>
          <a:solidFill xmlns:a="http://schemas.openxmlformats.org/drawingml/2006/main">
            <a:srgbClr val="161C24"/>
          </a:solidFill>
          <a:ln xmlns:a="http://schemas.openxmlformats.org/drawingml/2006/main" w="12700">
            <a:solidFill>
              <a:srgbClr val="2A3340"/>
            </a:solidFill>
            <a:prstDash val="solid"/>
          </a:ln>
          <a:effectLst xmlns:a="http://schemas.openxmlformats.org/drawingml/2006/main"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65FFF770-49D1-4409-9DAC-EC92A6D69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0" y="5120640"/>
            <a:ext cx="2487168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3300" b="1">
                <a:solidFill>
                  <a:srgbClr val="34D399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48F4C573-0F39-4F81-8B2D-0A89EDF1D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0" y="5650992"/>
            <a:ext cx="2487168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>
                <a:solidFill>
                  <a:srgbClr val="9AA7B4"/>
                </a:solidFill>
                <a:latin typeface="Arial"/>
                <a:ea typeface="Arial"/>
                <a:cs typeface="Arial"/>
              </a:rPr>
              <a:t>honeypots in top-100</a:t>
            </a:r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65EBA370-F21F-4E0B-9DC7-630A9337B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6199632"/>
            <a:ext cx="10515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i="1">
                <a:solidFill>
                  <a:srgbClr val="6E7C8C"/>
                </a:solidFill>
                <a:latin typeface="Arial"/>
                <a:ea typeface="Arial"/>
                <a:cs typeface="Arial"/>
              </a:rPr>
              <a:t>* Public-field rank is a transparent local comparison, not an official leaderboard. See slide 14.</a:t>
            </a:r>
          </a:p>
        </p:txBody>
      </p:sp>
      <p:sp>
        <p:nvSpPr>
          <p:cNvPr id="23" name="Text 20">
            <a:extLst xmlns:a="http://schemas.openxmlformats.org/drawingml/2006/main">
              <a:ext uri="{FF2B5EF4-FFF2-40B4-BE49-F238E27FC236}">
                <a16:creationId xmlns:a16="http://schemas.microsoft.com/office/drawing/2014/main" id="{D6192DD0-EE36-4C4B-AF9B-775C1960A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6473952"/>
            <a:ext cx="27432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 spc="200">
                <a:solidFill>
                  <a:srgbClr val="6E7C8C"/>
                </a:solidFill>
                <a:latin typeface="Arial"/>
                <a:ea typeface="Arial"/>
                <a:cs typeface="Arial"/>
              </a:rPr>
              <a:t>HIREFIT RANKER</a:t>
            </a:r>
          </a:p>
        </p:txBody>
      </p:sp>
    </p:spTree>
    <p:extLst>
      <p:ext uri="{BB962C8B-B14F-4D97-AF65-F5344CB8AC3E}">
        <p14:creationId xmlns:p14="http://schemas.microsoft.com/office/powerpoint/2010/main" val="114452521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E111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AB020076-00F9-4101-B577-0A41EDC86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84048"/>
            <a:ext cx="10911535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 spc="300">
                <a:solidFill>
                  <a:srgbClr val="8B7CF6"/>
                </a:solidFill>
                <a:latin typeface="Arial"/>
                <a:ea typeface="Arial"/>
                <a:cs typeface="Arial"/>
              </a:rPr>
              <a:t>THE PROBLEM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89479782-937D-40B2-BB05-B5EC03018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658368"/>
            <a:ext cx="10911535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lnSpc>
                <a:spcPct val="98000"/>
              </a:lnSpc>
              <a:buNone/>
            </a:pPr>
            <a:r>
              <a:rPr sz="2600" b="1">
                <a:solidFill>
                  <a:srgbClr val="E6EDF3"/>
                </a:solidFill>
                <a:latin typeface="Arial"/>
                <a:ea typeface="Arial"/>
                <a:cs typeface="Arial"/>
              </a:rPr>
              <a:t>Keyword filters miss the right people — and rank the wrong ones first.</a:t>
            </a: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18EE405A-EE47-4D03-BD79-4D1B95BE4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335024"/>
            <a:ext cx="10911535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9AA7B4"/>
                </a:solidFill>
                <a:latin typeface="Arial"/>
                <a:ea typeface="Arial"/>
                <a:cs typeface="Arial"/>
              </a:rPr>
              <a:t>The dataset is engineered to punish keyword matching. Four trap types sink a naive ranker.</a:t>
            </a:r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398A5DBB-24B9-4B04-8218-54EAABEA4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874520"/>
            <a:ext cx="2522144" cy="233172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161C24"/>
          </a:solidFill>
          <a:ln xmlns:a="http://schemas.openxmlformats.org/drawingml/2006/main" w="12700">
            <a:solidFill>
              <a:srgbClr val="2A3340"/>
            </a:solidFill>
            <a:prstDash val="solid"/>
          </a:ln>
          <a:effectLst xmlns:a="http://schemas.openxmlformats.org/drawingml/2006/main"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4F523CD0-4D24-4C2D-B0A3-29A4433FE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2148840"/>
            <a:ext cx="457200" cy="457200"/>
          </a:xfrm>
          <a:prstGeom xmlns:a="http://schemas.openxmlformats.org/drawingml/2006/main" prst="roundRect">
            <a:avLst>
              <a:gd name="adj" fmla="val 14000"/>
            </a:avLst>
          </a:prstGeom>
          <a:solidFill xmlns:a="http://schemas.openxmlformats.org/drawingml/2006/main">
            <a:srgbClr val="F2607B">
              <a:alpha val="18000"/>
            </a:srgbClr>
          </a:solidFill>
          <a:ln xmlns:a="http://schemas.openxmlformats.org/drawingml/2006/main" w="12700">
            <a:solidFill>
              <a:srgbClr val="F2607B">
                <a:alpha val="45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41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7ad44f4bb2c428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96696" y="2249424"/>
            <a:ext cx="256032" cy="256032"/>
          </a:xfrm>
          <a:prstGeom xmlns:a="http://schemas.openxmlformats.org/drawingml/2006/main" prst="rect">
            <a:avLst/>
          </a:prstGeom>
        </p:spPr>
      </p:pic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6707A519-B9C8-4F41-B6D5-69FE1172C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2743200"/>
            <a:ext cx="20100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E6EDF3"/>
                </a:solidFill>
                <a:latin typeface="Arial"/>
                <a:ea typeface="Arial"/>
                <a:cs typeface="Arial"/>
              </a:rPr>
              <a:t>Keyword stuffers</a:t>
            </a:r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C569F61B-ABEE-4857-BAD2-DE51A86D1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3200400"/>
            <a:ext cx="201008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lnSpc>
                <a:spcPct val="105000"/>
              </a:lnSpc>
              <a:buNone/>
            </a:pPr>
            <a:r>
              <a:rPr sz="1150">
                <a:solidFill>
                  <a:srgbClr val="9AA7B4"/>
                </a:solidFill>
                <a:latin typeface="Arial"/>
                <a:ea typeface="Arial"/>
                <a:cs typeface="Arial"/>
              </a:rPr>
              <a:t>Wrong-role profiles padded with AI skills — a Marketing Manager listing 9 AI keywords.</a:t>
            </a:r>
          </a:p>
        </p:txBody>
      </p:sp>
      <p:sp>
        <p:nvSpPr>
          <p:cNvPr id="10" name="Shape 7">
            <a:extLst xmlns:a="http://schemas.openxmlformats.org/drawingml/2006/main">
              <a:ext uri="{FF2B5EF4-FFF2-40B4-BE49-F238E27FC236}">
                <a16:creationId xmlns:a16="http://schemas.microsoft.com/office/drawing/2014/main" id="{010D7531-9631-407D-98E4-E0295C64E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6544" y="1874520"/>
            <a:ext cx="2522144" cy="233172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161C24"/>
          </a:solidFill>
          <a:ln xmlns:a="http://schemas.openxmlformats.org/drawingml/2006/main" w="12700">
            <a:solidFill>
              <a:srgbClr val="2A3340"/>
            </a:solidFill>
            <a:prstDash val="solid"/>
          </a:ln>
          <a:effectLst xmlns:a="http://schemas.openxmlformats.org/drawingml/2006/main"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4A7EE464-4046-4BA0-B4D8-0900DF4BD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2576" y="2148840"/>
            <a:ext cx="457200" cy="457200"/>
          </a:xfrm>
          <a:prstGeom xmlns:a="http://schemas.openxmlformats.org/drawingml/2006/main" prst="roundRect">
            <a:avLst>
              <a:gd name="adj" fmla="val 14000"/>
            </a:avLst>
          </a:prstGeom>
          <a:solidFill xmlns:a="http://schemas.openxmlformats.org/drawingml/2006/main">
            <a:srgbClr val="F2607B">
              <a:alpha val="18000"/>
            </a:srgbClr>
          </a:solidFill>
          <a:ln xmlns:a="http://schemas.openxmlformats.org/drawingml/2006/main" w="12700">
            <a:solidFill>
              <a:srgbClr val="F2607B">
                <a:alpha val="45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46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d29686062534d3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793160" y="2249424"/>
            <a:ext cx="256032" cy="256032"/>
          </a:xfrm>
          <a:prstGeom xmlns:a="http://schemas.openxmlformats.org/drawingml/2006/main" prst="rect">
            <a:avLst/>
          </a:prstGeom>
        </p:spPr>
      </p:pic>
      <p:sp>
        <p:nvSpPr>
          <p:cNvPr id="13" name="Text 9">
            <a:extLst xmlns:a="http://schemas.openxmlformats.org/drawingml/2006/main">
              <a:ext uri="{FF2B5EF4-FFF2-40B4-BE49-F238E27FC236}">
                <a16:creationId xmlns:a16="http://schemas.microsoft.com/office/drawing/2014/main" id="{D4427CB0-397A-4B26-8CAC-04EBA8969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2576" y="2743200"/>
            <a:ext cx="20100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E6EDF3"/>
                </a:solidFill>
                <a:latin typeface="Arial"/>
                <a:ea typeface="Arial"/>
                <a:cs typeface="Arial"/>
              </a:rPr>
              <a:t>Wrong-role profiles</a:t>
            </a:r>
          </a:p>
        </p:txBody>
      </p:sp>
      <p:sp>
        <p:nvSpPr>
          <p:cNvPr id="14" name="Text 10">
            <a:extLst xmlns:a="http://schemas.openxmlformats.org/drawingml/2006/main">
              <a:ext uri="{FF2B5EF4-FFF2-40B4-BE49-F238E27FC236}">
                <a16:creationId xmlns:a16="http://schemas.microsoft.com/office/drawing/2014/main" id="{30067EEA-1BD9-4A90-ABCA-2113AEA5E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2576" y="3200400"/>
            <a:ext cx="201008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lnSpc>
                <a:spcPct val="105000"/>
              </a:lnSpc>
              <a:buNone/>
            </a:pPr>
            <a:r>
              <a:rPr sz="1150">
                <a:solidFill>
                  <a:srgbClr val="9AA7B4"/>
                </a:solidFill>
                <a:latin typeface="Arial"/>
                <a:ea typeface="Arial"/>
                <a:cs typeface="Arial"/>
              </a:rPr>
              <a:t>Perfect skill lists attached to titles that never shipped a ranking system.</a:t>
            </a:r>
          </a:p>
        </p:txBody>
      </p:sp>
      <p:sp>
        <p:nvSpPr>
          <p:cNvPr id="15" name="Shape 11">
            <a:extLst xmlns:a="http://schemas.openxmlformats.org/drawingml/2006/main">
              <a:ext uri="{FF2B5EF4-FFF2-40B4-BE49-F238E27FC236}">
                <a16:creationId xmlns:a16="http://schemas.microsoft.com/office/drawing/2014/main" id="{2D7CA35E-6713-4EEB-84F3-3BDFC0EE9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3008" y="1874520"/>
            <a:ext cx="2522144" cy="233172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161C24"/>
          </a:solidFill>
          <a:ln xmlns:a="http://schemas.openxmlformats.org/drawingml/2006/main" w="12700">
            <a:solidFill>
              <a:srgbClr val="2A3340"/>
            </a:solidFill>
            <a:prstDash val="solid"/>
          </a:ln>
          <a:effectLst xmlns:a="http://schemas.openxmlformats.org/drawingml/2006/main"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Shape 12">
            <a:extLst xmlns:a="http://schemas.openxmlformats.org/drawingml/2006/main">
              <a:ext uri="{FF2B5EF4-FFF2-40B4-BE49-F238E27FC236}">
                <a16:creationId xmlns:a16="http://schemas.microsoft.com/office/drawing/2014/main" id="{6CB6DC74-6B06-4A6A-A8DA-875EC87BE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9040" y="2148840"/>
            <a:ext cx="457200" cy="457200"/>
          </a:xfrm>
          <a:prstGeom xmlns:a="http://schemas.openxmlformats.org/drawingml/2006/main" prst="roundRect">
            <a:avLst>
              <a:gd name="adj" fmla="val 14000"/>
            </a:avLst>
          </a:prstGeom>
          <a:solidFill xmlns:a="http://schemas.openxmlformats.org/drawingml/2006/main">
            <a:srgbClr val="F2607B">
              <a:alpha val="18000"/>
            </a:srgbClr>
          </a:solidFill>
          <a:ln xmlns:a="http://schemas.openxmlformats.org/drawingml/2006/main" w="12700">
            <a:solidFill>
              <a:srgbClr val="F2607B">
                <a:alpha val="45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51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d43c9e2ab1a40f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589624" y="2249424"/>
            <a:ext cx="256032" cy="256032"/>
          </a:xfrm>
          <a:prstGeom xmlns:a="http://schemas.openxmlformats.org/drawingml/2006/main" prst="rect">
            <a:avLst/>
          </a:prstGeom>
        </p:spPr>
      </p:pic>
      <p:sp>
        <p:nvSpPr>
          <p:cNvPr id="18" name="Text 13">
            <a:extLst xmlns:a="http://schemas.openxmlformats.org/drawingml/2006/main">
              <a:ext uri="{FF2B5EF4-FFF2-40B4-BE49-F238E27FC236}">
                <a16:creationId xmlns:a16="http://schemas.microsoft.com/office/drawing/2014/main" id="{10A8D89E-B396-43C3-B90E-E5BC5CC02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9040" y="2743200"/>
            <a:ext cx="20100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E6EDF3"/>
                </a:solidFill>
                <a:latin typeface="Arial"/>
                <a:ea typeface="Arial"/>
                <a:cs typeface="Arial"/>
              </a:rPr>
              <a:t>Honeypots</a:t>
            </a:r>
          </a:p>
        </p:txBody>
      </p:sp>
      <p:sp>
        <p:nvSpPr>
          <p:cNvPr id="19" name="Text 14">
            <a:extLst xmlns:a="http://schemas.openxmlformats.org/drawingml/2006/main">
              <a:ext uri="{FF2B5EF4-FFF2-40B4-BE49-F238E27FC236}">
                <a16:creationId xmlns:a16="http://schemas.microsoft.com/office/drawing/2014/main" id="{4B4D72DC-7C51-4888-ACB1-7E5F13598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9040" y="3200400"/>
            <a:ext cx="201008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lnSpc>
                <a:spcPct val="105000"/>
              </a:lnSpc>
              <a:buNone/>
            </a:pPr>
            <a:r>
              <a:rPr sz="1150">
                <a:solidFill>
                  <a:srgbClr val="9AA7B4"/>
                </a:solidFill>
                <a:latin typeface="Arial"/>
                <a:ea typeface="Arial"/>
                <a:cs typeface="Arial"/>
              </a:rPr>
              <a:t>Subtly impossible profiles — “expert” in 10 skills with 0 months used. Forced to tier 0.</a:t>
            </a:r>
          </a:p>
        </p:txBody>
      </p:sp>
      <p:sp>
        <p:nvSpPr>
          <p:cNvPr id="20" name="Shape 15">
            <a:extLst xmlns:a="http://schemas.openxmlformats.org/drawingml/2006/main">
              <a:ext uri="{FF2B5EF4-FFF2-40B4-BE49-F238E27FC236}">
                <a16:creationId xmlns:a16="http://schemas.microsoft.com/office/drawing/2014/main" id="{6917A4DF-2434-49C6-8FDE-498A773D1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471" y="1874520"/>
            <a:ext cx="2522144" cy="233172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161C24"/>
          </a:solidFill>
          <a:ln xmlns:a="http://schemas.openxmlformats.org/drawingml/2006/main" w="12700">
            <a:solidFill>
              <a:srgbClr val="2A3340"/>
            </a:solidFill>
            <a:prstDash val="solid"/>
          </a:ln>
          <a:effectLst xmlns:a="http://schemas.openxmlformats.org/drawingml/2006/main"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Shape 16">
            <a:extLst xmlns:a="http://schemas.openxmlformats.org/drawingml/2006/main">
              <a:ext uri="{FF2B5EF4-FFF2-40B4-BE49-F238E27FC236}">
                <a16:creationId xmlns:a16="http://schemas.microsoft.com/office/drawing/2014/main" id="{129BE81D-0B4E-485E-9300-64FD4B835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5503" y="2148840"/>
            <a:ext cx="457200" cy="457200"/>
          </a:xfrm>
          <a:prstGeom xmlns:a="http://schemas.openxmlformats.org/drawingml/2006/main" prst="roundRect">
            <a:avLst>
              <a:gd name="adj" fmla="val 14000"/>
            </a:avLst>
          </a:prstGeom>
          <a:solidFill xmlns:a="http://schemas.openxmlformats.org/drawingml/2006/main">
            <a:srgbClr val="F2B544">
              <a:alpha val="18000"/>
            </a:srgbClr>
          </a:solidFill>
          <a:ln xmlns:a="http://schemas.openxmlformats.org/drawingml/2006/main" w="12700">
            <a:solidFill>
              <a:srgbClr val="F2B544">
                <a:alpha val="45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56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9690d64225f425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386087" y="2249424"/>
            <a:ext cx="256032" cy="256032"/>
          </a:xfrm>
          <a:prstGeom xmlns:a="http://schemas.openxmlformats.org/drawingml/2006/main" prst="rect">
            <a:avLst/>
          </a:prstGeom>
        </p:spPr>
      </p:pic>
      <p:sp>
        <p:nvSpPr>
          <p:cNvPr id="23" name="Text 17">
            <a:extLst xmlns:a="http://schemas.openxmlformats.org/drawingml/2006/main">
              <a:ext uri="{FF2B5EF4-FFF2-40B4-BE49-F238E27FC236}">
                <a16:creationId xmlns:a16="http://schemas.microsoft.com/office/drawing/2014/main" id="{D9087968-7178-4811-96A7-757A24EE0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5503" y="2743200"/>
            <a:ext cx="20100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E6EDF3"/>
                </a:solidFill>
                <a:latin typeface="Arial"/>
                <a:ea typeface="Arial"/>
                <a:cs typeface="Arial"/>
              </a:rPr>
              <a:t>Unavailable-but-perfect</a:t>
            </a:r>
          </a:p>
        </p:txBody>
      </p:sp>
      <p:sp>
        <p:nvSpPr>
          <p:cNvPr id="24" name="Text 18">
            <a:extLst xmlns:a="http://schemas.openxmlformats.org/drawingml/2006/main">
              <a:ext uri="{FF2B5EF4-FFF2-40B4-BE49-F238E27FC236}">
                <a16:creationId xmlns:a16="http://schemas.microsoft.com/office/drawing/2014/main" id="{8CA12974-3978-42A3-94F5-F88D0F9D5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5503" y="3200400"/>
            <a:ext cx="201008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lnSpc>
                <a:spcPct val="105000"/>
              </a:lnSpc>
              <a:buNone/>
            </a:pPr>
            <a:r>
              <a:rPr sz="1150">
                <a:solidFill>
                  <a:srgbClr val="9AA7B4"/>
                </a:solidFill>
                <a:latin typeface="Arial"/>
                <a:ea typeface="Arial"/>
                <a:cs typeface="Arial"/>
              </a:rPr>
              <a:t>Great on paper, but 5% recruiter response and not logged in for months.</a:t>
            </a:r>
          </a:p>
        </p:txBody>
      </p:sp>
      <p:sp>
        <p:nvSpPr>
          <p:cNvPr id="25" name="Shape 19">
            <a:extLst xmlns:a="http://schemas.openxmlformats.org/drawingml/2006/main">
              <a:ext uri="{FF2B5EF4-FFF2-40B4-BE49-F238E27FC236}">
                <a16:creationId xmlns:a16="http://schemas.microsoft.com/office/drawing/2014/main" id="{85F16EE9-2DB7-4142-A7AC-D58F77A0D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617720"/>
            <a:ext cx="10911535" cy="123444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1B2330"/>
          </a:solidFill>
          <a:ln xmlns:a="http://schemas.openxmlformats.org/drawingml/2006/main" w="12700">
            <a:solidFill>
              <a:srgbClr val="2A3340"/>
            </a:solidFill>
            <a:prstDash val="solid"/>
          </a:ln>
          <a:effectLst xmlns:a="http://schemas.openxmlformats.org/drawingml/2006/main"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Shape 20">
            <a:extLst xmlns:a="http://schemas.openxmlformats.org/drawingml/2006/main">
              <a:ext uri="{FF2B5EF4-FFF2-40B4-BE49-F238E27FC236}">
                <a16:creationId xmlns:a16="http://schemas.microsoft.com/office/drawing/2014/main" id="{E867A537-2780-470F-B453-B83A55BF0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892040"/>
            <a:ext cx="457200" cy="457200"/>
          </a:xfrm>
          <a:prstGeom xmlns:a="http://schemas.openxmlformats.org/drawingml/2006/main" prst="roundRect">
            <a:avLst>
              <a:gd name="adj" fmla="val 14000"/>
            </a:avLst>
          </a:prstGeom>
          <a:solidFill xmlns:a="http://schemas.openxmlformats.org/drawingml/2006/main">
            <a:srgbClr val="2DD4BF">
              <a:alpha val="18000"/>
            </a:srgbClr>
          </a:solidFill>
          <a:ln xmlns:a="http://schemas.openxmlformats.org/drawingml/2006/main" w="12700">
            <a:solidFill>
              <a:srgbClr val="2DD4BF">
                <a:alpha val="45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61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2ebfaf9661b4df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14984" y="4992624"/>
            <a:ext cx="256032" cy="256032"/>
          </a:xfrm>
          <a:prstGeom xmlns:a="http://schemas.openxmlformats.org/drawingml/2006/main" prst="rect">
            <a:avLst/>
          </a:prstGeom>
        </p:spPr>
      </p:pic>
      <p:sp>
        <p:nvSpPr>
          <p:cNvPr id="28" name="Text 21">
            <a:extLst xmlns:a="http://schemas.openxmlformats.org/drawingml/2006/main">
              <a:ext uri="{FF2B5EF4-FFF2-40B4-BE49-F238E27FC236}">
                <a16:creationId xmlns:a16="http://schemas.microsoft.com/office/drawing/2014/main" id="{655BB3D0-591E-4EAB-9490-EAB0B4B36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8760" y="4754880"/>
            <a:ext cx="9722815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lnSpc>
                <a:spcPct val="108000"/>
              </a:lnSpc>
              <a:buNone/>
            </a:pPr>
            <a:r>
              <a:rPr sz="1350" b="1">
                <a:solidFill>
                  <a:srgbClr val="2DD4BF"/>
                </a:solidFill>
                <a:latin typeface="Arial"/>
                <a:ea typeface="Arial"/>
                <a:cs typeface="Arial"/>
              </a:rPr>
              <a:t>The real task:  </a:t>
            </a:r>
            <a:r>
              <a:rPr sz="1350">
                <a:solidFill>
                  <a:srgbClr val="E6EDF3"/>
                </a:solidFill>
                <a:latin typeface="Arial"/>
                <a:ea typeface="Arial"/>
                <a:cs typeface="Arial"/>
              </a:rPr>
              <a:t>rank candidates the way a great recruiter would — reading career history and behavior, not counting keywords. A candidate who </a:t>
            </a:r>
            <a:r>
              <a:rPr sz="1350" i="1">
                <a:solidFill>
                  <a:srgbClr val="E6EDF3"/>
                </a:solidFill>
                <a:latin typeface="Arial"/>
                <a:ea typeface="Arial"/>
                <a:cs typeface="Arial"/>
              </a:rPr>
              <a:t>built</a:t>
            </a:r>
            <a:r>
              <a:rPr sz="1350">
                <a:solidFill>
                  <a:srgbClr val="E6EDF3"/>
                </a:solidFill>
                <a:latin typeface="Arial"/>
                <a:ea typeface="Arial"/>
                <a:cs typeface="Arial"/>
              </a:rPr>
              <a:t> a recommender at a product company outranks one who merely </a:t>
            </a:r>
            <a:r>
              <a:rPr sz="1350" i="1">
                <a:solidFill>
                  <a:srgbClr val="E6EDF3"/>
                </a:solidFill>
                <a:latin typeface="Arial"/>
                <a:ea typeface="Arial"/>
                <a:cs typeface="Arial"/>
              </a:rPr>
              <a:t>lists</a:t>
            </a:r>
            <a:r>
              <a:rPr sz="1350">
                <a:solidFill>
                  <a:srgbClr val="E6EDF3"/>
                </a:solidFill>
                <a:latin typeface="Arial"/>
                <a:ea typeface="Arial"/>
                <a:cs typeface="Arial"/>
              </a:rPr>
              <a:t> “RAG” and “Pinecone.”</a:t>
            </a:r>
          </a:p>
        </p:txBody>
      </p:sp>
      <p:sp>
        <p:nvSpPr>
          <p:cNvPr id="29" name="Text 22">
            <a:extLst xmlns:a="http://schemas.openxmlformats.org/drawingml/2006/main">
              <a:ext uri="{FF2B5EF4-FFF2-40B4-BE49-F238E27FC236}">
                <a16:creationId xmlns:a16="http://schemas.microsoft.com/office/drawing/2014/main" id="{F4753302-4C3F-4A27-9B89-51838DFFE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1535" y="6473952"/>
            <a:ext cx="914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6E7C8C"/>
                </a:solidFill>
                <a:latin typeface="Arial"/>
                <a:ea typeface="Arial"/>
                <a:cs typeface="Arial"/>
              </a:rPr>
              <a:t>2/14</a:t>
            </a:r>
          </a:p>
        </p:txBody>
      </p:sp>
      <p:sp>
        <p:nvSpPr>
          <p:cNvPr id="30" name="Text 23">
            <a:extLst xmlns:a="http://schemas.openxmlformats.org/drawingml/2006/main">
              <a:ext uri="{FF2B5EF4-FFF2-40B4-BE49-F238E27FC236}">
                <a16:creationId xmlns:a16="http://schemas.microsoft.com/office/drawing/2014/main" id="{3D3C3192-36D6-4A0D-8B6B-3738A8751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6473952"/>
            <a:ext cx="27432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 spc="200">
                <a:solidFill>
                  <a:srgbClr val="6E7C8C"/>
                </a:solidFill>
                <a:latin typeface="Arial"/>
                <a:ea typeface="Arial"/>
                <a:cs typeface="Arial"/>
              </a:rPr>
              <a:t>HIREFIT RANKER</a:t>
            </a:r>
          </a:p>
        </p:txBody>
      </p:sp>
    </p:spTree>
    <p:extLst>
      <p:ext uri="{BB962C8B-B14F-4D97-AF65-F5344CB8AC3E}">
        <p14:creationId xmlns:p14="http://schemas.microsoft.com/office/powerpoint/2010/main" val="19566601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E111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1C6B51B1-B812-40B1-8EC9-754DA450E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84048"/>
            <a:ext cx="10911535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 spc="300">
                <a:solidFill>
                  <a:srgbClr val="8B7CF6"/>
                </a:solidFill>
                <a:latin typeface="Arial"/>
                <a:ea typeface="Arial"/>
                <a:cs typeface="Arial"/>
              </a:rPr>
              <a:t>THE INSIGHT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D68048A0-C137-453C-82CF-D32ABD43D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658368"/>
            <a:ext cx="10911535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lnSpc>
                <a:spcPct val="98000"/>
              </a:lnSpc>
              <a:buNone/>
            </a:pPr>
            <a:r>
              <a:rPr sz="2600" b="1">
                <a:solidFill>
                  <a:srgbClr val="E6EDF3"/>
                </a:solidFill>
                <a:latin typeface="Arial"/>
                <a:ea typeface="Arial"/>
                <a:cs typeface="Arial"/>
              </a:rPr>
              <a:t>The JD lists keywords; the role is hiring for evidence.</a:t>
            </a: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A9543C3D-1EE4-4D09-962D-505B8AB42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335024"/>
            <a:ext cx="10911535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9AA7B4"/>
                </a:solidFill>
                <a:latin typeface="Arial"/>
                <a:ea typeface="Arial"/>
                <a:cs typeface="Arial"/>
              </a:rPr>
              <a:t>Our whole design follows from reading the gap between what the JD says and what it means.</a:t>
            </a:r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0C7F06ED-AD14-4BFC-A1BD-ADA11A9B0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874520"/>
            <a:ext cx="5272888" cy="4069080"/>
          </a:xfrm>
          <a:prstGeom xmlns:a="http://schemas.openxmlformats.org/drawingml/2006/main" prst="roundRect">
            <a:avLst>
              <a:gd name="adj" fmla="val 2697"/>
            </a:avLst>
          </a:prstGeom>
          <a:solidFill xmlns:a="http://schemas.openxmlformats.org/drawingml/2006/main">
            <a:srgbClr val="161C24"/>
          </a:solidFill>
          <a:ln xmlns:a="http://schemas.openxmlformats.org/drawingml/2006/main" w="12700">
            <a:solidFill>
              <a:srgbClr val="2A3340"/>
            </a:solidFill>
            <a:prstDash val="solid"/>
          </a:ln>
          <a:effectLst xmlns:a="http://schemas.openxmlformats.org/drawingml/2006/main"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3861B48B-9CE5-4C5A-B1E4-D53D871B5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30552"/>
            <a:ext cx="457200" cy="457200"/>
          </a:xfrm>
          <a:prstGeom xmlns:a="http://schemas.openxmlformats.org/drawingml/2006/main" prst="roundRect">
            <a:avLst>
              <a:gd name="adj" fmla="val 14000"/>
            </a:avLst>
          </a:prstGeom>
          <a:solidFill xmlns:a="http://schemas.openxmlformats.org/drawingml/2006/main">
            <a:srgbClr val="F2607B">
              <a:alpha val="18000"/>
            </a:srgbClr>
          </a:solidFill>
          <a:ln xmlns:a="http://schemas.openxmlformats.org/drawingml/2006/main" w="12700">
            <a:solidFill>
              <a:srgbClr val="F2607B">
                <a:alpha val="45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47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016ce6ed39b465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14984" y="2231136"/>
            <a:ext cx="256032" cy="256032"/>
          </a:xfrm>
          <a:prstGeom xmlns:a="http://schemas.openxmlformats.org/drawingml/2006/main" prst="rect">
            <a:avLst/>
          </a:prstGeom>
        </p:spPr>
      </p:pic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2E1C332D-085A-40E6-B75D-63F3094E5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2148840"/>
            <a:ext cx="4358488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E6EDF3"/>
                </a:solidFill>
                <a:latin typeface="Arial"/>
                <a:ea typeface="Arial"/>
                <a:cs typeface="Arial"/>
              </a:rPr>
              <a:t>What the JD says</a:t>
            </a:r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560E7F14-E92D-409C-96FC-14F28E3A6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743200"/>
            <a:ext cx="4724248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lnSpc>
                <a:spcPct val="110000"/>
              </a:lnSpc>
              <a:buNone/>
            </a:pPr>
            <a:r>
              <a:rPr sz="1300" i="1">
                <a:solidFill>
                  <a:srgbClr val="9AA7B4"/>
                </a:solidFill>
                <a:latin typeface="Arial"/>
                <a:ea typeface="Arial"/>
                <a:cs typeface="Arial"/>
              </a:rPr>
              <a:t>“5–9 years, embeddings, retrieval, ranking, NLP, deep learning, PyTorch, TensorFlow…”</a:t>
            </a:r>
          </a:p>
        </p:txBody>
      </p:sp>
      <p:sp>
        <p:nvSpPr>
          <p:cNvPr id="10" name="Shape 7">
            <a:extLst xmlns:a="http://schemas.openxmlformats.org/drawingml/2006/main">
              <a:ext uri="{FF2B5EF4-FFF2-40B4-BE49-F238E27FC236}">
                <a16:creationId xmlns:a16="http://schemas.microsoft.com/office/drawing/2014/main" id="{6E6BE7F8-A393-4F32-8B57-9A7C2CB60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566160"/>
            <a:ext cx="1298448" cy="347472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2607B">
              <a:alpha val="14000"/>
            </a:srgbClr>
          </a:solidFill>
          <a:ln xmlns:a="http://schemas.openxmlformats.org/drawingml/2006/main" w="12700">
            <a:solidFill>
              <a:srgbClr val="F2607B">
                <a:alpha val="45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4E87514D-0110-4E7A-90A7-D5087F9B7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566160"/>
            <a:ext cx="1298448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E6EDF3"/>
                </a:solidFill>
                <a:latin typeface="Arial"/>
                <a:ea typeface="Arial"/>
                <a:cs typeface="Arial"/>
              </a:rPr>
              <a:t>embeddings</a:t>
            </a:r>
          </a:p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75226458-4BAF-49EA-A0C3-D596A57A9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1720" y="3566160"/>
            <a:ext cx="1298448" cy="347472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2607B">
              <a:alpha val="14000"/>
            </a:srgbClr>
          </a:solidFill>
          <a:ln xmlns:a="http://schemas.openxmlformats.org/drawingml/2006/main" w="12700">
            <a:solidFill>
              <a:srgbClr val="F2607B">
                <a:alpha val="45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8DCCBE1F-DC25-46F8-88BB-9BCD8C33D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1720" y="3566160"/>
            <a:ext cx="1298448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E6EDF3"/>
                </a:solidFill>
                <a:latin typeface="Arial"/>
                <a:ea typeface="Arial"/>
                <a:cs typeface="Arial"/>
              </a:rPr>
              <a:t>retrieval</a:t>
            </a:r>
          </a:p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7D6A7787-7B03-45EB-A359-61630022E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9040" y="3566160"/>
            <a:ext cx="1298448" cy="347472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2607B">
              <a:alpha val="14000"/>
            </a:srgbClr>
          </a:solidFill>
          <a:ln xmlns:a="http://schemas.openxmlformats.org/drawingml/2006/main" w="12700">
            <a:solidFill>
              <a:srgbClr val="F2607B">
                <a:alpha val="45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FC3C940B-5758-4F6E-832F-B191DFE6E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9040" y="3566160"/>
            <a:ext cx="1298448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E6EDF3"/>
                </a:solidFill>
                <a:latin typeface="Arial"/>
                <a:ea typeface="Arial"/>
                <a:cs typeface="Arial"/>
              </a:rPr>
              <a:t>ranking</a:t>
            </a:r>
          </a:p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23387F8D-F6BA-4C90-9A07-0487C0B43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23360"/>
            <a:ext cx="1298448" cy="347472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2607B">
              <a:alpha val="14000"/>
            </a:srgbClr>
          </a:solidFill>
          <a:ln xmlns:a="http://schemas.openxmlformats.org/drawingml/2006/main" w="12700">
            <a:solidFill>
              <a:srgbClr val="F2607B">
                <a:alpha val="45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C2C736C2-13E5-4FE2-ACBC-CCC199E1D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23360"/>
            <a:ext cx="1298448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E6EDF3"/>
                </a:solidFill>
                <a:latin typeface="Arial"/>
                <a:ea typeface="Arial"/>
                <a:cs typeface="Arial"/>
              </a:rPr>
              <a:t>NLP</a:t>
            </a:r>
          </a:p>
        </p:txBody>
      </p:sp>
      <p:sp>
        <p:nvSpPr>
          <p:cNvPr id="18" name="Shape 15">
            <a:extLst xmlns:a="http://schemas.openxmlformats.org/drawingml/2006/main">
              <a:ext uri="{FF2B5EF4-FFF2-40B4-BE49-F238E27FC236}">
                <a16:creationId xmlns:a16="http://schemas.microsoft.com/office/drawing/2014/main" id="{53E9F224-5EE8-4EFF-BDE8-435427752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1720" y="4023360"/>
            <a:ext cx="1298448" cy="347472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2607B">
              <a:alpha val="14000"/>
            </a:srgbClr>
          </a:solidFill>
          <a:ln xmlns:a="http://schemas.openxmlformats.org/drawingml/2006/main" w="12700">
            <a:solidFill>
              <a:srgbClr val="F2607B">
                <a:alpha val="45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D09074A0-413F-460A-97CA-1856EE606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1720" y="4023360"/>
            <a:ext cx="1298448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E6EDF3"/>
                </a:solidFill>
                <a:latin typeface="Arial"/>
                <a:ea typeface="Arial"/>
                <a:cs typeface="Arial"/>
              </a:rPr>
              <a:t>5–9 yrs</a:t>
            </a:r>
          </a:p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AF7A942B-365F-4C66-926C-744C5CE20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617720"/>
            <a:ext cx="4724248" cy="1051560"/>
          </a:xfrm>
          <a:prstGeom xmlns:a="http://schemas.openxmlformats.org/drawingml/2006/main" prst="roundRect">
            <a:avLst>
              <a:gd name="adj" fmla="val 10435"/>
            </a:avLst>
          </a:prstGeom>
          <a:solidFill xmlns:a="http://schemas.openxmlformats.org/drawingml/2006/main">
            <a:srgbClr val="1B2330"/>
          </a:solidFill>
          <a:ln xmlns:a="http://schemas.openxmlformats.org/drawingml/2006/main" w="12700">
            <a:solidFill>
              <a:srgbClr val="2A3340"/>
            </a:solidFill>
            <a:prstDash val="solid"/>
          </a:ln>
          <a:effectLst xmlns:a="http://schemas.openxmlformats.org/drawingml/2006/main"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1576B497-C787-4381-8FA2-144923226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4727448"/>
            <a:ext cx="4449928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lnSpc>
                <a:spcPct val="105000"/>
              </a:lnSpc>
              <a:buNone/>
            </a:pPr>
            <a:r>
              <a:rPr sz="1250" b="1">
                <a:solidFill>
                  <a:srgbClr val="F2607B"/>
                </a:solidFill>
                <a:latin typeface="Arial"/>
                <a:ea typeface="Arial"/>
                <a:cs typeface="Arial"/>
              </a:rPr>
              <a:t>The trap:  </a:t>
            </a:r>
            <a:r>
              <a:rPr sz="1250">
                <a:solidFill>
                  <a:srgbClr val="E6EDF3"/>
                </a:solidFill>
                <a:latin typeface="Arial"/>
                <a:ea typeface="Arial"/>
                <a:cs typeface="Arial"/>
              </a:rPr>
              <a:t>skill-keyword overlap is high for stuffers and low for the engineers who actually shipped the systems.</a:t>
            </a:r>
          </a:p>
        </p:txBody>
      </p:sp>
      <p:sp>
        <p:nvSpPr>
          <p:cNvPr id="22" name="Shape 19">
            <a:extLst xmlns:a="http://schemas.openxmlformats.org/drawingml/2006/main">
              <a:ext uri="{FF2B5EF4-FFF2-40B4-BE49-F238E27FC236}">
                <a16:creationId xmlns:a16="http://schemas.microsoft.com/office/drawing/2014/main" id="{09479838-F168-4A7B-8DCB-81A59D391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8728" y="1874520"/>
            <a:ext cx="5272888" cy="4069080"/>
          </a:xfrm>
          <a:prstGeom xmlns:a="http://schemas.openxmlformats.org/drawingml/2006/main" prst="roundRect">
            <a:avLst>
              <a:gd name="adj" fmla="val 2697"/>
            </a:avLst>
          </a:prstGeom>
          <a:solidFill xmlns:a="http://schemas.openxmlformats.org/drawingml/2006/main">
            <a:srgbClr val="161C24"/>
          </a:solidFill>
          <a:ln xmlns:a="http://schemas.openxmlformats.org/drawingml/2006/main" w="12700">
            <a:solidFill>
              <a:srgbClr val="2A3340"/>
            </a:solidFill>
            <a:prstDash val="solid"/>
          </a:ln>
          <a:effectLst xmlns:a="http://schemas.openxmlformats.org/drawingml/2006/main"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30668164-7FBA-426F-AA7F-ACF341FC5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048" y="2130552"/>
            <a:ext cx="457200" cy="457200"/>
          </a:xfrm>
          <a:prstGeom xmlns:a="http://schemas.openxmlformats.org/drawingml/2006/main" prst="roundRect">
            <a:avLst>
              <a:gd name="adj" fmla="val 14000"/>
            </a:avLst>
          </a:prstGeom>
          <a:solidFill xmlns:a="http://schemas.openxmlformats.org/drawingml/2006/main">
            <a:srgbClr val="2DD4BF">
              <a:alpha val="18000"/>
            </a:srgbClr>
          </a:solidFill>
          <a:ln xmlns:a="http://schemas.openxmlformats.org/drawingml/2006/main" w="12700">
            <a:solidFill>
              <a:srgbClr val="2DD4BF">
                <a:alpha val="45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64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45efb339826489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653632" y="2231136"/>
            <a:ext cx="256032" cy="256032"/>
          </a:xfrm>
          <a:prstGeom xmlns:a="http://schemas.openxmlformats.org/drawingml/2006/main" prst="rect">
            <a:avLst/>
          </a:prstGeom>
        </p:spPr>
      </p:pic>
      <p:sp>
        <p:nvSpPr>
          <p:cNvPr id="25" name="Text 21">
            <a:extLst xmlns:a="http://schemas.openxmlformats.org/drawingml/2006/main">
              <a:ext uri="{FF2B5EF4-FFF2-40B4-BE49-F238E27FC236}">
                <a16:creationId xmlns:a16="http://schemas.microsoft.com/office/drawing/2014/main" id="{9A49FFCB-F56C-4F05-878E-5E9380335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9976" y="2148840"/>
            <a:ext cx="4358488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E6EDF3"/>
                </a:solidFill>
                <a:latin typeface="Arial"/>
                <a:ea typeface="Arial"/>
                <a:cs typeface="Arial"/>
              </a:rPr>
              <a:t>What the role means</a:t>
            </a:r>
          </a:p>
        </p:txBody>
      </p:sp>
      <p:pic>
        <p:nvPicPr>
          <p:cNvPr id="66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5fefb51f7c849e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571336" y="2825496"/>
            <a:ext cx="237744" cy="237744"/>
          </a:xfrm>
          <a:prstGeom xmlns:a="http://schemas.openxmlformats.org/drawingml/2006/main" prst="rect">
            <a:avLst/>
          </a:prstGeom>
        </p:spPr>
      </p:pic>
      <p:sp>
        <p:nvSpPr>
          <p:cNvPr id="27" name="Text 22">
            <a:extLst xmlns:a="http://schemas.openxmlformats.org/drawingml/2006/main">
              <a:ext uri="{FF2B5EF4-FFF2-40B4-BE49-F238E27FC236}">
                <a16:creationId xmlns:a16="http://schemas.microsoft.com/office/drawing/2014/main" id="{19BB0DBE-B2C3-4501-BD4F-D7993FB05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7096" y="2752344"/>
            <a:ext cx="4358488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lnSpc>
                <a:spcPct val="100000"/>
              </a:lnSpc>
              <a:buNone/>
            </a:pPr>
            <a:r>
              <a:rPr sz="1300" b="1">
                <a:solidFill>
                  <a:srgbClr val="2DD4BF"/>
                </a:solidFill>
                <a:latin typeface="Arial"/>
                <a:ea typeface="Arial"/>
                <a:cs typeface="Arial"/>
              </a:rPr>
              <a:t>Shipped work  —  </a:t>
            </a:r>
            <a:r>
              <a:rPr sz="1300">
                <a:solidFill>
                  <a:srgbClr val="E6EDF3"/>
                </a:solidFill>
                <a:latin typeface="Arial"/>
                <a:ea typeface="Arial"/>
                <a:cs typeface="Arial"/>
              </a:rPr>
              <a:t>Built &amp; deployed ranking / search / recsys in production.</a:t>
            </a:r>
          </a:p>
        </p:txBody>
      </p:sp>
      <p:pic>
        <p:nvPicPr>
          <p:cNvPr id="68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5fefb51f7c849e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571336" y="3575304"/>
            <a:ext cx="237744" cy="237744"/>
          </a:xfrm>
          <a:prstGeom xmlns:a="http://schemas.openxmlformats.org/drawingml/2006/main" prst="rect">
            <a:avLst/>
          </a:prstGeom>
        </p:spPr>
      </p:pic>
      <p:sp>
        <p:nvSpPr>
          <p:cNvPr id="29" name="Text 23">
            <a:extLst xmlns:a="http://schemas.openxmlformats.org/drawingml/2006/main">
              <a:ext uri="{FF2B5EF4-FFF2-40B4-BE49-F238E27FC236}">
                <a16:creationId xmlns:a16="http://schemas.microsoft.com/office/drawing/2014/main" id="{5C1C0C50-75DA-47D9-A265-4C36B14B4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7096" y="3502152"/>
            <a:ext cx="4358488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lnSpc>
                <a:spcPct val="100000"/>
              </a:lnSpc>
              <a:buNone/>
            </a:pPr>
            <a:r>
              <a:rPr sz="1300" b="1">
                <a:solidFill>
                  <a:srgbClr val="2DD4BF"/>
                </a:solidFill>
                <a:latin typeface="Arial"/>
                <a:ea typeface="Arial"/>
                <a:cs typeface="Arial"/>
              </a:rPr>
              <a:t>Career trajectory  —  </a:t>
            </a:r>
            <a:r>
              <a:rPr sz="1300">
                <a:solidFill>
                  <a:srgbClr val="E6EDF3"/>
                </a:solidFill>
                <a:latin typeface="Arial"/>
                <a:ea typeface="Arial"/>
                <a:cs typeface="Arial"/>
              </a:rPr>
              <a:t>Consistent growth in relevant, product-company roles.</a:t>
            </a:r>
          </a:p>
        </p:txBody>
      </p:sp>
      <p:pic>
        <p:nvPicPr>
          <p:cNvPr id="70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5fefb51f7c849e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571336" y="4325112"/>
            <a:ext cx="237744" cy="237744"/>
          </a:xfrm>
          <a:prstGeom xmlns:a="http://schemas.openxmlformats.org/drawingml/2006/main" prst="rect">
            <a:avLst/>
          </a:prstGeom>
        </p:spPr>
      </p:pic>
      <p:sp>
        <p:nvSpPr>
          <p:cNvPr id="31" name="Text 24">
            <a:extLst xmlns:a="http://schemas.openxmlformats.org/drawingml/2006/main">
              <a:ext uri="{FF2B5EF4-FFF2-40B4-BE49-F238E27FC236}">
                <a16:creationId xmlns:a16="http://schemas.microsoft.com/office/drawing/2014/main" id="{F025201E-E7E3-4834-AD06-82967B4A7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7096" y="4251960"/>
            <a:ext cx="4358488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lnSpc>
                <a:spcPct val="100000"/>
              </a:lnSpc>
              <a:buNone/>
            </a:pPr>
            <a:r>
              <a:rPr sz="1300" b="1">
                <a:solidFill>
                  <a:srgbClr val="2DD4BF"/>
                </a:solidFill>
                <a:latin typeface="Arial"/>
                <a:ea typeface="Arial"/>
                <a:cs typeface="Arial"/>
              </a:rPr>
              <a:t>Right seniority  —  anchored on the JD's 5–9 band — juniors demoted hard; senior depth read from trajectory, not years arithmetic.</a:t>
            </a:r>
          </a:p>
        </p:txBody>
      </p:sp>
      <p:pic>
        <p:nvPicPr>
          <p:cNvPr id="72" name="Im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5fefb51f7c849e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571336" y="5074920"/>
            <a:ext cx="237744" cy="237744"/>
          </a:xfrm>
          <a:prstGeom xmlns:a="http://schemas.openxmlformats.org/drawingml/2006/main" prst="rect">
            <a:avLst/>
          </a:prstGeom>
        </p:spPr>
      </p:pic>
      <p:sp>
        <p:nvSpPr>
          <p:cNvPr id="33" name="Text 25">
            <a:extLst xmlns:a="http://schemas.openxmlformats.org/drawingml/2006/main">
              <a:ext uri="{FF2B5EF4-FFF2-40B4-BE49-F238E27FC236}">
                <a16:creationId xmlns:a16="http://schemas.microsoft.com/office/drawing/2014/main" id="{E30174D2-B628-46E0-B66A-0A211E431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7096" y="5001768"/>
            <a:ext cx="4358488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lnSpc>
                <a:spcPct val="100000"/>
              </a:lnSpc>
              <a:buNone/>
            </a:pPr>
            <a:r>
              <a:rPr sz="1300" b="1">
                <a:solidFill>
                  <a:srgbClr val="2DD4BF"/>
                </a:solidFill>
                <a:latin typeface="Arial"/>
                <a:ea typeface="Arial"/>
                <a:cs typeface="Arial"/>
              </a:rPr>
              <a:t>Actually available  —  </a:t>
            </a:r>
            <a:r>
              <a:rPr sz="1300">
                <a:solidFill>
                  <a:srgbClr val="E6EDF3"/>
                </a:solidFill>
                <a:latin typeface="Arial"/>
                <a:ea typeface="Arial"/>
                <a:cs typeface="Arial"/>
              </a:rPr>
              <a:t>Responsive, open to work, reachable notice period.</a:t>
            </a:r>
          </a:p>
        </p:txBody>
      </p:sp>
      <p:sp>
        <p:nvSpPr>
          <p:cNvPr id="34" name="Text 26">
            <a:extLst xmlns:a="http://schemas.openxmlformats.org/drawingml/2006/main">
              <a:ext uri="{FF2B5EF4-FFF2-40B4-BE49-F238E27FC236}">
                <a16:creationId xmlns:a16="http://schemas.microsoft.com/office/drawing/2014/main" id="{4F06C269-1360-4443-898E-10ED6130E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1535" y="6473952"/>
            <a:ext cx="914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6E7C8C"/>
                </a:solidFill>
                <a:latin typeface="Arial"/>
                <a:ea typeface="Arial"/>
                <a:cs typeface="Arial"/>
              </a:rPr>
              <a:t>3/14</a:t>
            </a:r>
          </a:p>
        </p:txBody>
      </p:sp>
      <p:sp>
        <p:nvSpPr>
          <p:cNvPr id="35" name="Text 27">
            <a:extLst xmlns:a="http://schemas.openxmlformats.org/drawingml/2006/main">
              <a:ext uri="{FF2B5EF4-FFF2-40B4-BE49-F238E27FC236}">
                <a16:creationId xmlns:a16="http://schemas.microsoft.com/office/drawing/2014/main" id="{E73F4597-6149-46EB-AECC-CC291D4E2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6473952"/>
            <a:ext cx="27432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 spc="200">
                <a:solidFill>
                  <a:srgbClr val="6E7C8C"/>
                </a:solidFill>
                <a:latin typeface="Arial"/>
                <a:ea typeface="Arial"/>
                <a:cs typeface="Arial"/>
              </a:rPr>
              <a:t>HIREFIT RANKER</a:t>
            </a:r>
          </a:p>
        </p:txBody>
      </p:sp>
    </p:spTree>
    <p:extLst>
      <p:ext uri="{BB962C8B-B14F-4D97-AF65-F5344CB8AC3E}">
        <p14:creationId xmlns:p14="http://schemas.microsoft.com/office/powerpoint/2010/main" val="62330568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E111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A315DCA9-AB6D-4AF2-9EFA-F555C588E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84048"/>
            <a:ext cx="10911535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>
                <a:solidFill>
                  <a:srgbClr val="8B7CF6"/>
                </a:solidFill>
                <a:latin typeface="Arial"/>
                <a:ea typeface="Arial"/>
                <a:cs typeface="Arial"/>
              </a:rPr>
              <a:t>MEASURED DISCIPLINE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74CDA097-E5C0-4266-95D7-0406927DE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658368"/>
            <a:ext cx="10911535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lnSpc>
                <a:spcPct val="98000"/>
              </a:lnSpc>
              <a:buNone/>
            </a:pPr>
            <a:r>
              <a:rPr sz="2600" b="1">
                <a:solidFill>
                  <a:srgbClr val="E6EDF3"/>
                </a:solidFill>
                <a:latin typeface="Arial"/>
                <a:ea typeface="Arial"/>
                <a:cs typeface="Arial"/>
              </a:rPr>
              <a:t>We attacked quality, configuration, and failure modes before shipping.</a:t>
            </a: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6508C95A-5563-45C7-8718-950280089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335024"/>
            <a:ext cx="10911535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9AA7B4"/>
                </a:solidFill>
                <a:latin typeface="Arial"/>
                <a:ea typeface="Arial"/>
                <a:cs typeface="Arial"/>
              </a:rPr>
              <a:t>Every claim below is tied to committed output, a test, or a reproduced run.</a:t>
            </a:r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6CDC716A-8809-4422-95AF-81AFBE1D3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874520"/>
            <a:ext cx="2522144" cy="109728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161C24"/>
          </a:solidFill>
          <a:ln xmlns:a="http://schemas.openxmlformats.org/drawingml/2006/main" w="12700">
            <a:solidFill>
              <a:srgbClr val="2A3340"/>
            </a:solidFill>
            <a:prstDash val="solid"/>
          </a:ln>
          <a:effectLst xmlns:a="http://schemas.openxmlformats.org/drawingml/2006/main"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4DD130A2-E850-4342-9A93-43BC9E779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993392"/>
            <a:ext cx="2522144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3400" b="1">
                <a:solidFill>
                  <a:srgbClr val="2DD4BF"/>
                </a:solidFill>
                <a:latin typeface="Arial"/>
                <a:ea typeface="Arial"/>
                <a:cs typeface="Arial"/>
              </a:rPr>
              <a:t>30 / 30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15701C42-5CA5-4ACA-8A58-34E2642AA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578608"/>
            <a:ext cx="2522144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9AA7B4"/>
                </a:solidFill>
                <a:latin typeface="Arial"/>
                <a:ea typeface="Arial"/>
                <a:cs typeface="Arial"/>
              </a:rPr>
              <a:t>COMPOSITES BEAT MAIN</a:t>
            </a:r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F935809B-2638-421D-95A9-B9F71E69B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6544" y="1874520"/>
            <a:ext cx="2522144" cy="109728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161C24"/>
          </a:solidFill>
          <a:ln xmlns:a="http://schemas.openxmlformats.org/drawingml/2006/main" w="12700">
            <a:solidFill>
              <a:srgbClr val="2A3340"/>
            </a:solidFill>
            <a:prstDash val="solid"/>
          </a:ln>
          <a:effectLst xmlns:a="http://schemas.openxmlformats.org/drawingml/2006/main"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0B821443-BBBA-47E4-9B85-6BD17D050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6544" y="1993392"/>
            <a:ext cx="2522144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3400" b="1">
                <a:solidFill>
                  <a:srgbClr val="2DD4BF"/>
                </a:solidFill>
                <a:latin typeface="Arial"/>
                <a:ea typeface="Arial"/>
                <a:cs typeface="Arial"/>
              </a:rPr>
              <a:t>10K</a:t>
            </a:r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101F241F-8077-4BFD-BC6F-C29C5A483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6544" y="2578608"/>
            <a:ext cx="2522144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9AA7B4"/>
                </a:solidFill>
                <a:latin typeface="Arial"/>
                <a:ea typeface="Arial"/>
                <a:cs typeface="Arial"/>
              </a:rPr>
              <a:t>CORRUPT OUTPUTS REJECTED</a:t>
            </a:r>
          </a:p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41049BAC-C5C4-41EA-8E6C-ED17A4B49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3008" y="1874520"/>
            <a:ext cx="2522144" cy="109728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161C24"/>
          </a:solidFill>
          <a:ln xmlns:a="http://schemas.openxmlformats.org/drawingml/2006/main" w="12700">
            <a:solidFill>
              <a:srgbClr val="2A3340"/>
            </a:solidFill>
            <a:prstDash val="solid"/>
          </a:ln>
          <a:effectLst xmlns:a="http://schemas.openxmlformats.org/drawingml/2006/main"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2D9157BE-DC22-4541-9CEA-EA2ADA74D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3008" y="1993392"/>
            <a:ext cx="2522144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3400" b="1">
                <a:solidFill>
                  <a:srgbClr val="2DD4BF"/>
                </a:solidFill>
                <a:latin typeface="Arial"/>
                <a:ea typeface="Arial"/>
                <a:cs typeface="Arial"/>
              </a:rPr>
              <a:t>9,750</a:t>
            </a:r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B88C3052-0487-45E4-BE40-FE63BA763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3008" y="2578608"/>
            <a:ext cx="2522144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9AA7B4"/>
                </a:solidFill>
                <a:latin typeface="Arial"/>
                <a:ea typeface="Arial"/>
                <a:cs typeface="Arial"/>
              </a:rPr>
              <a:t>INVALID CONFIGS REJECTED</a:t>
            </a:r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2872A2F1-04D3-4F0F-88FF-E669F78DC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471" y="1874520"/>
            <a:ext cx="2522144" cy="109728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161C24"/>
          </a:solidFill>
          <a:ln xmlns:a="http://schemas.openxmlformats.org/drawingml/2006/main" w="12700">
            <a:solidFill>
              <a:srgbClr val="2A3340"/>
            </a:solidFill>
            <a:prstDash val="solid"/>
          </a:ln>
          <a:effectLst xmlns:a="http://schemas.openxmlformats.org/drawingml/2006/main"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36067FD6-4002-4778-830B-8DF813D63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471" y="1993392"/>
            <a:ext cx="2522144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3400" b="1">
                <a:solidFill>
                  <a:srgbClr val="34D399"/>
                </a:solidFill>
                <a:latin typeface="Arial"/>
                <a:ea typeface="Arial"/>
                <a:cs typeface="Arial"/>
              </a:rPr>
              <a:t>262</a:t>
            </a:r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D330E155-40BD-4223-A6D3-0920A6308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471" y="2578608"/>
            <a:ext cx="2522144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9AA7B4"/>
                </a:solidFill>
                <a:latin typeface="Arial"/>
                <a:ea typeface="Arial"/>
                <a:cs typeface="Arial"/>
              </a:rPr>
              <a:t>TESTS PASSED</a:t>
            </a:r>
          </a:p>
        </p:txBody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5C254DD7-3F2B-4E44-A9A0-6FE0DBDA9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200400"/>
            <a:ext cx="5272888" cy="1874520"/>
          </a:xfrm>
          <a:prstGeom xmlns:a="http://schemas.openxmlformats.org/drawingml/2006/main" prst="roundRect">
            <a:avLst>
              <a:gd name="adj" fmla="val 5854"/>
            </a:avLst>
          </a:prstGeom>
          <a:solidFill xmlns:a="http://schemas.openxmlformats.org/drawingml/2006/main">
            <a:srgbClr val="161C24"/>
          </a:solidFill>
          <a:ln xmlns:a="http://schemas.openxmlformats.org/drawingml/2006/main" w="12700">
            <a:solidFill>
              <a:srgbClr val="2A3340"/>
            </a:solidFill>
            <a:prstDash val="solid"/>
          </a:ln>
          <a:effectLst xmlns:a="http://schemas.openxmlformats.org/drawingml/2006/main"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FAAFE16F-A123-4420-B41F-557EE4686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429000"/>
            <a:ext cx="420624" cy="420624"/>
          </a:xfrm>
          <a:prstGeom xmlns:a="http://schemas.openxmlformats.org/drawingml/2006/main" prst="roundRect">
            <a:avLst>
              <a:gd name="adj" fmla="val 15217"/>
            </a:avLst>
          </a:prstGeom>
          <a:solidFill xmlns:a="http://schemas.openxmlformats.org/drawingml/2006/main">
            <a:srgbClr val="F2B544">
              <a:alpha val="18000"/>
            </a:srgbClr>
          </a:solidFill>
          <a:ln xmlns:a="http://schemas.openxmlformats.org/drawingml/2006/main" w="12700">
            <a:solidFill>
              <a:srgbClr val="F2B544">
                <a:alpha val="45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5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73688ad7a96444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06937" y="3521537"/>
            <a:ext cx="235549" cy="235549"/>
          </a:xfrm>
          <a:prstGeom xmlns:a="http://schemas.openxmlformats.org/drawingml/2006/main" prst="rect">
            <a:avLst/>
          </a:prstGeom>
        </p:spPr>
      </p:pic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CEE93EDF-A8A8-4598-8B0B-263CCAC2D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4752" y="3429000"/>
            <a:ext cx="4358488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E6EDF3"/>
                </a:solidFill>
                <a:latin typeface="Arial"/>
                <a:ea typeface="Arial"/>
                <a:cs typeface="Arial"/>
              </a:rPr>
              <a:t>Quality evidence</a:t>
            </a:r>
          </a:p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983C9AF5-9749-4A25-AD84-106ECC8D5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3931920"/>
            <a:ext cx="472424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lnSpc>
                <a:spcPct val="98000"/>
              </a:lnSpc>
              <a:buNone/>
            </a:pPr>
            <a:r>
              <a:rPr sz="1100" b="1">
                <a:solidFill>
                  <a:srgbClr val="2DD4BF"/>
                </a:solidFill>
                <a:latin typeface="Arial"/>
                <a:ea typeface="Arial"/>
                <a:cs typeface="Arial"/>
              </a:rPr>
              <a:t>Main comparison   V6 wins all 30 composites across 15 evaluator families and two missing-label policies</a:t>
            </a:r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E511519F-C591-422A-B40A-1C6FFE77E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4315968"/>
            <a:ext cx="472424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lnSpc>
                <a:spcPct val="98000"/>
              </a:lnSpc>
              <a:buNone/>
            </a:pPr>
            <a:r>
              <a:rPr sz="1100" b="1">
                <a:solidFill>
                  <a:srgbClr val="2DD4BF"/>
                </a:solidFill>
                <a:latin typeface="Arial"/>
                <a:ea typeface="Arial"/>
                <a:cs typeface="Arial"/>
              </a:rPr>
              <a:t>Public field   #1/673 on mean7; #1/100 on strongest union; #3/322 on four-axis balance</a:t>
            </a:r>
          </a:p>
        </p:txBody>
      </p:sp>
      <p:sp>
        <p:nvSpPr>
          <p:cNvPr id="23" name="Text 20">
            <a:extLst xmlns:a="http://schemas.openxmlformats.org/drawingml/2006/main">
              <a:ext uri="{FF2B5EF4-FFF2-40B4-BE49-F238E27FC236}">
                <a16:creationId xmlns:a16="http://schemas.microsoft.com/office/drawing/2014/main" id="{A286FB7D-0976-474C-B575-C60CA2B7E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4700016"/>
            <a:ext cx="472424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lnSpc>
                <a:spcPct val="98000"/>
              </a:lnSpc>
              <a:buNone/>
            </a:pPr>
            <a:r>
              <a:rPr sz="1100" b="1">
                <a:solidFill>
                  <a:srgbClr val="2DD4BF"/>
                </a:solidFill>
                <a:latin typeface="Arial"/>
                <a:ea typeface="Arial"/>
                <a:cs typeface="Arial"/>
              </a:rPr>
              <a:t>Exact release   one pinned input, one pinned model, one expected output hash</a:t>
            </a:r>
          </a:p>
        </p:txBody>
      </p:sp>
      <p:sp>
        <p:nvSpPr>
          <p:cNvPr id="24" name="Shape 21">
            <a:extLst xmlns:a="http://schemas.openxmlformats.org/drawingml/2006/main">
              <a:ext uri="{FF2B5EF4-FFF2-40B4-BE49-F238E27FC236}">
                <a16:creationId xmlns:a16="http://schemas.microsoft.com/office/drawing/2014/main" id="{9F30964A-7DA2-46C1-8DA4-859E5D322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8728" y="3200400"/>
            <a:ext cx="5272888" cy="1874520"/>
          </a:xfrm>
          <a:prstGeom xmlns:a="http://schemas.openxmlformats.org/drawingml/2006/main" prst="roundRect">
            <a:avLst>
              <a:gd name="adj" fmla="val 5854"/>
            </a:avLst>
          </a:prstGeom>
          <a:solidFill xmlns:a="http://schemas.openxmlformats.org/drawingml/2006/main">
            <a:srgbClr val="1B2330"/>
          </a:solidFill>
          <a:ln xmlns:a="http://schemas.openxmlformats.org/drawingml/2006/main" w="12700">
            <a:solidFill>
              <a:srgbClr val="2A3340"/>
            </a:solidFill>
            <a:prstDash val="solid"/>
          </a:ln>
          <a:effectLst xmlns:a="http://schemas.openxmlformats.org/drawingml/2006/main"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A44E7326-384E-407E-9CF8-78250B2AB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048" y="3429000"/>
            <a:ext cx="420624" cy="420624"/>
          </a:xfrm>
          <a:prstGeom xmlns:a="http://schemas.openxmlformats.org/drawingml/2006/main" prst="roundRect">
            <a:avLst>
              <a:gd name="adj" fmla="val 15217"/>
            </a:avLst>
          </a:prstGeom>
          <a:solidFill xmlns:a="http://schemas.openxmlformats.org/drawingml/2006/main">
            <a:srgbClr val="2DD4BF">
              <a:alpha val="18000"/>
            </a:srgbClr>
          </a:solidFill>
          <a:ln xmlns:a="http://schemas.openxmlformats.org/drawingml/2006/main" w="12700">
            <a:solidFill>
              <a:srgbClr val="2DD4BF">
                <a:alpha val="45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61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1f5302f759b4ce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645585" y="3521537"/>
            <a:ext cx="235549" cy="235549"/>
          </a:xfrm>
          <a:prstGeom xmlns:a="http://schemas.openxmlformats.org/drawingml/2006/main" prst="rect">
            <a:avLst/>
          </a:prstGeom>
        </p:spPr>
      </p:pic>
      <p:sp>
        <p:nvSpPr>
          <p:cNvPr id="27" name="Text 23">
            <a:extLst xmlns:a="http://schemas.openxmlformats.org/drawingml/2006/main">
              <a:ext uri="{FF2B5EF4-FFF2-40B4-BE49-F238E27FC236}">
                <a16:creationId xmlns:a16="http://schemas.microsoft.com/office/drawing/2014/main" id="{B1ECC819-AD44-4932-BD7E-0BE8C2BD2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3400" y="3429000"/>
            <a:ext cx="4358488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2DD4BF"/>
                </a:solidFill>
                <a:latin typeface="Arial"/>
                <a:ea typeface="Arial"/>
                <a:cs typeface="Arial"/>
              </a:rPr>
              <a:t>Battle-proof before shipping</a:t>
            </a:r>
          </a:p>
        </p:txBody>
      </p:sp>
      <p:sp>
        <p:nvSpPr>
          <p:cNvPr id="28" name="Text 24">
            <a:extLst xmlns:a="http://schemas.openxmlformats.org/drawingml/2006/main">
              <a:ext uri="{FF2B5EF4-FFF2-40B4-BE49-F238E27FC236}">
                <a16:creationId xmlns:a16="http://schemas.microsoft.com/office/drawing/2014/main" id="{DF980FCA-03CC-4B15-A29C-D22676618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1336" y="3931920"/>
            <a:ext cx="4724248" cy="1005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lnSpc>
                <a:spcPct val="110000"/>
              </a:lnSpc>
              <a:buNone/>
            </a:pPr>
            <a:r>
              <a:rPr sz="1100">
                <a:solidFill>
                  <a:srgbClr val="E6EDF3"/>
                </a:solidFill>
                <a:latin typeface="Arial"/>
                <a:ea typeface="Arial"/>
                <a:cs typeface="Arial"/>
              </a:rPr>
              <a:t>Release mode rejects experimental flags, validates every row and integrity count, then publishes atomically. A forced 3 GiB OOM preserved the previous output and left zero mounted temporary files.</a:t>
            </a:r>
          </a:p>
        </p:txBody>
      </p:sp>
      <p:sp>
        <p:nvSpPr>
          <p:cNvPr id="29" name="Shape 25">
            <a:extLst xmlns:a="http://schemas.openxmlformats.org/drawingml/2006/main">
              <a:ext uri="{FF2B5EF4-FFF2-40B4-BE49-F238E27FC236}">
                <a16:creationId xmlns:a16="http://schemas.microsoft.com/office/drawing/2014/main" id="{23BAA7FE-364E-4EF7-A0C8-BDFF6C4CB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257800"/>
            <a:ext cx="10911535" cy="658368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61C24"/>
          </a:solidFill>
          <a:ln xmlns:a="http://schemas.openxmlformats.org/drawingml/2006/main" w="12700">
            <a:solidFill>
              <a:srgbClr val="2A3340"/>
            </a:solidFill>
            <a:prstDash val="solid"/>
          </a:ln>
          <a:effectLst xmlns:a="http://schemas.openxmlformats.org/drawingml/2006/main"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65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9da71a3ae324ce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14400" y="5413248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31" name="Text 26">
            <a:extLst xmlns:a="http://schemas.openxmlformats.org/drawingml/2006/main">
              <a:ext uri="{FF2B5EF4-FFF2-40B4-BE49-F238E27FC236}">
                <a16:creationId xmlns:a16="http://schemas.microsoft.com/office/drawing/2014/main" id="{CB5DD151-B8C4-4789-ADCE-17DEE4121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5257800"/>
            <a:ext cx="9905695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lnSpc>
                <a:spcPct val="100000"/>
              </a:lnSpc>
              <a:buNone/>
            </a:pPr>
            <a:r>
              <a:rPr sz="1200" b="1">
                <a:solidFill>
                  <a:srgbClr val="F2B544"/>
                </a:solidFill>
                <a:latin typeface="Arial"/>
                <a:ea typeface="Arial"/>
                <a:cs typeface="Arial"/>
              </a:rPr>
              <a:t>Honest framing: public ranks are local comparisons; official challenge weights and hidden labels are not published.</a:t>
            </a:r>
          </a:p>
        </p:txBody>
      </p:sp>
      <p:sp>
        <p:nvSpPr>
          <p:cNvPr id="32" name="Text 27">
            <a:extLst xmlns:a="http://schemas.openxmlformats.org/drawingml/2006/main">
              <a:ext uri="{FF2B5EF4-FFF2-40B4-BE49-F238E27FC236}">
                <a16:creationId xmlns:a16="http://schemas.microsoft.com/office/drawing/2014/main" id="{49B8FB90-2A23-431B-8B09-EF4B03440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1535" y="6473952"/>
            <a:ext cx="914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6E7C8C"/>
                </a:solidFill>
                <a:latin typeface="Arial"/>
                <a:ea typeface="Arial"/>
                <a:cs typeface="Arial"/>
              </a:rPr>
              <a:t>4/14</a:t>
            </a:r>
          </a:p>
        </p:txBody>
      </p:sp>
      <p:sp>
        <p:nvSpPr>
          <p:cNvPr id="33" name="Text 28">
            <a:extLst xmlns:a="http://schemas.openxmlformats.org/drawingml/2006/main">
              <a:ext uri="{FF2B5EF4-FFF2-40B4-BE49-F238E27FC236}">
                <a16:creationId xmlns:a16="http://schemas.microsoft.com/office/drawing/2014/main" id="{20E07825-EE1A-4416-A74C-058CDBF24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6473952"/>
            <a:ext cx="27432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 spc="200">
                <a:solidFill>
                  <a:srgbClr val="6E7C8C"/>
                </a:solidFill>
                <a:latin typeface="Arial"/>
                <a:ea typeface="Arial"/>
                <a:cs typeface="Arial"/>
              </a:rPr>
              <a:t>HIREFIT RANKER</a:t>
            </a:r>
          </a:p>
        </p:txBody>
      </p:sp>
    </p:spTree>
    <p:extLst>
      <p:ext uri="{BB962C8B-B14F-4D97-AF65-F5344CB8AC3E}">
        <p14:creationId xmlns:p14="http://schemas.microsoft.com/office/powerpoint/2010/main" val="144089983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E111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44621AFE-7E14-4CE3-8804-F653ECC8D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84048"/>
            <a:ext cx="10911535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 spc="300">
                <a:solidFill>
                  <a:srgbClr val="8B7CF6"/>
                </a:solidFill>
                <a:latin typeface="Arial"/>
                <a:ea typeface="Arial"/>
                <a:cs typeface="Arial"/>
              </a:rPr>
              <a:t>THE SYSTEM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CEA2D3D5-CFC8-41CB-8FC3-CA54086FB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658368"/>
            <a:ext cx="10911535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lnSpc>
                <a:spcPct val="98000"/>
              </a:lnSpc>
              <a:buNone/>
            </a:pPr>
            <a:r>
              <a:rPr sz="2600" b="1">
                <a:solidFill>
                  <a:srgbClr val="E6EDF3"/>
                </a:solidFill>
                <a:latin typeface="Arial"/>
                <a:ea typeface="Arial"/>
                <a:cs typeface="Arial"/>
              </a:rPr>
              <a:t>Deterministic at rank time — exact output guarded at release.</a:t>
            </a: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5889A66D-8618-4E0F-8728-2EBD79E9F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335024"/>
            <a:ext cx="10911535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9AA7B4"/>
                </a:solidFill>
                <a:latin typeface="Arial"/>
                <a:ea typeface="Arial"/>
                <a:cs typeface="Arial"/>
              </a:rPr>
              <a:t>Six CPU-only stages, no network or GPU; V6 adds hash checks, full validation, and atomic publish.</a:t>
            </a:r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8C221A00-6100-4602-97A1-30C4F0D08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011680"/>
            <a:ext cx="1627632" cy="150876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161C24"/>
          </a:solidFill>
          <a:ln xmlns:a="http://schemas.openxmlformats.org/drawingml/2006/main" w="12700">
            <a:solidFill>
              <a:srgbClr val="2A3340"/>
            </a:solidFill>
            <a:prstDash val="solid"/>
          </a:ln>
          <a:effectLst xmlns:a="http://schemas.openxmlformats.org/drawingml/2006/main"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9E9120ED-1495-49F2-9B9B-4BA0093C8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2212848"/>
            <a:ext cx="384048" cy="38404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7CF6">
              <a:alpha val="22000"/>
            </a:srgbClr>
          </a:solidFill>
          <a:ln xmlns:a="http://schemas.openxmlformats.org/drawingml/2006/main" w="12700">
            <a:solidFill>
              <a:srgbClr val="8B7CF6">
                <a:alpha val="60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5269FE67-9198-47F4-9CC4-CC97EC645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2212848"/>
            <a:ext cx="38404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8B7CF6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195CD2D3-A259-44A5-A42A-ABC35580F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2697480"/>
            <a:ext cx="1298448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E6EDF3"/>
                </a:solidFill>
                <a:latin typeface="Arial"/>
                <a:ea typeface="Arial"/>
                <a:cs typeface="Arial"/>
              </a:rPr>
              <a:t>Parse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4F0A913C-4809-42B0-9F4C-072C869DA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2999232"/>
            <a:ext cx="1298448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lnSpc>
                <a:spcPct val="95000"/>
              </a:lnSpc>
              <a:buNone/>
            </a:pPr>
            <a:r>
              <a:rPr sz="1000">
                <a:solidFill>
                  <a:srgbClr val="9AA7B4"/>
                </a:solidFill>
                <a:latin typeface="Arial"/>
                <a:ea typeface="Arial"/>
                <a:cs typeface="Arial"/>
              </a:rPr>
              <a:t>structured</a:t>
            </a:r>
          </a:p>
          <a:p xmlns:a="http://schemas.openxmlformats.org/drawingml/2006/main">
            <a:pPr marL="0" indent="0">
              <a:lnSpc>
                <a:spcPct val="95000"/>
              </a:lnSpc>
              <a:buNone/>
            </a:pPr>
            <a:r>
              <a:rPr sz="1000">
                <a:solidFill>
                  <a:srgbClr val="9AA7B4"/>
                </a:solidFill>
                <a:latin typeface="Arial"/>
                <a:ea typeface="Arial"/>
                <a:cs typeface="Arial"/>
              </a:rPr>
              <a:t>text</a:t>
            </a:r>
          </a:p>
        </p:txBody>
      </p:sp>
      <p:pic>
        <p:nvPicPr>
          <p:cNvPr id="6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eee3c375f074e1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276856" y="2651760"/>
            <a:ext cx="146304" cy="146304"/>
          </a:xfrm>
          <a:prstGeom xmlns:a="http://schemas.openxmlformats.org/drawingml/2006/main" prst="rect">
            <a:avLst/>
          </a:prstGeom>
        </p:spPr>
      </p:pic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F1A4D6C3-9E6B-40C9-9841-2B802F5BB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2304" y="2011680"/>
            <a:ext cx="1627632" cy="150876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161C24"/>
          </a:solidFill>
          <a:ln xmlns:a="http://schemas.openxmlformats.org/drawingml/2006/main" w="12700">
            <a:solidFill>
              <a:srgbClr val="2A3340"/>
            </a:solidFill>
            <a:prstDash val="solid"/>
          </a:ln>
          <a:effectLst xmlns:a="http://schemas.openxmlformats.org/drawingml/2006/main"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374B3317-E2E4-4B46-867A-015C8A45F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3472" y="2212848"/>
            <a:ext cx="384048" cy="38404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7CF6">
              <a:alpha val="22000"/>
            </a:srgbClr>
          </a:solidFill>
          <a:ln xmlns:a="http://schemas.openxmlformats.org/drawingml/2006/main" w="12700">
            <a:solidFill>
              <a:srgbClr val="8B7CF6">
                <a:alpha val="60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F6E42435-21A4-40A2-89A3-4E919642D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3472" y="2212848"/>
            <a:ext cx="38404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8B7CF6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8E590891-3D47-45DD-972A-F70320369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6896" y="2697480"/>
            <a:ext cx="1298448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E6EDF3"/>
                </a:solidFill>
                <a:latin typeface="Arial"/>
                <a:ea typeface="Arial"/>
                <a:cs typeface="Arial"/>
              </a:rPr>
              <a:t>BM25</a:t>
            </a:r>
          </a:p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66C56644-3AD5-4B12-98E4-059FDE3F0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6896" y="2999232"/>
            <a:ext cx="1298448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lnSpc>
                <a:spcPct val="95000"/>
              </a:lnSpc>
              <a:buNone/>
            </a:pPr>
            <a:r>
              <a:rPr sz="1000">
                <a:solidFill>
                  <a:srgbClr val="9AA7B4"/>
                </a:solidFill>
                <a:latin typeface="Arial"/>
                <a:ea typeface="Arial"/>
                <a:cs typeface="Arial"/>
              </a:rPr>
              <a:t>lexical</a:t>
            </a:r>
          </a:p>
          <a:p xmlns:a="http://schemas.openxmlformats.org/drawingml/2006/main">
            <a:pPr marL="0" indent="0">
              <a:lnSpc>
                <a:spcPct val="95000"/>
              </a:lnSpc>
              <a:buNone/>
            </a:pPr>
            <a:r>
              <a:rPr sz="1000">
                <a:solidFill>
                  <a:srgbClr val="9AA7B4"/>
                </a:solidFill>
                <a:latin typeface="Arial"/>
                <a:ea typeface="Arial"/>
                <a:cs typeface="Arial"/>
              </a:rPr>
              <a:t>relevance</a:t>
            </a:r>
          </a:p>
        </p:txBody>
      </p:sp>
      <p:pic>
        <p:nvPicPr>
          <p:cNvPr id="75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eee3c375f074e1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069080" y="2651760"/>
            <a:ext cx="146304" cy="146304"/>
          </a:xfrm>
          <a:prstGeom xmlns:a="http://schemas.openxmlformats.org/drawingml/2006/main" prst="rect">
            <a:avLst/>
          </a:prstGeom>
        </p:spPr>
      </p:pic>
      <p:sp>
        <p:nvSpPr>
          <p:cNvPr id="17" name="Shape 13">
            <a:extLst xmlns:a="http://schemas.openxmlformats.org/drawingml/2006/main">
              <a:ext uri="{FF2B5EF4-FFF2-40B4-BE49-F238E27FC236}">
                <a16:creationId xmlns:a16="http://schemas.microsoft.com/office/drawing/2014/main" id="{D1BFEDE3-98C3-43FE-A654-A6F8BB8DF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4528" y="2011680"/>
            <a:ext cx="1627632" cy="150876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161C24"/>
          </a:solidFill>
          <a:ln xmlns:a="http://schemas.openxmlformats.org/drawingml/2006/main" w="12700">
            <a:solidFill>
              <a:srgbClr val="2A3340"/>
            </a:solidFill>
            <a:prstDash val="solid"/>
          </a:ln>
          <a:effectLst xmlns:a="http://schemas.openxmlformats.org/drawingml/2006/main"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Shape 14">
            <a:extLst xmlns:a="http://schemas.openxmlformats.org/drawingml/2006/main">
              <a:ext uri="{FF2B5EF4-FFF2-40B4-BE49-F238E27FC236}">
                <a16:creationId xmlns:a16="http://schemas.microsoft.com/office/drawing/2014/main" id="{0CB187B3-8822-4B07-87F0-2DA6608DD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5696" y="2212848"/>
            <a:ext cx="384048" cy="38404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7CF6">
              <a:alpha val="22000"/>
            </a:srgbClr>
          </a:solidFill>
          <a:ln xmlns:a="http://schemas.openxmlformats.org/drawingml/2006/main" w="12700">
            <a:solidFill>
              <a:srgbClr val="8B7CF6">
                <a:alpha val="60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Text 15">
            <a:extLst xmlns:a="http://schemas.openxmlformats.org/drawingml/2006/main">
              <a:ext uri="{FF2B5EF4-FFF2-40B4-BE49-F238E27FC236}">
                <a16:creationId xmlns:a16="http://schemas.microsoft.com/office/drawing/2014/main" id="{9051ABB6-3D18-4729-A28E-13830376E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5696" y="2212848"/>
            <a:ext cx="38404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8B7CF6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0" name="Text 16">
            <a:extLst xmlns:a="http://schemas.openxmlformats.org/drawingml/2006/main">
              <a:ext uri="{FF2B5EF4-FFF2-40B4-BE49-F238E27FC236}">
                <a16:creationId xmlns:a16="http://schemas.microsoft.com/office/drawing/2014/main" id="{CABCEE96-8B98-479D-A831-B0E85BDB9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0" y="2697480"/>
            <a:ext cx="1298448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E6EDF3"/>
                </a:solidFill>
                <a:latin typeface="Arial"/>
                <a:ea typeface="Arial"/>
                <a:cs typeface="Arial"/>
              </a:rPr>
              <a:t>Semantic</a:t>
            </a:r>
          </a:p>
        </p:txBody>
      </p:sp>
      <p:sp>
        <p:nvSpPr>
          <p:cNvPr id="21" name="Text 17">
            <a:extLst xmlns:a="http://schemas.openxmlformats.org/drawingml/2006/main">
              <a:ext uri="{FF2B5EF4-FFF2-40B4-BE49-F238E27FC236}">
                <a16:creationId xmlns:a16="http://schemas.microsoft.com/office/drawing/2014/main" id="{F9B61B46-46E2-4109-99F3-A323298A2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0" y="2999232"/>
            <a:ext cx="1298448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lnSpc>
                <a:spcPct val="95000"/>
              </a:lnSpc>
              <a:buNone/>
            </a:pPr>
            <a:r>
              <a:rPr sz="1000">
                <a:solidFill>
                  <a:srgbClr val="9AA7B4"/>
                </a:solidFill>
                <a:latin typeface="Arial"/>
                <a:ea typeface="Arial"/>
                <a:cs typeface="Arial"/>
              </a:rPr>
              <a:t>concept</a:t>
            </a:r>
          </a:p>
          <a:p xmlns:a="http://schemas.openxmlformats.org/drawingml/2006/main">
            <a:pPr marL="0" indent="0">
              <a:lnSpc>
                <a:spcPct val="95000"/>
              </a:lnSpc>
              <a:buNone/>
            </a:pPr>
            <a:r>
              <a:rPr sz="1000">
                <a:solidFill>
                  <a:srgbClr val="9AA7B4"/>
                </a:solidFill>
                <a:latin typeface="Arial"/>
                <a:ea typeface="Arial"/>
                <a:cs typeface="Arial"/>
              </a:rPr>
              <a:t>expansion</a:t>
            </a:r>
          </a:p>
        </p:txBody>
      </p:sp>
      <p:pic>
        <p:nvPicPr>
          <p:cNvPr id="81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eee3c375f074e1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861304" y="2651760"/>
            <a:ext cx="146304" cy="146304"/>
          </a:xfrm>
          <a:prstGeom xmlns:a="http://schemas.openxmlformats.org/drawingml/2006/main" prst="rect">
            <a:avLst/>
          </a:prstGeom>
        </p:spPr>
      </p:pic>
      <p:sp>
        <p:nvSpPr>
          <p:cNvPr id="23" name="Shape 18">
            <a:extLst xmlns:a="http://schemas.openxmlformats.org/drawingml/2006/main">
              <a:ext uri="{FF2B5EF4-FFF2-40B4-BE49-F238E27FC236}">
                <a16:creationId xmlns:a16="http://schemas.microsoft.com/office/drawing/2014/main" id="{8AD1B95D-46E3-4A3A-A656-4A99370D4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6752" y="2011680"/>
            <a:ext cx="1627632" cy="150876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161C24"/>
          </a:solidFill>
          <a:ln xmlns:a="http://schemas.openxmlformats.org/drawingml/2006/main" w="12700">
            <a:solidFill>
              <a:srgbClr val="2A3340"/>
            </a:solidFill>
            <a:prstDash val="solid"/>
          </a:ln>
          <a:effectLst xmlns:a="http://schemas.openxmlformats.org/drawingml/2006/main"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Shape 19">
            <a:extLst xmlns:a="http://schemas.openxmlformats.org/drawingml/2006/main">
              <a:ext uri="{FF2B5EF4-FFF2-40B4-BE49-F238E27FC236}">
                <a16:creationId xmlns:a16="http://schemas.microsoft.com/office/drawing/2014/main" id="{5A77A8FE-5317-40A1-90AA-BAB535F62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2212848"/>
            <a:ext cx="384048" cy="38404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7CF6">
              <a:alpha val="22000"/>
            </a:srgbClr>
          </a:solidFill>
          <a:ln xmlns:a="http://schemas.openxmlformats.org/drawingml/2006/main" w="12700">
            <a:solidFill>
              <a:srgbClr val="8B7CF6">
                <a:alpha val="60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5" name="Text 20">
            <a:extLst xmlns:a="http://schemas.openxmlformats.org/drawingml/2006/main">
              <a:ext uri="{FF2B5EF4-FFF2-40B4-BE49-F238E27FC236}">
                <a16:creationId xmlns:a16="http://schemas.microsoft.com/office/drawing/2014/main" id="{B98D34E9-7A35-4080-B67A-0867DA6C4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2212848"/>
            <a:ext cx="38404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8B7CF6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6" name="Text 21">
            <a:extLst xmlns:a="http://schemas.openxmlformats.org/drawingml/2006/main">
              <a:ext uri="{FF2B5EF4-FFF2-40B4-BE49-F238E27FC236}">
                <a16:creationId xmlns:a16="http://schemas.microsoft.com/office/drawing/2014/main" id="{457C5CBC-C85D-4EC0-8FD9-9F358F852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344" y="2697480"/>
            <a:ext cx="1298448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E6EDF3"/>
                </a:solidFill>
                <a:latin typeface="Arial"/>
                <a:ea typeface="Arial"/>
                <a:cs typeface="Arial"/>
              </a:rPr>
              <a:t>33 features</a:t>
            </a:r>
          </a:p>
        </p:txBody>
      </p:sp>
      <p:sp>
        <p:nvSpPr>
          <p:cNvPr id="27" name="Text 22">
            <a:extLst xmlns:a="http://schemas.openxmlformats.org/drawingml/2006/main">
              <a:ext uri="{FF2B5EF4-FFF2-40B4-BE49-F238E27FC236}">
                <a16:creationId xmlns:a16="http://schemas.microsoft.com/office/drawing/2014/main" id="{DA859F56-C4C3-48AF-936E-3881673ED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344" y="2999232"/>
            <a:ext cx="1298448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lnSpc>
                <a:spcPct val="95000"/>
              </a:lnSpc>
              <a:buNone/>
            </a:pPr>
            <a:r>
              <a:rPr sz="1000">
                <a:solidFill>
                  <a:srgbClr val="9AA7B4"/>
                </a:solidFill>
                <a:latin typeface="Arial"/>
                <a:ea typeface="Arial"/>
                <a:cs typeface="Arial"/>
              </a:rPr>
              <a:t>recruiter</a:t>
            </a:r>
          </a:p>
          <a:p xmlns:a="http://schemas.openxmlformats.org/drawingml/2006/main">
            <a:pPr marL="0" indent="0">
              <a:lnSpc>
                <a:spcPct val="95000"/>
              </a:lnSpc>
              <a:buNone/>
            </a:pPr>
            <a:r>
              <a:rPr sz="1000">
                <a:solidFill>
                  <a:srgbClr val="9AA7B4"/>
                </a:solidFill>
                <a:latin typeface="Arial"/>
                <a:ea typeface="Arial"/>
                <a:cs typeface="Arial"/>
              </a:rPr>
              <a:t>matrix</a:t>
            </a:r>
          </a:p>
        </p:txBody>
      </p:sp>
      <p:pic>
        <p:nvPicPr>
          <p:cNvPr id="87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eee3c375f074e1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653528" y="2651760"/>
            <a:ext cx="146304" cy="146304"/>
          </a:xfrm>
          <a:prstGeom xmlns:a="http://schemas.openxmlformats.org/drawingml/2006/main" prst="rect">
            <a:avLst/>
          </a:prstGeom>
        </p:spPr>
      </p:pic>
      <p:sp>
        <p:nvSpPr>
          <p:cNvPr id="29" name="Shape 23">
            <a:extLst xmlns:a="http://schemas.openxmlformats.org/drawingml/2006/main">
              <a:ext uri="{FF2B5EF4-FFF2-40B4-BE49-F238E27FC236}">
                <a16:creationId xmlns:a16="http://schemas.microsoft.com/office/drawing/2014/main" id="{BAD99D30-8F5F-4D6B-9A79-06521EFDC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08976" y="2011680"/>
            <a:ext cx="1627632" cy="150876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161C24"/>
          </a:solidFill>
          <a:ln xmlns:a="http://schemas.openxmlformats.org/drawingml/2006/main" w="12700">
            <a:solidFill>
              <a:srgbClr val="2A3340"/>
            </a:solidFill>
            <a:prstDash val="solid"/>
          </a:ln>
          <a:effectLst xmlns:a="http://schemas.openxmlformats.org/drawingml/2006/main"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Shape 24">
            <a:extLst xmlns:a="http://schemas.openxmlformats.org/drawingml/2006/main">
              <a:ext uri="{FF2B5EF4-FFF2-40B4-BE49-F238E27FC236}">
                <a16:creationId xmlns:a16="http://schemas.microsoft.com/office/drawing/2014/main" id="{A22F711F-1377-41EA-A1F2-9E62371E9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0144" y="2212848"/>
            <a:ext cx="384048" cy="38404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7CF6">
              <a:alpha val="22000"/>
            </a:srgbClr>
          </a:solidFill>
          <a:ln xmlns:a="http://schemas.openxmlformats.org/drawingml/2006/main" w="12700">
            <a:solidFill>
              <a:srgbClr val="8B7CF6">
                <a:alpha val="60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1" name="Text 25">
            <a:extLst xmlns:a="http://schemas.openxmlformats.org/drawingml/2006/main">
              <a:ext uri="{FF2B5EF4-FFF2-40B4-BE49-F238E27FC236}">
                <a16:creationId xmlns:a16="http://schemas.microsoft.com/office/drawing/2014/main" id="{C4FDC3C2-ED23-42B3-B236-2A6F64A24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0144" y="2212848"/>
            <a:ext cx="38404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8B7CF6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32" name="Text 26">
            <a:extLst xmlns:a="http://schemas.openxmlformats.org/drawingml/2006/main">
              <a:ext uri="{FF2B5EF4-FFF2-40B4-BE49-F238E27FC236}">
                <a16:creationId xmlns:a16="http://schemas.microsoft.com/office/drawing/2014/main" id="{2FD59420-3283-44CD-A9FC-AAD743C69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3568" y="2697480"/>
            <a:ext cx="1298448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E6EDF3"/>
                </a:solidFill>
                <a:latin typeface="Arial"/>
                <a:ea typeface="Arial"/>
                <a:cs typeface="Arial"/>
              </a:rPr>
              <a:t>Base score</a:t>
            </a:r>
          </a:p>
        </p:txBody>
      </p:sp>
      <p:sp>
        <p:nvSpPr>
          <p:cNvPr id="33" name="Text 27">
            <a:extLst xmlns:a="http://schemas.openxmlformats.org/drawingml/2006/main">
              <a:ext uri="{FF2B5EF4-FFF2-40B4-BE49-F238E27FC236}">
                <a16:creationId xmlns:a16="http://schemas.microsoft.com/office/drawing/2014/main" id="{6B2B0FCA-A970-4CE4-A796-599C34BAC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3568" y="2999232"/>
            <a:ext cx="1298448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lnSpc>
                <a:spcPct val="95000"/>
              </a:lnSpc>
              <a:buNone/>
            </a:pPr>
            <a:r>
              <a:rPr sz="1000">
                <a:solidFill>
                  <a:srgbClr val="9AA7B4"/>
                </a:solidFill>
                <a:latin typeface="Arial"/>
                <a:ea typeface="Arial"/>
                <a:cs typeface="Arial"/>
              </a:rPr>
              <a:t>weighted</a:t>
            </a:r>
          </a:p>
          <a:p xmlns:a="http://schemas.openxmlformats.org/drawingml/2006/main">
            <a:pPr marL="0" indent="0">
              <a:lnSpc>
                <a:spcPct val="95000"/>
              </a:lnSpc>
              <a:buNone/>
            </a:pPr>
            <a:r>
              <a:rPr sz="1000">
                <a:solidFill>
                  <a:srgbClr val="9AA7B4"/>
                </a:solidFill>
                <a:latin typeface="Arial"/>
                <a:ea typeface="Arial"/>
                <a:cs typeface="Arial"/>
              </a:rPr>
              <a:t>aggregate</a:t>
            </a:r>
          </a:p>
        </p:txBody>
      </p:sp>
      <p:pic>
        <p:nvPicPr>
          <p:cNvPr id="93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eee3c375f074e1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445752" y="2651760"/>
            <a:ext cx="146304" cy="146304"/>
          </a:xfrm>
          <a:prstGeom xmlns:a="http://schemas.openxmlformats.org/drawingml/2006/main" prst="rect">
            <a:avLst/>
          </a:prstGeom>
        </p:spPr>
      </p:pic>
      <p:sp>
        <p:nvSpPr>
          <p:cNvPr id="35" name="Shape 28">
            <a:extLst xmlns:a="http://schemas.openxmlformats.org/drawingml/2006/main">
              <a:ext uri="{FF2B5EF4-FFF2-40B4-BE49-F238E27FC236}">
                <a16:creationId xmlns:a16="http://schemas.microsoft.com/office/drawing/2014/main" id="{33641ADF-8BD1-4C0B-AA63-5818CBF04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2011680"/>
            <a:ext cx="1627632" cy="150876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161C24"/>
          </a:solidFill>
          <a:ln xmlns:a="http://schemas.openxmlformats.org/drawingml/2006/main" w="12700">
            <a:solidFill>
              <a:srgbClr val="2A3340"/>
            </a:solidFill>
            <a:prstDash val="solid"/>
          </a:ln>
          <a:effectLst xmlns:a="http://schemas.openxmlformats.org/drawingml/2006/main"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6" name="Shape 29">
            <a:extLst xmlns:a="http://schemas.openxmlformats.org/drawingml/2006/main">
              <a:ext uri="{FF2B5EF4-FFF2-40B4-BE49-F238E27FC236}">
                <a16:creationId xmlns:a16="http://schemas.microsoft.com/office/drawing/2014/main" id="{80DAA0E3-C1E4-4A0F-9998-6BEE762AA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2368" y="2212848"/>
            <a:ext cx="384048" cy="38404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7CF6">
              <a:alpha val="22000"/>
            </a:srgbClr>
          </a:solidFill>
          <a:ln xmlns:a="http://schemas.openxmlformats.org/drawingml/2006/main" w="12700">
            <a:solidFill>
              <a:srgbClr val="8B7CF6">
                <a:alpha val="60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7" name="Text 30">
            <a:extLst xmlns:a="http://schemas.openxmlformats.org/drawingml/2006/main">
              <a:ext uri="{FF2B5EF4-FFF2-40B4-BE49-F238E27FC236}">
                <a16:creationId xmlns:a16="http://schemas.microsoft.com/office/drawing/2014/main" id="{4C37B0B5-E021-4920-BEB5-A877B95DC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2368" y="2212848"/>
            <a:ext cx="38404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8B7CF6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38" name="Text 31">
            <a:extLst xmlns:a="http://schemas.openxmlformats.org/drawingml/2006/main">
              <a:ext uri="{FF2B5EF4-FFF2-40B4-BE49-F238E27FC236}">
                <a16:creationId xmlns:a16="http://schemas.microsoft.com/office/drawing/2014/main" id="{0186D3F9-47F2-4976-B761-92B9F2BED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65792" y="2697480"/>
            <a:ext cx="1298448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E6EDF3"/>
                </a:solidFill>
                <a:latin typeface="Arial"/>
                <a:ea typeface="Arial"/>
                <a:cs typeface="Arial"/>
              </a:rPr>
              <a:t>Guardrails</a:t>
            </a:r>
          </a:p>
        </p:txBody>
      </p:sp>
      <p:sp>
        <p:nvSpPr>
          <p:cNvPr id="39" name="Text 32">
            <a:extLst xmlns:a="http://schemas.openxmlformats.org/drawingml/2006/main">
              <a:ext uri="{FF2B5EF4-FFF2-40B4-BE49-F238E27FC236}">
                <a16:creationId xmlns:a16="http://schemas.microsoft.com/office/drawing/2014/main" id="{816BCC03-7BD9-443C-AFF2-A75706993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65792" y="2999232"/>
            <a:ext cx="1298448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lnSpc>
                <a:spcPct val="95000"/>
              </a:lnSpc>
              <a:buNone/>
            </a:pPr>
            <a:r>
              <a:rPr sz="1000">
                <a:solidFill>
                  <a:srgbClr val="9AA7B4"/>
                </a:solidFill>
                <a:latin typeface="Arial"/>
                <a:ea typeface="Arial"/>
                <a:cs typeface="Arial"/>
              </a:rPr>
              <a:t>behavior · honeypot ·</a:t>
            </a:r>
          </a:p>
          <a:p xmlns:a="http://schemas.openxmlformats.org/drawingml/2006/main">
            <a:pPr marL="0" indent="0">
              <a:lnSpc>
                <a:spcPct val="95000"/>
              </a:lnSpc>
              <a:buNone/>
            </a:pPr>
            <a:r>
              <a:rPr sz="1000">
                <a:solidFill>
                  <a:srgbClr val="9AA7B4"/>
                </a:solidFill>
                <a:latin typeface="Arial"/>
                <a:ea typeface="Arial"/>
                <a:cs typeface="Arial"/>
              </a:rPr>
              <a:t>disqualifier</a:t>
            </a:r>
          </a:p>
        </p:txBody>
      </p:sp>
      <p:sp>
        <p:nvSpPr>
          <p:cNvPr id="40" name="Shape 33">
            <a:extLst xmlns:a="http://schemas.openxmlformats.org/drawingml/2006/main">
              <a:ext uri="{FF2B5EF4-FFF2-40B4-BE49-F238E27FC236}">
                <a16:creationId xmlns:a16="http://schemas.microsoft.com/office/drawing/2014/main" id="{B5FBE89F-1456-4AA2-A94D-3A1981D6F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840480"/>
            <a:ext cx="10911535" cy="1051560"/>
          </a:xfrm>
          <a:prstGeom xmlns:a="http://schemas.openxmlformats.org/drawingml/2006/main" prst="roundRect">
            <a:avLst>
              <a:gd name="adj" fmla="val 10435"/>
            </a:avLst>
          </a:prstGeom>
          <a:solidFill xmlns:a="http://schemas.openxmlformats.org/drawingml/2006/main">
            <a:srgbClr val="1B2330"/>
          </a:solidFill>
          <a:ln xmlns:a="http://schemas.openxmlformats.org/drawingml/2006/main" w="12700">
            <a:solidFill>
              <a:srgbClr val="2A3340"/>
            </a:solidFill>
            <a:prstDash val="solid"/>
          </a:ln>
          <a:effectLst xmlns:a="http://schemas.openxmlformats.org/drawingml/2006/main"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1" name="Text 34">
            <a:extLst xmlns:a="http://schemas.openxmlformats.org/drawingml/2006/main">
              <a:ext uri="{FF2B5EF4-FFF2-40B4-BE49-F238E27FC236}">
                <a16:creationId xmlns:a16="http://schemas.microsoft.com/office/drawing/2014/main" id="{506453F0-2B97-46EB-A333-69137EB7C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950208"/>
            <a:ext cx="10911535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000" b="1">
                <a:solidFill>
                  <a:srgbClr val="2DD4BF"/>
                </a:solidFill>
                <a:latin typeface="Arial"/>
                <a:ea typeface="Arial"/>
                <a:cs typeface="Arial"/>
              </a:rPr>
              <a:t>Final score</a:t>
            </a:r>
            <a:r>
              <a:rPr sz="2000" b="1">
                <a:solidFill>
                  <a:srgbClr val="E6EDF3"/>
                </a:solidFill>
                <a:latin typeface="Arial"/>
                <a:ea typeface="Arial"/>
                <a:cs typeface="Arial"/>
              </a:rPr>
              <a:t>  =  base score  </a:t>
            </a:r>
            <a:r>
              <a:rPr sz="2000" b="1">
                <a:solidFill>
                  <a:srgbClr val="6E7C8C"/>
                </a:solidFill>
                <a:latin typeface="Arial"/>
                <a:ea typeface="Arial"/>
                <a:cs typeface="Arial"/>
              </a:rPr>
              <a:t>×</a:t>
            </a:r>
            <a:r>
              <a:rPr sz="2000" b="1">
                <a:solidFill>
                  <a:srgbClr val="8B7CF6"/>
                </a:solidFill>
                <a:latin typeface="Arial"/>
                <a:ea typeface="Arial"/>
                <a:cs typeface="Arial"/>
              </a:rPr>
              <a:t>  behavioral  </a:t>
            </a:r>
            <a:r>
              <a:rPr sz="2000" b="1">
                <a:solidFill>
                  <a:srgbClr val="6E7C8C"/>
                </a:solidFill>
                <a:latin typeface="Arial"/>
                <a:ea typeface="Arial"/>
                <a:cs typeface="Arial"/>
              </a:rPr>
              <a:t>×</a:t>
            </a:r>
            <a:r>
              <a:rPr sz="2000" b="1">
                <a:solidFill>
                  <a:srgbClr val="8B7CF6"/>
                </a:solidFill>
                <a:latin typeface="Arial"/>
                <a:ea typeface="Arial"/>
                <a:cs typeface="Arial"/>
              </a:rPr>
              <a:t>  honeypot  </a:t>
            </a:r>
            <a:r>
              <a:rPr sz="2000" b="1">
                <a:solidFill>
                  <a:srgbClr val="6E7C8C"/>
                </a:solidFill>
                <a:latin typeface="Arial"/>
                <a:ea typeface="Arial"/>
                <a:cs typeface="Arial"/>
              </a:rPr>
              <a:t>×</a:t>
            </a:r>
            <a:r>
              <a:rPr sz="2000" b="1">
                <a:solidFill>
                  <a:srgbClr val="8B7CF6"/>
                </a:solidFill>
                <a:latin typeface="Arial"/>
                <a:ea typeface="Arial"/>
                <a:cs typeface="Arial"/>
              </a:rPr>
              <a:t>  disqualifier</a:t>
            </a:r>
          </a:p>
        </p:txBody>
      </p:sp>
      <p:sp>
        <p:nvSpPr>
          <p:cNvPr id="42" name="Text 35">
            <a:extLst xmlns:a="http://schemas.openxmlformats.org/drawingml/2006/main">
              <a:ext uri="{FF2B5EF4-FFF2-40B4-BE49-F238E27FC236}">
                <a16:creationId xmlns:a16="http://schemas.microsoft.com/office/drawing/2014/main" id="{3D659CF6-225F-414C-BDF9-45766FA79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4434840"/>
            <a:ext cx="10180015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9AA7B4"/>
                </a:solidFill>
                <a:latin typeface="Arial"/>
                <a:ea typeface="Arial"/>
                <a:cs typeface="Arial"/>
              </a:rPr>
              <a:t>Guardrails are multiplicative — a strong-on-paper profile that is impossible, off-target, or unreachable is pushed down no matter how good its keywords look.</a:t>
            </a:r>
          </a:p>
        </p:txBody>
      </p:sp>
      <p:sp>
        <p:nvSpPr>
          <p:cNvPr id="43" name="Text 36">
            <a:extLst xmlns:a="http://schemas.openxmlformats.org/drawingml/2006/main">
              <a:ext uri="{FF2B5EF4-FFF2-40B4-BE49-F238E27FC236}">
                <a16:creationId xmlns:a16="http://schemas.microsoft.com/office/drawing/2014/main" id="{E0C6AB2C-5324-4ADD-B661-C7161C10A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212080"/>
            <a:ext cx="146304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150">
                <a:solidFill>
                  <a:srgbClr val="6E7C8C"/>
                </a:solidFill>
                <a:latin typeface="Arial"/>
                <a:ea typeface="Arial"/>
                <a:cs typeface="Arial"/>
              </a:rPr>
              <a:t>RUNS UNDER:</a:t>
            </a:r>
          </a:p>
        </p:txBody>
      </p:sp>
      <p:sp>
        <p:nvSpPr>
          <p:cNvPr id="44" name="Shape 37">
            <a:extLst xmlns:a="http://schemas.openxmlformats.org/drawingml/2006/main">
              <a:ext uri="{FF2B5EF4-FFF2-40B4-BE49-F238E27FC236}">
                <a16:creationId xmlns:a16="http://schemas.microsoft.com/office/drawing/2014/main" id="{E3C966E0-D994-4299-839A-40142B4A4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3120" y="5212080"/>
            <a:ext cx="960120" cy="310896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2330"/>
          </a:solidFill>
          <a:ln xmlns:a="http://schemas.openxmlformats.org/drawingml/2006/main" w="12700">
            <a:solidFill>
              <a:srgbClr val="2DD4BF">
                <a:alpha val="60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5" name="Text 38">
            <a:extLst xmlns:a="http://schemas.openxmlformats.org/drawingml/2006/main">
              <a:ext uri="{FF2B5EF4-FFF2-40B4-BE49-F238E27FC236}">
                <a16:creationId xmlns:a16="http://schemas.microsoft.com/office/drawing/2014/main" id="{8899438F-89DA-424F-8C85-C44B598FB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3120" y="5212080"/>
            <a:ext cx="96012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2DD4BF"/>
                </a:solidFill>
                <a:latin typeface="Arial"/>
                <a:ea typeface="Arial"/>
                <a:cs typeface="Arial"/>
              </a:rPr>
              <a:t>✓  </a:t>
            </a:r>
            <a:r>
              <a:rPr sz="950">
                <a:solidFill>
                  <a:srgbClr val="9AA7B4"/>
                </a:solidFill>
                <a:latin typeface="Arial"/>
                <a:ea typeface="Arial"/>
                <a:cs typeface="Arial"/>
              </a:rPr>
              <a:t>Offline</a:t>
            </a:r>
          </a:p>
        </p:txBody>
      </p:sp>
      <p:sp>
        <p:nvSpPr>
          <p:cNvPr id="46" name="Shape 39">
            <a:extLst xmlns:a="http://schemas.openxmlformats.org/drawingml/2006/main">
              <a:ext uri="{FF2B5EF4-FFF2-40B4-BE49-F238E27FC236}">
                <a16:creationId xmlns:a16="http://schemas.microsoft.com/office/drawing/2014/main" id="{C8559471-A22A-40AB-ADB7-784032B3A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2112" y="5212080"/>
            <a:ext cx="960120" cy="310896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2330"/>
          </a:solidFill>
          <a:ln xmlns:a="http://schemas.openxmlformats.org/drawingml/2006/main" w="12700">
            <a:solidFill>
              <a:srgbClr val="2DD4BF">
                <a:alpha val="60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7" name="Text 40">
            <a:extLst xmlns:a="http://schemas.openxmlformats.org/drawingml/2006/main">
              <a:ext uri="{FF2B5EF4-FFF2-40B4-BE49-F238E27FC236}">
                <a16:creationId xmlns:a16="http://schemas.microsoft.com/office/drawing/2014/main" id="{9421BDEB-D461-46E5-AE16-55BE76534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2112" y="5212080"/>
            <a:ext cx="96012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2DD4BF"/>
                </a:solidFill>
                <a:latin typeface="Arial"/>
                <a:ea typeface="Arial"/>
                <a:cs typeface="Arial"/>
              </a:rPr>
              <a:t>✓  </a:t>
            </a:r>
            <a:r>
              <a:rPr sz="950">
                <a:solidFill>
                  <a:srgbClr val="9AA7B4"/>
                </a:solidFill>
                <a:latin typeface="Arial"/>
                <a:ea typeface="Arial"/>
                <a:cs typeface="Arial"/>
              </a:rPr>
              <a:t>CPU-only</a:t>
            </a:r>
          </a:p>
        </p:txBody>
      </p:sp>
      <p:sp>
        <p:nvSpPr>
          <p:cNvPr id="48" name="Shape 41">
            <a:extLst xmlns:a="http://schemas.openxmlformats.org/drawingml/2006/main">
              <a:ext uri="{FF2B5EF4-FFF2-40B4-BE49-F238E27FC236}">
                <a16:creationId xmlns:a16="http://schemas.microsoft.com/office/drawing/2014/main" id="{BF2A400F-7EEF-46E9-BD48-0A0BC4096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1104" y="5212080"/>
            <a:ext cx="960120" cy="310896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2330"/>
          </a:solidFill>
          <a:ln xmlns:a="http://schemas.openxmlformats.org/drawingml/2006/main" w="12700">
            <a:solidFill>
              <a:srgbClr val="2DD4BF">
                <a:alpha val="60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9" name="Text 42">
            <a:extLst xmlns:a="http://schemas.openxmlformats.org/drawingml/2006/main">
              <a:ext uri="{FF2B5EF4-FFF2-40B4-BE49-F238E27FC236}">
                <a16:creationId xmlns:a16="http://schemas.microsoft.com/office/drawing/2014/main" id="{B2440797-3265-4577-BBDE-4765662FD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1104" y="5212080"/>
            <a:ext cx="96012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2DD4BF"/>
                </a:solidFill>
                <a:latin typeface="Arial"/>
                <a:ea typeface="Arial"/>
                <a:cs typeface="Arial"/>
              </a:rPr>
              <a:t>✓  </a:t>
            </a:r>
            <a:r>
              <a:rPr sz="950">
                <a:solidFill>
                  <a:srgbClr val="9AA7B4"/>
                </a:solidFill>
                <a:latin typeface="Arial"/>
                <a:ea typeface="Arial"/>
                <a:cs typeface="Arial"/>
              </a:rPr>
              <a:t>No GPU</a:t>
            </a:r>
          </a:p>
        </p:txBody>
      </p:sp>
      <p:sp>
        <p:nvSpPr>
          <p:cNvPr id="50" name="Shape 43">
            <a:extLst xmlns:a="http://schemas.openxmlformats.org/drawingml/2006/main">
              <a:ext uri="{FF2B5EF4-FFF2-40B4-BE49-F238E27FC236}">
                <a16:creationId xmlns:a16="http://schemas.microsoft.com/office/drawing/2014/main" id="{FC8B32E9-9E2C-4FDC-B9E9-CBDCFEE4B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0096" y="5212080"/>
            <a:ext cx="960120" cy="310896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2330"/>
          </a:solidFill>
          <a:ln xmlns:a="http://schemas.openxmlformats.org/drawingml/2006/main" w="12700">
            <a:solidFill>
              <a:srgbClr val="8B7CF6">
                <a:alpha val="60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1" name="Text 44">
            <a:extLst xmlns:a="http://schemas.openxmlformats.org/drawingml/2006/main">
              <a:ext uri="{FF2B5EF4-FFF2-40B4-BE49-F238E27FC236}">
                <a16:creationId xmlns:a16="http://schemas.microsoft.com/office/drawing/2014/main" id="{929B07B6-A548-4D31-937B-CDCCFD587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0096" y="5212080"/>
            <a:ext cx="96012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8B7CF6"/>
                </a:solidFill>
                <a:latin typeface="Arial"/>
                <a:ea typeface="Arial"/>
                <a:cs typeface="Arial"/>
              </a:rPr>
              <a:t>✓  </a:t>
            </a:r>
            <a:r>
              <a:rPr sz="950">
                <a:solidFill>
                  <a:srgbClr val="9AA7B4"/>
                </a:solidFill>
                <a:latin typeface="Arial"/>
                <a:ea typeface="Arial"/>
                <a:cs typeface="Arial"/>
              </a:rPr>
              <a:t>Deterministic</a:t>
            </a:r>
          </a:p>
        </p:txBody>
      </p:sp>
      <p:sp>
        <p:nvSpPr>
          <p:cNvPr id="52" name="Shape 45">
            <a:extLst xmlns:a="http://schemas.openxmlformats.org/drawingml/2006/main">
              <a:ext uri="{FF2B5EF4-FFF2-40B4-BE49-F238E27FC236}">
                <a16:creationId xmlns:a16="http://schemas.microsoft.com/office/drawing/2014/main" id="{54294D96-1E75-4D67-AEA2-847ABEB77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088" y="5212080"/>
            <a:ext cx="960120" cy="310896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2330"/>
          </a:solidFill>
          <a:ln xmlns:a="http://schemas.openxmlformats.org/drawingml/2006/main" w="12700">
            <a:solidFill>
              <a:srgbClr val="8B7CF6">
                <a:alpha val="60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3" name="Text 46">
            <a:extLst xmlns:a="http://schemas.openxmlformats.org/drawingml/2006/main">
              <a:ext uri="{FF2B5EF4-FFF2-40B4-BE49-F238E27FC236}">
                <a16:creationId xmlns:a16="http://schemas.microsoft.com/office/drawing/2014/main" id="{68973F40-36FB-40D5-8B31-A35AAA984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088" y="5212080"/>
            <a:ext cx="96012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8B7CF6"/>
                </a:solidFill>
                <a:latin typeface="Arial"/>
                <a:ea typeface="Arial"/>
                <a:cs typeface="Arial"/>
              </a:rPr>
              <a:t>✓  </a:t>
            </a:r>
            <a:r>
              <a:rPr sz="950">
                <a:solidFill>
                  <a:srgbClr val="9AA7B4"/>
                </a:solidFill>
                <a:latin typeface="Arial"/>
                <a:ea typeface="Arial"/>
                <a:cs typeface="Arial"/>
              </a:rPr>
              <a:t>bm25s backend</a:t>
            </a:r>
          </a:p>
        </p:txBody>
      </p:sp>
      <p:sp>
        <p:nvSpPr>
          <p:cNvPr id="54" name="Text 47">
            <a:extLst xmlns:a="http://schemas.openxmlformats.org/drawingml/2006/main">
              <a:ext uri="{FF2B5EF4-FFF2-40B4-BE49-F238E27FC236}">
                <a16:creationId xmlns:a16="http://schemas.microsoft.com/office/drawing/2014/main" id="{8F14A10E-A9B0-40B5-9F30-98D03FEB1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1535" y="6473952"/>
            <a:ext cx="914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6E7C8C"/>
                </a:solidFill>
                <a:latin typeface="Arial"/>
                <a:ea typeface="Arial"/>
                <a:cs typeface="Arial"/>
              </a:rPr>
              <a:t>5/14</a:t>
            </a:r>
          </a:p>
        </p:txBody>
      </p:sp>
      <p:sp>
        <p:nvSpPr>
          <p:cNvPr id="55" name="Text 48">
            <a:extLst xmlns:a="http://schemas.openxmlformats.org/drawingml/2006/main">
              <a:ext uri="{FF2B5EF4-FFF2-40B4-BE49-F238E27FC236}">
                <a16:creationId xmlns:a16="http://schemas.microsoft.com/office/drawing/2014/main" id="{702AF512-7B09-4D87-8C42-736B2A250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6473952"/>
            <a:ext cx="27432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 spc="200">
                <a:solidFill>
                  <a:srgbClr val="6E7C8C"/>
                </a:solidFill>
                <a:latin typeface="Arial"/>
                <a:ea typeface="Arial"/>
                <a:cs typeface="Arial"/>
              </a:rPr>
              <a:t>HIREFIT RANKER</a:t>
            </a:r>
          </a:p>
        </p:txBody>
      </p:sp>
    </p:spTree>
    <p:extLst>
      <p:ext uri="{BB962C8B-B14F-4D97-AF65-F5344CB8AC3E}">
        <p14:creationId xmlns:p14="http://schemas.microsoft.com/office/powerpoint/2010/main" val="25754931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E111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D9A2287B-B7DF-40E7-A9B0-EB9A85160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84048"/>
            <a:ext cx="10911535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 spc="300">
                <a:solidFill>
                  <a:srgbClr val="8B7CF6"/>
                </a:solidFill>
                <a:latin typeface="Arial"/>
                <a:ea typeface="Arial"/>
                <a:cs typeface="Arial"/>
              </a:rPr>
              <a:t>HOW IT READS A CANDIDATE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080B168B-5153-4808-A623-C7DE4B1F0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658368"/>
            <a:ext cx="10911535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lnSpc>
                <a:spcPct val="98000"/>
              </a:lnSpc>
              <a:buNone/>
            </a:pPr>
            <a:r>
              <a:rPr sz="2600" b="1">
                <a:solidFill>
                  <a:srgbClr val="E6EDF3"/>
                </a:solidFill>
                <a:latin typeface="Arial"/>
                <a:ea typeface="Arial"/>
                <a:cs typeface="Arial"/>
              </a:rPr>
              <a:t>33 features separate keyword lists from recruiter-plausible fit.</a:t>
            </a: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CE27EE67-A4B4-495D-BA54-0AB5CD129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335024"/>
            <a:ext cx="10911535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9AA7B4"/>
                </a:solidFill>
                <a:latin typeface="Arial"/>
                <a:ea typeface="Arial"/>
                <a:cs typeface="Arial"/>
              </a:rPr>
              <a:t>Each signal is computed deterministically from profile facts — and every rank decomposes back into them.</a:t>
            </a:r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D906196E-0EA2-41D0-9A7B-9F8339F01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874520"/>
            <a:ext cx="3454298" cy="1417320"/>
          </a:xfrm>
          <a:prstGeom xmlns:a="http://schemas.openxmlformats.org/drawingml/2006/main" prst="roundRect">
            <a:avLst>
              <a:gd name="adj" fmla="val 7742"/>
            </a:avLst>
          </a:prstGeom>
          <a:solidFill xmlns:a="http://schemas.openxmlformats.org/drawingml/2006/main">
            <a:srgbClr val="161C24"/>
          </a:solidFill>
          <a:ln xmlns:a="http://schemas.openxmlformats.org/drawingml/2006/main" w="12700">
            <a:solidFill>
              <a:srgbClr val="2A3340"/>
            </a:solidFill>
            <a:prstDash val="solid"/>
          </a:ln>
          <a:effectLst xmlns:a="http://schemas.openxmlformats.org/drawingml/2006/main"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AF012476-0077-4178-A83B-B6D98A614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" y="2112264"/>
            <a:ext cx="420624" cy="420624"/>
          </a:xfrm>
          <a:prstGeom xmlns:a="http://schemas.openxmlformats.org/drawingml/2006/main" prst="roundRect">
            <a:avLst>
              <a:gd name="adj" fmla="val 15217"/>
            </a:avLst>
          </a:prstGeom>
          <a:solidFill xmlns:a="http://schemas.openxmlformats.org/drawingml/2006/main">
            <a:srgbClr val="8B7CF6">
              <a:alpha val="18000"/>
            </a:srgbClr>
          </a:solidFill>
          <a:ln xmlns:a="http://schemas.openxmlformats.org/drawingml/2006/main" w="12700">
            <a:solidFill>
              <a:srgbClr val="8B7CF6">
                <a:alpha val="45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58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3b5a93e654e4bb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70361" y="2204801"/>
            <a:ext cx="235549" cy="235549"/>
          </a:xfrm>
          <a:prstGeom xmlns:a="http://schemas.openxmlformats.org/drawingml/2006/main" prst="rect">
            <a:avLst/>
          </a:prstGeom>
        </p:spPr>
      </p:pic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92F39EB2-CD53-47D3-B536-99C104BE8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2112264"/>
            <a:ext cx="1808378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 b="1">
                <a:solidFill>
                  <a:srgbClr val="E6EDF3"/>
                </a:solidFill>
                <a:latin typeface="Arial"/>
                <a:ea typeface="Arial"/>
                <a:cs typeface="Arial"/>
              </a:rPr>
              <a:t>Skills &amp; depth</a:t>
            </a:r>
          </a:p>
        </p:txBody>
      </p:sp>
      <p:sp>
        <p:nvSpPr>
          <p:cNvPr id="9" name="Shape 6">
            <a:extLst xmlns:a="http://schemas.openxmlformats.org/drawingml/2006/main">
              <a:ext uri="{FF2B5EF4-FFF2-40B4-BE49-F238E27FC236}">
                <a16:creationId xmlns:a16="http://schemas.microsoft.com/office/drawing/2014/main" id="{DF503AE7-80C0-4F1F-87E0-932E0E4DD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25698" y="2148840"/>
            <a:ext cx="960120" cy="310896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2330"/>
          </a:solidFill>
          <a:ln xmlns:a="http://schemas.openxmlformats.org/drawingml/2006/main" w="12700">
            <a:solidFill>
              <a:srgbClr val="2DD4BF">
                <a:alpha val="60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1304A64E-9D0E-4DEF-9206-014D5CED3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25698" y="2148840"/>
            <a:ext cx="96012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2DD4BF"/>
                </a:solidFill>
                <a:latin typeface="Arial"/>
                <a:ea typeface="Arial"/>
                <a:cs typeface="Arial"/>
              </a:rPr>
              <a:t>10 features  </a:t>
            </a:r>
          </a:p>
        </p:txBody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06583C64-DB73-4CAA-9AAA-5AED6BBBF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" y="2606040"/>
            <a:ext cx="297881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lnSpc>
                <a:spcPct val="100000"/>
              </a:lnSpc>
              <a:buNone/>
            </a:pPr>
            <a:r>
              <a:rPr sz="1100">
                <a:solidFill>
                  <a:srgbClr val="9AA7B4"/>
                </a:solidFill>
                <a:latin typeface="Arial"/>
                <a:ea typeface="Arial"/>
                <a:cs typeface="Arial"/>
              </a:rPr>
              <a:t>core / nice-to-have match, skill depth, endorsement trust, assessment scores, GitHub, semantic (HyRE) match</a:t>
            </a:r>
          </a:p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BDE170F5-ABEA-40BB-B521-77176C8D7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8698" y="1874520"/>
            <a:ext cx="3454298" cy="1417320"/>
          </a:xfrm>
          <a:prstGeom xmlns:a="http://schemas.openxmlformats.org/drawingml/2006/main" prst="roundRect">
            <a:avLst>
              <a:gd name="adj" fmla="val 7742"/>
            </a:avLst>
          </a:prstGeom>
          <a:solidFill xmlns:a="http://schemas.openxmlformats.org/drawingml/2006/main">
            <a:srgbClr val="161C24"/>
          </a:solidFill>
          <a:ln xmlns:a="http://schemas.openxmlformats.org/drawingml/2006/main" w="12700">
            <a:solidFill>
              <a:srgbClr val="2A3340"/>
            </a:solidFill>
            <a:prstDash val="solid"/>
          </a:ln>
          <a:effectLst xmlns:a="http://schemas.openxmlformats.org/drawingml/2006/main"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B38A6FB8-43C1-4FC3-A308-12F3A2910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6442" y="2112264"/>
            <a:ext cx="420624" cy="420624"/>
          </a:xfrm>
          <a:prstGeom xmlns:a="http://schemas.openxmlformats.org/drawingml/2006/main" prst="roundRect">
            <a:avLst>
              <a:gd name="adj" fmla="val 15217"/>
            </a:avLst>
          </a:prstGeom>
          <a:solidFill xmlns:a="http://schemas.openxmlformats.org/drawingml/2006/main">
            <a:srgbClr val="8B7CF6">
              <a:alpha val="18000"/>
            </a:srgbClr>
          </a:solidFill>
          <a:ln xmlns:a="http://schemas.openxmlformats.org/drawingml/2006/main" w="12700">
            <a:solidFill>
              <a:srgbClr val="8B7CF6">
                <a:alpha val="45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65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2a70efa563c47f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698980" y="2204801"/>
            <a:ext cx="235549" cy="235549"/>
          </a:xfrm>
          <a:prstGeom xmlns:a="http://schemas.openxmlformats.org/drawingml/2006/main" prst="rect">
            <a:avLst/>
          </a:prstGeom>
        </p:spPr>
      </p:pic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9344B7EE-C646-47A1-ADE2-396925209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5938" y="2112264"/>
            <a:ext cx="1808378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 b="1">
                <a:solidFill>
                  <a:srgbClr val="E6EDF3"/>
                </a:solidFill>
                <a:latin typeface="Arial"/>
                <a:ea typeface="Arial"/>
                <a:cs typeface="Arial"/>
              </a:rPr>
              <a:t>Career evidence</a:t>
            </a:r>
          </a:p>
        </p:txBody>
      </p:sp>
      <p:sp>
        <p:nvSpPr>
          <p:cNvPr id="16" name="Shape 12">
            <a:extLst xmlns:a="http://schemas.openxmlformats.org/drawingml/2006/main">
              <a:ext uri="{FF2B5EF4-FFF2-40B4-BE49-F238E27FC236}">
                <a16:creationId xmlns:a16="http://schemas.microsoft.com/office/drawing/2014/main" id="{29A8DC58-0760-4B41-97E4-F7424E7CC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4317" y="2148840"/>
            <a:ext cx="960120" cy="310896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2330"/>
          </a:solidFill>
          <a:ln xmlns:a="http://schemas.openxmlformats.org/drawingml/2006/main" w="12700">
            <a:solidFill>
              <a:srgbClr val="2DD4BF">
                <a:alpha val="60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Text 13">
            <a:extLst xmlns:a="http://schemas.openxmlformats.org/drawingml/2006/main">
              <a:ext uri="{FF2B5EF4-FFF2-40B4-BE49-F238E27FC236}">
                <a16:creationId xmlns:a16="http://schemas.microsoft.com/office/drawing/2014/main" id="{8C2F0EA8-AA84-456D-B6B5-332D4D888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4317" y="2148840"/>
            <a:ext cx="96012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2DD4BF"/>
                </a:solidFill>
                <a:latin typeface="Arial"/>
                <a:ea typeface="Arial"/>
                <a:cs typeface="Arial"/>
              </a:rPr>
              <a:t>11 features  </a:t>
            </a:r>
          </a:p>
        </p:txBody>
      </p:sp>
      <p:sp>
        <p:nvSpPr>
          <p:cNvPr id="18" name="Text 14">
            <a:extLst xmlns:a="http://schemas.openxmlformats.org/drawingml/2006/main">
              <a:ext uri="{FF2B5EF4-FFF2-40B4-BE49-F238E27FC236}">
                <a16:creationId xmlns:a16="http://schemas.microsoft.com/office/drawing/2014/main" id="{21D1C9F0-B113-4550-A84B-D64609DE7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6442" y="2606040"/>
            <a:ext cx="297881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lnSpc>
                <a:spcPct val="100000"/>
              </a:lnSpc>
              <a:buNone/>
            </a:pPr>
            <a:r>
              <a:rPr sz="1100">
                <a:solidFill>
                  <a:srgbClr val="9AA7B4"/>
                </a:solidFill>
                <a:latin typeface="Arial"/>
                <a:ea typeface="Arial"/>
                <a:cs typeface="Arial"/>
              </a:rPr>
              <a:t>product-company ratio, IR/ranking experience, production evidence, seniority, trajectory, scale, role-family depth (backend, data/BI)</a:t>
            </a:r>
          </a:p>
        </p:txBody>
      </p:sp>
      <p:sp>
        <p:nvSpPr>
          <p:cNvPr id="19" name="Shape 15">
            <a:extLst xmlns:a="http://schemas.openxmlformats.org/drawingml/2006/main">
              <a:ext uri="{FF2B5EF4-FFF2-40B4-BE49-F238E27FC236}">
                <a16:creationId xmlns:a16="http://schemas.microsoft.com/office/drawing/2014/main" id="{66ABC503-748D-4A76-AD26-24C301A2A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7317" y="1874520"/>
            <a:ext cx="3454298" cy="1417320"/>
          </a:xfrm>
          <a:prstGeom xmlns:a="http://schemas.openxmlformats.org/drawingml/2006/main" prst="roundRect">
            <a:avLst>
              <a:gd name="adj" fmla="val 7742"/>
            </a:avLst>
          </a:prstGeom>
          <a:solidFill xmlns:a="http://schemas.openxmlformats.org/drawingml/2006/main">
            <a:srgbClr val="161C24"/>
          </a:solidFill>
          <a:ln xmlns:a="http://schemas.openxmlformats.org/drawingml/2006/main" w="12700">
            <a:solidFill>
              <a:srgbClr val="2A3340"/>
            </a:solidFill>
            <a:prstDash val="solid"/>
          </a:ln>
          <a:effectLst xmlns:a="http://schemas.openxmlformats.org/drawingml/2006/main"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Shape 16">
            <a:extLst xmlns:a="http://schemas.openxmlformats.org/drawingml/2006/main">
              <a:ext uri="{FF2B5EF4-FFF2-40B4-BE49-F238E27FC236}">
                <a16:creationId xmlns:a16="http://schemas.microsoft.com/office/drawing/2014/main" id="{8A40BB4B-BC55-44F0-9CE0-EEEDC3C46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5061" y="2112264"/>
            <a:ext cx="420624" cy="420624"/>
          </a:xfrm>
          <a:prstGeom xmlns:a="http://schemas.openxmlformats.org/drawingml/2006/main" prst="roundRect">
            <a:avLst>
              <a:gd name="adj" fmla="val 15217"/>
            </a:avLst>
          </a:prstGeom>
          <a:solidFill xmlns:a="http://schemas.openxmlformats.org/drawingml/2006/main">
            <a:srgbClr val="8B7CF6">
              <a:alpha val="18000"/>
            </a:srgbClr>
          </a:solidFill>
          <a:ln xmlns:a="http://schemas.openxmlformats.org/drawingml/2006/main" w="12700">
            <a:solidFill>
              <a:srgbClr val="8B7CF6">
                <a:alpha val="45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72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8dec7b2467f4c0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427598" y="2204801"/>
            <a:ext cx="235549" cy="235549"/>
          </a:xfrm>
          <a:prstGeom xmlns:a="http://schemas.openxmlformats.org/drawingml/2006/main" prst="rect">
            <a:avLst/>
          </a:prstGeom>
        </p:spPr>
      </p:pic>
      <p:sp>
        <p:nvSpPr>
          <p:cNvPr id="22" name="Text 17">
            <a:extLst xmlns:a="http://schemas.openxmlformats.org/drawingml/2006/main">
              <a:ext uri="{FF2B5EF4-FFF2-40B4-BE49-F238E27FC236}">
                <a16:creationId xmlns:a16="http://schemas.microsoft.com/office/drawing/2014/main" id="{9344C1C4-CC47-4ABB-85E8-799AF0A4D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4557" y="2112264"/>
            <a:ext cx="1808378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 b="1">
                <a:solidFill>
                  <a:srgbClr val="E6EDF3"/>
                </a:solidFill>
                <a:latin typeface="Arial"/>
                <a:ea typeface="Arial"/>
                <a:cs typeface="Arial"/>
              </a:rPr>
              <a:t>Experience fit</a:t>
            </a:r>
          </a:p>
        </p:txBody>
      </p:sp>
      <p:sp>
        <p:nvSpPr>
          <p:cNvPr id="23" name="Shape 18">
            <a:extLst xmlns:a="http://schemas.openxmlformats.org/drawingml/2006/main">
              <a:ext uri="{FF2B5EF4-FFF2-40B4-BE49-F238E27FC236}">
                <a16:creationId xmlns:a16="http://schemas.microsoft.com/office/drawing/2014/main" id="{E93AF781-77FF-43EB-891E-00E8E6FAE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82935" y="2148840"/>
            <a:ext cx="960120" cy="310896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2330"/>
          </a:solidFill>
          <a:ln xmlns:a="http://schemas.openxmlformats.org/drawingml/2006/main" w="12700">
            <a:solidFill>
              <a:srgbClr val="2DD4BF">
                <a:alpha val="60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19">
            <a:extLst xmlns:a="http://schemas.openxmlformats.org/drawingml/2006/main">
              <a:ext uri="{FF2B5EF4-FFF2-40B4-BE49-F238E27FC236}">
                <a16:creationId xmlns:a16="http://schemas.microsoft.com/office/drawing/2014/main" id="{73809C07-632D-440B-821C-5AF960CE8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82935" y="2148840"/>
            <a:ext cx="96012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2DD4BF"/>
                </a:solidFill>
                <a:latin typeface="Arial"/>
                <a:ea typeface="Arial"/>
                <a:cs typeface="Arial"/>
              </a:rPr>
              <a:t>4 features  </a:t>
            </a:r>
          </a:p>
        </p:txBody>
      </p:sp>
      <p:sp>
        <p:nvSpPr>
          <p:cNvPr id="25" name="Text 20">
            <a:extLst xmlns:a="http://schemas.openxmlformats.org/drawingml/2006/main">
              <a:ext uri="{FF2B5EF4-FFF2-40B4-BE49-F238E27FC236}">
                <a16:creationId xmlns:a16="http://schemas.microsoft.com/office/drawing/2014/main" id="{AA0B4820-C5B5-463A-8B54-1C87987FC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5061" y="2606040"/>
            <a:ext cx="297881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lnSpc>
                <a:spcPct val="100000"/>
              </a:lnSpc>
              <a:buNone/>
            </a:pPr>
            <a:r>
              <a:rPr sz="1100">
                <a:solidFill>
                  <a:srgbClr val="9AA7B4"/>
                </a:solidFill>
                <a:latin typeface="Arial"/>
                <a:ea typeface="Arial"/>
                <a:cs typeface="Arial"/>
              </a:rPr>
              <a:t>years-of-experience band, education, ML/AI tenure, open-source signal</a:t>
            </a:r>
          </a:p>
        </p:txBody>
      </p:sp>
      <p:sp>
        <p:nvSpPr>
          <p:cNvPr id="26" name="Shape 21">
            <a:extLst xmlns:a="http://schemas.openxmlformats.org/drawingml/2006/main">
              <a:ext uri="{FF2B5EF4-FFF2-40B4-BE49-F238E27FC236}">
                <a16:creationId xmlns:a16="http://schemas.microsoft.com/office/drawing/2014/main" id="{CA4FD8E3-0C76-419C-A930-25FE93135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547872"/>
            <a:ext cx="3454298" cy="1417320"/>
          </a:xfrm>
          <a:prstGeom xmlns:a="http://schemas.openxmlformats.org/drawingml/2006/main" prst="roundRect">
            <a:avLst>
              <a:gd name="adj" fmla="val 7742"/>
            </a:avLst>
          </a:prstGeom>
          <a:solidFill xmlns:a="http://schemas.openxmlformats.org/drawingml/2006/main">
            <a:srgbClr val="161C24"/>
          </a:solidFill>
          <a:ln xmlns:a="http://schemas.openxmlformats.org/drawingml/2006/main" w="12700">
            <a:solidFill>
              <a:srgbClr val="2A3340"/>
            </a:solidFill>
            <a:prstDash val="solid"/>
          </a:ln>
          <a:effectLst xmlns:a="http://schemas.openxmlformats.org/drawingml/2006/main"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Shape 22">
            <a:extLst xmlns:a="http://schemas.openxmlformats.org/drawingml/2006/main">
              <a:ext uri="{FF2B5EF4-FFF2-40B4-BE49-F238E27FC236}">
                <a16:creationId xmlns:a16="http://schemas.microsoft.com/office/drawing/2014/main" id="{B62EEBBD-4E64-4679-8ACA-EA375FF33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" y="3785616"/>
            <a:ext cx="420624" cy="420624"/>
          </a:xfrm>
          <a:prstGeom xmlns:a="http://schemas.openxmlformats.org/drawingml/2006/main" prst="roundRect">
            <a:avLst>
              <a:gd name="adj" fmla="val 15217"/>
            </a:avLst>
          </a:prstGeom>
          <a:solidFill xmlns:a="http://schemas.openxmlformats.org/drawingml/2006/main">
            <a:srgbClr val="8B7CF6">
              <a:alpha val="18000"/>
            </a:srgbClr>
          </a:solidFill>
          <a:ln xmlns:a="http://schemas.openxmlformats.org/drawingml/2006/main" w="12700">
            <a:solidFill>
              <a:srgbClr val="8B7CF6">
                <a:alpha val="45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79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cd471aece28446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70361" y="3878153"/>
            <a:ext cx="235549" cy="235549"/>
          </a:xfrm>
          <a:prstGeom xmlns:a="http://schemas.openxmlformats.org/drawingml/2006/main" prst="rect">
            <a:avLst/>
          </a:prstGeom>
        </p:spPr>
      </p:pic>
      <p:sp>
        <p:nvSpPr>
          <p:cNvPr id="29" name="Text 23">
            <a:extLst xmlns:a="http://schemas.openxmlformats.org/drawingml/2006/main">
              <a:ext uri="{FF2B5EF4-FFF2-40B4-BE49-F238E27FC236}">
                <a16:creationId xmlns:a16="http://schemas.microsoft.com/office/drawing/2014/main" id="{0F51953A-ED69-4820-9EB9-FECA38345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3785616"/>
            <a:ext cx="1808378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 b="1">
                <a:solidFill>
                  <a:srgbClr val="E6EDF3"/>
                </a:solidFill>
                <a:latin typeface="Arial"/>
                <a:ea typeface="Arial"/>
                <a:cs typeface="Arial"/>
              </a:rPr>
              <a:t>Behavior</a:t>
            </a:r>
          </a:p>
        </p:txBody>
      </p:sp>
      <p:sp>
        <p:nvSpPr>
          <p:cNvPr id="30" name="Shape 24">
            <a:extLst xmlns:a="http://schemas.openxmlformats.org/drawingml/2006/main">
              <a:ext uri="{FF2B5EF4-FFF2-40B4-BE49-F238E27FC236}">
                <a16:creationId xmlns:a16="http://schemas.microsoft.com/office/drawing/2014/main" id="{AE900B8A-08B9-474C-8287-14EEB49EA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25698" y="3822192"/>
            <a:ext cx="960120" cy="310896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2330"/>
          </a:solidFill>
          <a:ln xmlns:a="http://schemas.openxmlformats.org/drawingml/2006/main" w="12700">
            <a:solidFill>
              <a:srgbClr val="2DD4BF">
                <a:alpha val="60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1" name="Text 25">
            <a:extLst xmlns:a="http://schemas.openxmlformats.org/drawingml/2006/main">
              <a:ext uri="{FF2B5EF4-FFF2-40B4-BE49-F238E27FC236}">
                <a16:creationId xmlns:a16="http://schemas.microsoft.com/office/drawing/2014/main" id="{2A306E9C-70DE-4815-81C0-16672A382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25698" y="3822192"/>
            <a:ext cx="96012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2DD4BF"/>
                </a:solidFill>
                <a:latin typeface="Arial"/>
                <a:ea typeface="Arial"/>
                <a:cs typeface="Arial"/>
              </a:rPr>
              <a:t>6 features  </a:t>
            </a:r>
          </a:p>
        </p:txBody>
      </p:sp>
      <p:sp>
        <p:nvSpPr>
          <p:cNvPr id="32" name="Text 26">
            <a:extLst xmlns:a="http://schemas.openxmlformats.org/drawingml/2006/main">
              <a:ext uri="{FF2B5EF4-FFF2-40B4-BE49-F238E27FC236}">
                <a16:creationId xmlns:a16="http://schemas.microsoft.com/office/drawing/2014/main" id="{9E6C50C4-0C98-4BC5-B1CB-723031F4F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" y="4279392"/>
            <a:ext cx="297881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lnSpc>
                <a:spcPct val="100000"/>
              </a:lnSpc>
              <a:buNone/>
            </a:pPr>
            <a:r>
              <a:rPr sz="1100">
                <a:solidFill>
                  <a:srgbClr val="9AA7B4"/>
                </a:solidFill>
                <a:latin typeface="Arial"/>
                <a:ea typeface="Arial"/>
                <a:cs typeface="Arial"/>
              </a:rPr>
              <a:t>availability, engagement, responsiveness, interview reliability, profile quality, notice</a:t>
            </a:r>
          </a:p>
        </p:txBody>
      </p:sp>
      <p:sp>
        <p:nvSpPr>
          <p:cNvPr id="33" name="Shape 27">
            <a:extLst xmlns:a="http://schemas.openxmlformats.org/drawingml/2006/main">
              <a:ext uri="{FF2B5EF4-FFF2-40B4-BE49-F238E27FC236}">
                <a16:creationId xmlns:a16="http://schemas.microsoft.com/office/drawing/2014/main" id="{18AF3146-877D-40CA-B73E-5D5C27A7C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8698" y="3547872"/>
            <a:ext cx="3454298" cy="1417320"/>
          </a:xfrm>
          <a:prstGeom xmlns:a="http://schemas.openxmlformats.org/drawingml/2006/main" prst="roundRect">
            <a:avLst>
              <a:gd name="adj" fmla="val 7742"/>
            </a:avLst>
          </a:prstGeom>
          <a:solidFill xmlns:a="http://schemas.openxmlformats.org/drawingml/2006/main">
            <a:srgbClr val="161C24"/>
          </a:solidFill>
          <a:ln xmlns:a="http://schemas.openxmlformats.org/drawingml/2006/main" w="12700">
            <a:solidFill>
              <a:srgbClr val="2A3340"/>
            </a:solidFill>
            <a:prstDash val="solid"/>
          </a:ln>
          <a:effectLst xmlns:a="http://schemas.openxmlformats.org/drawingml/2006/main"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4" name="Shape 28">
            <a:extLst xmlns:a="http://schemas.openxmlformats.org/drawingml/2006/main">
              <a:ext uri="{FF2B5EF4-FFF2-40B4-BE49-F238E27FC236}">
                <a16:creationId xmlns:a16="http://schemas.microsoft.com/office/drawing/2014/main" id="{AE935B36-6208-408A-9A26-7C40A9180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6442" y="3785616"/>
            <a:ext cx="420624" cy="420624"/>
          </a:xfrm>
          <a:prstGeom xmlns:a="http://schemas.openxmlformats.org/drawingml/2006/main" prst="roundRect">
            <a:avLst>
              <a:gd name="adj" fmla="val 15217"/>
            </a:avLst>
          </a:prstGeom>
          <a:solidFill xmlns:a="http://schemas.openxmlformats.org/drawingml/2006/main">
            <a:srgbClr val="8B7CF6">
              <a:alpha val="18000"/>
            </a:srgbClr>
          </a:solidFill>
          <a:ln xmlns:a="http://schemas.openxmlformats.org/drawingml/2006/main" w="12700">
            <a:solidFill>
              <a:srgbClr val="8B7CF6">
                <a:alpha val="45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86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e3ce0653f32416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698980" y="3878153"/>
            <a:ext cx="235549" cy="235549"/>
          </a:xfrm>
          <a:prstGeom xmlns:a="http://schemas.openxmlformats.org/drawingml/2006/main" prst="rect">
            <a:avLst/>
          </a:prstGeom>
        </p:spPr>
      </p:pic>
      <p:sp>
        <p:nvSpPr>
          <p:cNvPr id="36" name="Text 29">
            <a:extLst xmlns:a="http://schemas.openxmlformats.org/drawingml/2006/main">
              <a:ext uri="{FF2B5EF4-FFF2-40B4-BE49-F238E27FC236}">
                <a16:creationId xmlns:a16="http://schemas.microsoft.com/office/drawing/2014/main" id="{19FE8886-DC31-468C-9AC4-4F9FF4F05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5938" y="3785616"/>
            <a:ext cx="1808378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 b="1">
                <a:solidFill>
                  <a:srgbClr val="E6EDF3"/>
                </a:solidFill>
                <a:latin typeface="Arial"/>
                <a:ea typeface="Arial"/>
                <a:cs typeface="Arial"/>
              </a:rPr>
              <a:t>Logistics</a:t>
            </a:r>
          </a:p>
        </p:txBody>
      </p:sp>
      <p:sp>
        <p:nvSpPr>
          <p:cNvPr id="37" name="Shape 30">
            <a:extLst xmlns:a="http://schemas.openxmlformats.org/drawingml/2006/main">
              <a:ext uri="{FF2B5EF4-FFF2-40B4-BE49-F238E27FC236}">
                <a16:creationId xmlns:a16="http://schemas.microsoft.com/office/drawing/2014/main" id="{9E874245-4D23-45B4-990B-C53BF5516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4317" y="3822192"/>
            <a:ext cx="960120" cy="310896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2330"/>
          </a:solidFill>
          <a:ln xmlns:a="http://schemas.openxmlformats.org/drawingml/2006/main" w="12700">
            <a:solidFill>
              <a:srgbClr val="2DD4BF">
                <a:alpha val="60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8" name="Text 31">
            <a:extLst xmlns:a="http://schemas.openxmlformats.org/drawingml/2006/main">
              <a:ext uri="{FF2B5EF4-FFF2-40B4-BE49-F238E27FC236}">
                <a16:creationId xmlns:a16="http://schemas.microsoft.com/office/drawing/2014/main" id="{43532424-621B-413A-8890-3EDCEB235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4317" y="3822192"/>
            <a:ext cx="96012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2DD4BF"/>
                </a:solidFill>
                <a:latin typeface="Arial"/>
                <a:ea typeface="Arial"/>
                <a:cs typeface="Arial"/>
              </a:rPr>
              <a:t>2 features  </a:t>
            </a:r>
          </a:p>
        </p:txBody>
      </p:sp>
      <p:sp>
        <p:nvSpPr>
          <p:cNvPr id="39" name="Text 32">
            <a:extLst xmlns:a="http://schemas.openxmlformats.org/drawingml/2006/main">
              <a:ext uri="{FF2B5EF4-FFF2-40B4-BE49-F238E27FC236}">
                <a16:creationId xmlns:a16="http://schemas.microsoft.com/office/drawing/2014/main" id="{D0746408-DAAD-4C10-9EE2-BC5A76D23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6442" y="4279392"/>
            <a:ext cx="297881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lnSpc>
                <a:spcPct val="100000"/>
              </a:lnSpc>
              <a:buNone/>
            </a:pPr>
            <a:r>
              <a:rPr sz="1100">
                <a:solidFill>
                  <a:srgbClr val="9AA7B4"/>
                </a:solidFill>
                <a:latin typeface="Arial"/>
                <a:ea typeface="Arial"/>
                <a:cs typeface="Arial"/>
              </a:rPr>
              <a:t>preferred-location match, willingness to relocate</a:t>
            </a:r>
          </a:p>
        </p:txBody>
      </p:sp>
      <p:sp>
        <p:nvSpPr>
          <p:cNvPr id="40" name="Shape 33">
            <a:extLst xmlns:a="http://schemas.openxmlformats.org/drawingml/2006/main">
              <a:ext uri="{FF2B5EF4-FFF2-40B4-BE49-F238E27FC236}">
                <a16:creationId xmlns:a16="http://schemas.microsoft.com/office/drawing/2014/main" id="{02FCF6E5-C92C-4B4A-AD40-EE5724B43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7317" y="3547872"/>
            <a:ext cx="3454298" cy="1417320"/>
          </a:xfrm>
          <a:prstGeom xmlns:a="http://schemas.openxmlformats.org/drawingml/2006/main" prst="roundRect">
            <a:avLst>
              <a:gd name="adj" fmla="val 7742"/>
            </a:avLst>
          </a:prstGeom>
          <a:solidFill xmlns:a="http://schemas.openxmlformats.org/drawingml/2006/main">
            <a:srgbClr val="1B2330"/>
          </a:solidFill>
          <a:ln xmlns:a="http://schemas.openxmlformats.org/drawingml/2006/main" w="12700">
            <a:solidFill>
              <a:srgbClr val="2A3340"/>
            </a:solidFill>
            <a:prstDash val="solid"/>
          </a:ln>
          <a:effectLst xmlns:a="http://schemas.openxmlformats.org/drawingml/2006/main"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1" name="Shape 34">
            <a:extLst xmlns:a="http://schemas.openxmlformats.org/drawingml/2006/main">
              <a:ext uri="{FF2B5EF4-FFF2-40B4-BE49-F238E27FC236}">
                <a16:creationId xmlns:a16="http://schemas.microsoft.com/office/drawing/2014/main" id="{1FC886DF-EC2D-47B6-8936-6010C9966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5061" y="3785616"/>
            <a:ext cx="420624" cy="420624"/>
          </a:xfrm>
          <a:prstGeom xmlns:a="http://schemas.openxmlformats.org/drawingml/2006/main" prst="roundRect">
            <a:avLst>
              <a:gd name="adj" fmla="val 15217"/>
            </a:avLst>
          </a:prstGeom>
          <a:solidFill xmlns:a="http://schemas.openxmlformats.org/drawingml/2006/main">
            <a:srgbClr val="2DD4BF">
              <a:alpha val="18000"/>
            </a:srgbClr>
          </a:solidFill>
          <a:ln xmlns:a="http://schemas.openxmlformats.org/drawingml/2006/main" w="12700">
            <a:solidFill>
              <a:srgbClr val="2DD4BF">
                <a:alpha val="45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93" name="Im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2cb2c03060b462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427598" y="3878153"/>
            <a:ext cx="235549" cy="235549"/>
          </a:xfrm>
          <a:prstGeom xmlns:a="http://schemas.openxmlformats.org/drawingml/2006/main" prst="rect">
            <a:avLst/>
          </a:prstGeom>
        </p:spPr>
      </p:pic>
      <p:sp>
        <p:nvSpPr>
          <p:cNvPr id="43" name="Text 35">
            <a:extLst xmlns:a="http://schemas.openxmlformats.org/drawingml/2006/main">
              <a:ext uri="{FF2B5EF4-FFF2-40B4-BE49-F238E27FC236}">
                <a16:creationId xmlns:a16="http://schemas.microsoft.com/office/drawing/2014/main" id="{F6154097-2373-4747-8A9F-3869EA9F0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4557" y="3785616"/>
            <a:ext cx="2539898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 b="1">
                <a:solidFill>
                  <a:srgbClr val="2DD4BF"/>
                </a:solidFill>
                <a:latin typeface="Arial"/>
                <a:ea typeface="Arial"/>
                <a:cs typeface="Arial"/>
              </a:rPr>
              <a:t>Multiplicative guardrails</a:t>
            </a:r>
          </a:p>
        </p:txBody>
      </p:sp>
      <p:sp>
        <p:nvSpPr>
          <p:cNvPr id="44" name="Text 36">
            <a:extLst xmlns:a="http://schemas.openxmlformats.org/drawingml/2006/main">
              <a:ext uri="{FF2B5EF4-FFF2-40B4-BE49-F238E27FC236}">
                <a16:creationId xmlns:a16="http://schemas.microsoft.com/office/drawing/2014/main" id="{55A28681-52E5-4F6E-BC29-112D7F4FF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5061" y="4279392"/>
            <a:ext cx="297881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lnSpc>
                <a:spcPct val="100000"/>
              </a:lnSpc>
              <a:buNone/>
            </a:pPr>
            <a:r>
              <a:rPr sz="1100">
                <a:solidFill>
                  <a:srgbClr val="E6EDF3"/>
                </a:solidFill>
                <a:latin typeface="Arial"/>
                <a:ea typeface="Arial"/>
                <a:cs typeface="Arial"/>
              </a:rPr>
              <a:t>Behavioral, honeypot &amp; disqualifier multipliers gate the base score so traps can’t buy their way to the top.</a:t>
            </a:r>
          </a:p>
        </p:txBody>
      </p:sp>
      <p:sp>
        <p:nvSpPr>
          <p:cNvPr id="45" name="Text 37">
            <a:extLst xmlns:a="http://schemas.openxmlformats.org/drawingml/2006/main">
              <a:ext uri="{FF2B5EF4-FFF2-40B4-BE49-F238E27FC236}">
                <a16:creationId xmlns:a16="http://schemas.microsoft.com/office/drawing/2014/main" id="{E4FBDF10-EE4D-4CA0-B0C7-798D4F391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1535" y="6473952"/>
            <a:ext cx="914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6E7C8C"/>
                </a:solidFill>
                <a:latin typeface="Arial"/>
                <a:ea typeface="Arial"/>
                <a:cs typeface="Arial"/>
              </a:rPr>
              <a:t>6/14</a:t>
            </a:r>
          </a:p>
        </p:txBody>
      </p:sp>
      <p:sp>
        <p:nvSpPr>
          <p:cNvPr id="46" name="Text 38">
            <a:extLst xmlns:a="http://schemas.openxmlformats.org/drawingml/2006/main">
              <a:ext uri="{FF2B5EF4-FFF2-40B4-BE49-F238E27FC236}">
                <a16:creationId xmlns:a16="http://schemas.microsoft.com/office/drawing/2014/main" id="{ABB87B4B-EC1F-48F0-A75D-62E8F2FE4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6473952"/>
            <a:ext cx="27432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 spc="200">
                <a:solidFill>
                  <a:srgbClr val="6E7C8C"/>
                </a:solidFill>
                <a:latin typeface="Arial"/>
                <a:ea typeface="Arial"/>
                <a:cs typeface="Arial"/>
              </a:rPr>
              <a:t>HIREFIT RANKER</a:t>
            </a:r>
          </a:p>
        </p:txBody>
      </p:sp>
    </p:spTree>
    <p:extLst>
      <p:ext uri="{BB962C8B-B14F-4D97-AF65-F5344CB8AC3E}">
        <p14:creationId xmlns:p14="http://schemas.microsoft.com/office/powerpoint/2010/main" val="2093214027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0" name="Oval 69">
            <a:extLst xmlns:a="http://schemas.openxmlformats.org/drawingml/2006/main">
              <a:ext uri="{FF2B5EF4-FFF2-40B4-BE49-F238E27FC236}">
                <a16:creationId xmlns:a16="http://schemas.microsoft.com/office/drawing/2014/main" id="{59274BAD-4ABC-C843-C202-C0B5D1FEF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828800" y="4846320"/>
            <a:ext cx="4572000" cy="4572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DD4BF">
              <a:alpha val="6000"/>
            </a:srgbClr>
          </a:solidFill>
          <a:ln xmlns:a="http://schemas.openxmlformats.org/drawingml/2006/main" w="12700" cmpd="sng">
            <a:noFill/>
            <a:prstDash val="solid"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9" name="Oval 68">
            <a:extLst xmlns:a="http://schemas.openxmlformats.org/drawingml/2006/main">
              <a:ext uri="{FF2B5EF4-FFF2-40B4-BE49-F238E27FC236}">
                <a16:creationId xmlns:a16="http://schemas.microsoft.com/office/drawing/2014/main" id="{0D6765F2-2674-C0ED-4C52-A83E03A14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0" y="-1554480"/>
            <a:ext cx="5029200" cy="5029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7CF6">
              <a:alpha val="8000"/>
            </a:srgbClr>
          </a:solidFill>
          <a:ln xmlns:a="http://schemas.openxmlformats.org/drawingml/2006/main" w="12700" cmpd="sng">
            <a:noFill/>
            <a:prstDash val="solid"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8" name="Rectangle 67">
            <a:extLst xmlns:a="http://schemas.openxmlformats.org/drawingml/2006/main">
              <a:ext uri="{FF2B5EF4-FFF2-40B4-BE49-F238E27FC236}">
                <a16:creationId xmlns:a16="http://schemas.microsoft.com/office/drawing/2014/main" id="{6D7BEF85-12C3-E6B9-D2B8-A8F42044E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1116"/>
          </a:solidFill>
          <a:ln xmlns:a="http://schemas.openxmlformats.org/drawingml/2006/main" w="12700" cmpd="sng">
            <a:noFill/>
            <a:prstDash val="solid"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1" name="TextBox 70">
            <a:extLst xmlns:a="http://schemas.openxmlformats.org/drawingml/2006/main">
              <a:ext uri="{FF2B5EF4-FFF2-40B4-BE49-F238E27FC236}">
                <a16:creationId xmlns:a16="http://schemas.microsoft.com/office/drawing/2014/main" id="{9C0E78EF-6AE3-1679-7A27-24E35E857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84048"/>
            <a:ext cx="10881360" cy="1769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r>
              <a:rPr sz="1150" b="1">
                <a:solidFill>
                  <a:srgbClr val="8B7CF6"/>
                </a:solidFill>
                <a:latin typeface="Arial"/>
                <a:ea typeface="Arial"/>
                <a:cs typeface="Arial"/>
              </a:rPr>
              <a:t>SEE IT WORK</a:t>
            </a:r>
          </a:p>
        </p:txBody>
      </p:sp>
      <p:sp>
        <p:nvSpPr>
          <p:cNvPr id="72" name="TextBox 71">
            <a:extLst xmlns:a="http://schemas.openxmlformats.org/drawingml/2006/main">
              <a:ext uri="{FF2B5EF4-FFF2-40B4-BE49-F238E27FC236}">
                <a16:creationId xmlns:a16="http://schemas.microsoft.com/office/drawing/2014/main" id="{F04F5ADA-5BD8-4BE6-E7B3-E1F9BDD33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658368"/>
            <a:ext cx="10881360" cy="41549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r>
              <a:rPr sz="2700" b="1">
                <a:solidFill>
                  <a:srgbClr val="E6EDF3"/>
                </a:solidFill>
                <a:latin typeface="Arial"/>
                <a:ea typeface="Arial"/>
                <a:cs typeface="Arial"/>
              </a:rPr>
              <a:t>The shortlist is real: every rank is traceable.</a:t>
            </a:r>
          </a:p>
        </p:txBody>
      </p:sp>
      <p:sp>
        <p:nvSpPr>
          <p:cNvPr id="73" name="TextBox 72">
            <a:extLst xmlns:a="http://schemas.openxmlformats.org/drawingml/2006/main">
              <a:ext uri="{FF2B5EF4-FFF2-40B4-BE49-F238E27FC236}">
                <a16:creationId xmlns:a16="http://schemas.microsoft.com/office/drawing/2014/main" id="{EE3E70A1-7D70-10D1-8D8B-38081C329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298448"/>
            <a:ext cx="1088136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r>
              <a:rPr sz="1300">
                <a:solidFill>
                  <a:srgbClr val="9AA7B4"/>
                </a:solidFill>
                <a:latin typeface="Arial"/>
                <a:ea typeface="Arial"/>
                <a:cs typeface="Arial"/>
              </a:rPr>
              <a:t>Live output from the released 100K pool, plus the exact feature values and guardrails behind the #1 candidate.</a:t>
            </a:r>
          </a:p>
        </p:txBody>
      </p:sp>
      <p:sp>
        <p:nvSpPr>
          <p:cNvPr id="74" name="Rectangle: Rounded Corners 73">
            <a:extLst xmlns:a="http://schemas.openxmlformats.org/drawingml/2006/main">
              <a:ext uri="{FF2B5EF4-FFF2-40B4-BE49-F238E27FC236}">
                <a16:creationId xmlns:a16="http://schemas.microsoft.com/office/drawing/2014/main" id="{EFD139DA-5F14-F8C7-BD2B-F4742404D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810512"/>
            <a:ext cx="6172200" cy="4160520"/>
          </a:xfrm>
          <a:prstGeom xmlns:a="http://schemas.openxmlformats.org/drawingml/2006/main" prst="roundRect">
            <a:avLst>
              <a:gd name="adj" fmla="val 3500"/>
            </a:avLst>
          </a:prstGeom>
          <a:solidFill xmlns:a="http://schemas.openxmlformats.org/drawingml/2006/main">
            <a:srgbClr val="161C24"/>
          </a:solidFill>
          <a:ln xmlns:a="http://schemas.openxmlformats.org/drawingml/2006/main" w="12700">
            <a:solidFill>
              <a:srgbClr val="2A3340"/>
            </a:solidFill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5" name="TextBox 74">
            <a:extLst xmlns:a="http://schemas.openxmlformats.org/drawingml/2006/main">
              <a:ext uri="{FF2B5EF4-FFF2-40B4-BE49-F238E27FC236}">
                <a16:creationId xmlns:a16="http://schemas.microsoft.com/office/drawing/2014/main" id="{F0931DDB-0982-4257-EF26-ECD0828B7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2029968"/>
            <a:ext cx="2103120" cy="22313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r>
              <a:rPr sz="1450" b="1">
                <a:solidFill>
                  <a:srgbClr val="E6EDF3"/>
                </a:solidFill>
                <a:latin typeface="Arial"/>
                <a:ea typeface="Arial"/>
                <a:cs typeface="Arial"/>
              </a:rPr>
              <a:t>Ranked output</a:t>
            </a:r>
          </a:p>
        </p:txBody>
      </p:sp>
      <p:sp>
        <p:nvSpPr>
          <p:cNvPr id="76" name="Rectangle: Rounded Corners 75">
            <a:extLst xmlns:a="http://schemas.openxmlformats.org/drawingml/2006/main">
              <a:ext uri="{FF2B5EF4-FFF2-40B4-BE49-F238E27FC236}">
                <a16:creationId xmlns:a16="http://schemas.microsoft.com/office/drawing/2014/main" id="{1750F5A8-79F8-C983-EAE8-AFE87AFBB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2624" y="2029968"/>
            <a:ext cx="1353312" cy="256032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2330"/>
          </a:solidFill>
          <a:ln xmlns:a="http://schemas.openxmlformats.org/drawingml/2006/main" w="12700" cmpd="sng">
            <a:solidFill>
              <a:srgbClr val="8B7CF6">
                <a:alpha val="65000"/>
              </a:srgbClr>
            </a:solidFill>
            <a:prstDash val="solid"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7" name="TextBox 76">
            <a:extLst xmlns:a="http://schemas.openxmlformats.org/drawingml/2006/main">
              <a:ext uri="{FF2B5EF4-FFF2-40B4-BE49-F238E27FC236}">
                <a16:creationId xmlns:a16="http://schemas.microsoft.com/office/drawing/2014/main" id="{AC2F0938-5EC7-939F-48C0-7FD207420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5776" y="2061972"/>
            <a:ext cx="1207008" cy="13080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850" b="1">
                <a:solidFill>
                  <a:srgbClr val="E6EDF3"/>
                </a:solidFill>
                <a:latin typeface="Arial"/>
                <a:ea typeface="Arial"/>
                <a:cs typeface="Arial"/>
              </a:rPr>
              <a:t>submission.csv top 6</a:t>
            </a:r>
          </a:p>
        </p:txBody>
      </p:sp>
      <p:sp>
        <p:nvSpPr>
          <p:cNvPr id="78" name="TextBox 77">
            <a:extLst xmlns:a="http://schemas.openxmlformats.org/drawingml/2006/main">
              <a:ext uri="{FF2B5EF4-FFF2-40B4-BE49-F238E27FC236}">
                <a16:creationId xmlns:a16="http://schemas.microsoft.com/office/drawing/2014/main" id="{C5FD40BF-E129-7511-DA1A-9E3C8F782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2450592"/>
            <a:ext cx="457200" cy="13080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850" b="1">
                <a:solidFill>
                  <a:srgbClr val="6E7C8C"/>
                </a:solidFill>
                <a:latin typeface="Arial"/>
                <a:ea typeface="Arial"/>
                <a:cs typeface="Arial"/>
              </a:rPr>
              <a:t>Rank</a:t>
            </a:r>
          </a:p>
        </p:txBody>
      </p:sp>
      <p:sp>
        <p:nvSpPr>
          <p:cNvPr id="79" name="TextBox 78">
            <a:extLst xmlns:a="http://schemas.openxmlformats.org/drawingml/2006/main">
              <a:ext uri="{FF2B5EF4-FFF2-40B4-BE49-F238E27FC236}">
                <a16:creationId xmlns:a16="http://schemas.microsoft.com/office/drawing/2014/main" id="{2E790DC6-FA51-F9BA-EECC-3EEAD5DC6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2768" y="2450592"/>
            <a:ext cx="3566160" cy="13080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r>
              <a:rPr sz="850" b="1">
                <a:solidFill>
                  <a:srgbClr val="6E7C8C"/>
                </a:solidFill>
                <a:latin typeface="Arial"/>
                <a:ea typeface="Arial"/>
                <a:cs typeface="Arial"/>
              </a:rPr>
              <a:t>Candidate evidence</a:t>
            </a:r>
          </a:p>
        </p:txBody>
      </p:sp>
      <p:sp>
        <p:nvSpPr>
          <p:cNvPr id="80" name="TextBox 79">
            <a:extLst xmlns:a="http://schemas.openxmlformats.org/drawingml/2006/main">
              <a:ext uri="{FF2B5EF4-FFF2-40B4-BE49-F238E27FC236}">
                <a16:creationId xmlns:a16="http://schemas.microsoft.com/office/drawing/2014/main" id="{775322F6-D773-54A9-E63D-E0ABA4653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0368" y="2450592"/>
            <a:ext cx="384048" cy="13080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850" b="1">
                <a:solidFill>
                  <a:srgbClr val="6E7C8C"/>
                </a:solidFill>
                <a:latin typeface="Arial"/>
                <a:ea typeface="Arial"/>
                <a:cs typeface="Arial"/>
              </a:rPr>
              <a:t>YOE</a:t>
            </a:r>
          </a:p>
        </p:txBody>
      </p:sp>
      <p:sp>
        <p:nvSpPr>
          <p:cNvPr id="81" name="TextBox 80">
            <a:extLst xmlns:a="http://schemas.openxmlformats.org/drawingml/2006/main">
              <a:ext uri="{FF2B5EF4-FFF2-40B4-BE49-F238E27FC236}">
                <a16:creationId xmlns:a16="http://schemas.microsoft.com/office/drawing/2014/main" id="{2E609EAB-FDAF-247D-CCFE-88D6347AE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5584" y="2450592"/>
            <a:ext cx="493776" cy="13080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850" b="1">
                <a:solidFill>
                  <a:srgbClr val="6E7C8C"/>
                </a:solidFill>
                <a:latin typeface="Arial"/>
                <a:ea typeface="Arial"/>
                <a:cs typeface="Arial"/>
              </a:rPr>
              <a:t>Score</a:t>
            </a:r>
          </a:p>
        </p:txBody>
      </p:sp>
      <p:sp>
        <p:nvSpPr>
          <p:cNvPr id="82" name="Rectangle 81">
            <a:extLst xmlns:a="http://schemas.openxmlformats.org/drawingml/2006/main">
              <a:ext uri="{FF2B5EF4-FFF2-40B4-BE49-F238E27FC236}">
                <a16:creationId xmlns:a16="http://schemas.microsoft.com/office/drawing/2014/main" id="{264C4DB8-CF93-4D71-1914-A47548F2D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706624"/>
            <a:ext cx="5559552" cy="42062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2330">
              <a:alpha val="95000"/>
            </a:srgbClr>
          </a:solidFill>
          <a:ln xmlns:a="http://schemas.openxmlformats.org/drawingml/2006/main" w="12700" cmpd="sng">
            <a:noFill/>
            <a:prstDash val="solid"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3" name="Oval 82">
            <a:extLst xmlns:a="http://schemas.openxmlformats.org/drawingml/2006/main">
              <a:ext uri="{FF2B5EF4-FFF2-40B4-BE49-F238E27FC236}">
                <a16:creationId xmlns:a16="http://schemas.microsoft.com/office/drawing/2014/main" id="{6252259B-C244-87A2-7AEA-35D05A0E3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976" y="2775204"/>
            <a:ext cx="283464" cy="28346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D5DE0"/>
          </a:solidFill>
          <a:ln xmlns:a="http://schemas.openxmlformats.org/drawingml/2006/main" w="12700">
            <a:solidFill>
              <a:srgbClr val="8B7CF6"/>
            </a:solidFill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4" name="TextBox 83">
            <a:extLst xmlns:a="http://schemas.openxmlformats.org/drawingml/2006/main">
              <a:ext uri="{FF2B5EF4-FFF2-40B4-BE49-F238E27FC236}">
                <a16:creationId xmlns:a16="http://schemas.microsoft.com/office/drawing/2014/main" id="{6A777F18-E4FB-A306-3D2C-9C355E4B1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976" y="2775204"/>
            <a:ext cx="283464" cy="1415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920" b="1">
                <a:solidFill>
                  <a:srgbClr val="E6EDF3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85" name="TextBox 84">
            <a:extLst xmlns:a="http://schemas.openxmlformats.org/drawingml/2006/main">
              <a:ext uri="{FF2B5EF4-FFF2-40B4-BE49-F238E27FC236}">
                <a16:creationId xmlns:a16="http://schemas.microsoft.com/office/drawing/2014/main" id="{9CBF8938-AACE-ACF9-A451-D21D1E9DF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2724912"/>
            <a:ext cx="3337560" cy="16312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r>
              <a:rPr sz="1060" b="1">
                <a:solidFill>
                  <a:srgbClr val="E6EDF3"/>
                </a:solidFill>
                <a:latin typeface="Arial"/>
                <a:ea typeface="Arial"/>
                <a:cs typeface="Arial"/>
              </a:rPr>
              <a:t>Senior ML Engineer</a:t>
            </a:r>
            <a:r>
              <a:rPr sz="1060">
                <a:solidFill>
                  <a:srgbClr val="9AA7B4"/>
                </a:solidFill>
                <a:latin typeface="Arial"/>
                <a:ea typeface="Arial"/>
                <a:cs typeface="Arial"/>
              </a:rPr>
              <a:t> - Zomato</a:t>
            </a:r>
          </a:p>
        </p:txBody>
      </p:sp>
      <p:sp>
        <p:nvSpPr>
          <p:cNvPr id="86" name="TextBox 85">
            <a:extLst xmlns:a="http://schemas.openxmlformats.org/drawingml/2006/main">
              <a:ext uri="{FF2B5EF4-FFF2-40B4-BE49-F238E27FC236}">
                <a16:creationId xmlns:a16="http://schemas.microsoft.com/office/drawing/2014/main" id="{E0376800-A7BE-5440-6025-98FA403CD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2926080"/>
            <a:ext cx="3529584" cy="1261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r>
              <a:rPr sz="820">
                <a:solidFill>
                  <a:srgbClr val="6E7C8C"/>
                </a:solidFill>
                <a:latin typeface="Arial"/>
                <a:ea typeface="Arial"/>
                <a:cs typeface="Arial"/>
              </a:rPr>
              <a:t>hybrid retrieval + ranking at 50M+ queries</a:t>
            </a:r>
          </a:p>
        </p:txBody>
      </p:sp>
      <p:sp>
        <p:nvSpPr>
          <p:cNvPr id="87" name="TextBox 86">
            <a:extLst xmlns:a="http://schemas.openxmlformats.org/drawingml/2006/main">
              <a:ext uri="{FF2B5EF4-FFF2-40B4-BE49-F238E27FC236}">
                <a16:creationId xmlns:a16="http://schemas.microsoft.com/office/drawing/2014/main" id="{AC935A1D-D600-EEAB-ECF4-BCB15620E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656" y="2779776"/>
            <a:ext cx="384048" cy="15696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020">
                <a:solidFill>
                  <a:srgbClr val="9AA7B4"/>
                </a:solidFill>
                <a:latin typeface="Arial"/>
                <a:ea typeface="Arial"/>
                <a:cs typeface="Arial"/>
              </a:rPr>
              <a:t>7.2</a:t>
            </a:r>
          </a:p>
        </p:txBody>
      </p:sp>
      <p:sp>
        <p:nvSpPr>
          <p:cNvPr id="88" name="TextBox 87">
            <a:extLst xmlns:a="http://schemas.openxmlformats.org/drawingml/2006/main">
              <a:ext uri="{FF2B5EF4-FFF2-40B4-BE49-F238E27FC236}">
                <a16:creationId xmlns:a16="http://schemas.microsoft.com/office/drawing/2014/main" id="{6CC6E074-7365-3A99-628C-4DE2D7A27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7296" y="2779776"/>
            <a:ext cx="530352" cy="1600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040" b="1">
                <a:solidFill>
                  <a:srgbClr val="2DD4BF"/>
                </a:solidFill>
                <a:latin typeface="Arial"/>
                <a:ea typeface="Arial"/>
                <a:cs typeface="Arial"/>
              </a:rPr>
              <a:t>1.000</a:t>
            </a:r>
          </a:p>
        </p:txBody>
      </p:sp>
      <p:sp>
        <p:nvSpPr>
          <p:cNvPr id="89" name="Rectangle 88">
            <a:extLst xmlns:a="http://schemas.openxmlformats.org/drawingml/2006/main">
              <a:ext uri="{FF2B5EF4-FFF2-40B4-BE49-F238E27FC236}">
                <a16:creationId xmlns:a16="http://schemas.microsoft.com/office/drawing/2014/main" id="{F29F3BB0-6F1D-8DE6-8180-39034CF1D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209544"/>
            <a:ext cx="5559552" cy="42062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1C24">
              <a:alpha val="65000"/>
            </a:srgbClr>
          </a:solidFill>
          <a:ln xmlns:a="http://schemas.openxmlformats.org/drawingml/2006/main" w="12700" cmpd="sng">
            <a:noFill/>
            <a:prstDash val="solid"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0" name="Oval 89">
            <a:extLst xmlns:a="http://schemas.openxmlformats.org/drawingml/2006/main">
              <a:ext uri="{FF2B5EF4-FFF2-40B4-BE49-F238E27FC236}">
                <a16:creationId xmlns:a16="http://schemas.microsoft.com/office/drawing/2014/main" id="{4967F2F8-2FB1-A8CE-C2E6-05BB4B35C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976" y="3278124"/>
            <a:ext cx="283464" cy="28346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2330"/>
          </a:solidFill>
          <a:ln xmlns:a="http://schemas.openxmlformats.org/drawingml/2006/main" w="12700">
            <a:solidFill>
              <a:srgbClr val="8B7CF6"/>
            </a:solidFill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1" name="TextBox 90">
            <a:extLst xmlns:a="http://schemas.openxmlformats.org/drawingml/2006/main">
              <a:ext uri="{FF2B5EF4-FFF2-40B4-BE49-F238E27FC236}">
                <a16:creationId xmlns:a16="http://schemas.microsoft.com/office/drawing/2014/main" id="{47EB5550-3D22-4047-91B1-14BA29312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976" y="3278124"/>
            <a:ext cx="283464" cy="1415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920" b="1">
                <a:solidFill>
                  <a:srgbClr val="E6EDF3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92" name="TextBox 91">
            <a:extLst xmlns:a="http://schemas.openxmlformats.org/drawingml/2006/main">
              <a:ext uri="{FF2B5EF4-FFF2-40B4-BE49-F238E27FC236}">
                <a16:creationId xmlns:a16="http://schemas.microsoft.com/office/drawing/2014/main" id="{19597BF2-D147-22C7-168B-08CC0471F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3227832"/>
            <a:ext cx="3337560" cy="16312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r>
              <a:rPr sz="1060" b="1">
                <a:solidFill>
                  <a:srgbClr val="E6EDF3"/>
                </a:solidFill>
                <a:latin typeface="Arial"/>
                <a:ea typeface="Arial"/>
                <a:cs typeface="Arial"/>
              </a:rPr>
              <a:t>Senior NLP Engineer - Niramai</a:t>
            </a:r>
          </a:p>
        </p:txBody>
      </p:sp>
      <p:sp>
        <p:nvSpPr>
          <p:cNvPr id="93" name="TextBox 92">
            <a:extLst xmlns:a="http://schemas.openxmlformats.org/drawingml/2006/main">
              <a:ext uri="{FF2B5EF4-FFF2-40B4-BE49-F238E27FC236}">
                <a16:creationId xmlns:a16="http://schemas.microsoft.com/office/drawing/2014/main" id="{22D321A7-9133-1B68-631F-3DC729739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3429000"/>
            <a:ext cx="3529584" cy="1261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r>
              <a:rPr sz="820">
                <a:solidFill>
                  <a:srgbClr val="6E7C8C"/>
                </a:solidFill>
                <a:latin typeface="Arial"/>
                <a:ea typeface="Arial"/>
                <a:cs typeface="Arial"/>
              </a:rPr>
              <a:t>semantic search + embeddings + 89% response</a:t>
            </a:r>
          </a:p>
        </p:txBody>
      </p:sp>
      <p:sp>
        <p:nvSpPr>
          <p:cNvPr id="94" name="TextBox 93">
            <a:extLst xmlns:a="http://schemas.openxmlformats.org/drawingml/2006/main">
              <a:ext uri="{FF2B5EF4-FFF2-40B4-BE49-F238E27FC236}">
                <a16:creationId xmlns:a16="http://schemas.microsoft.com/office/drawing/2014/main" id="{8681EB53-5E7C-F0D2-F6EC-FAA9856EC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656" y="3282696"/>
            <a:ext cx="384048" cy="15696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020">
                <a:solidFill>
                  <a:srgbClr val="9AA7B4"/>
                </a:solidFill>
                <a:latin typeface="Arial"/>
                <a:ea typeface="Arial"/>
                <a:cs typeface="Arial"/>
              </a:rPr>
              <a:t>7.8</a:t>
            </a:r>
          </a:p>
        </p:txBody>
      </p:sp>
      <p:sp>
        <p:nvSpPr>
          <p:cNvPr id="95" name="TextBox 94">
            <a:extLst xmlns:a="http://schemas.openxmlformats.org/drawingml/2006/main">
              <a:ext uri="{FF2B5EF4-FFF2-40B4-BE49-F238E27FC236}">
                <a16:creationId xmlns:a16="http://schemas.microsoft.com/office/drawing/2014/main" id="{728D317A-E44C-A2DA-7779-F2183EC83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7296" y="3282696"/>
            <a:ext cx="530352" cy="1600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040" b="1">
                <a:solidFill>
                  <a:srgbClr val="E6EDF3"/>
                </a:solidFill>
                <a:latin typeface="Arial"/>
                <a:ea typeface="Arial"/>
                <a:cs typeface="Arial"/>
              </a:rPr>
              <a:t>0.984</a:t>
            </a:r>
          </a:p>
        </p:txBody>
      </p:sp>
      <p:sp>
        <p:nvSpPr>
          <p:cNvPr id="96" name="Rectangle 95">
            <a:extLst xmlns:a="http://schemas.openxmlformats.org/drawingml/2006/main">
              <a:ext uri="{FF2B5EF4-FFF2-40B4-BE49-F238E27FC236}">
                <a16:creationId xmlns:a16="http://schemas.microsoft.com/office/drawing/2014/main" id="{3972B81B-2CC5-5110-E4D5-15FC4B246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712464"/>
            <a:ext cx="5559552" cy="42062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1C24">
              <a:alpha val="65000"/>
            </a:srgbClr>
          </a:solidFill>
          <a:ln xmlns:a="http://schemas.openxmlformats.org/drawingml/2006/main" w="12700" cmpd="sng">
            <a:noFill/>
            <a:prstDash val="solid"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7" name="Oval 96">
            <a:extLst xmlns:a="http://schemas.openxmlformats.org/drawingml/2006/main">
              <a:ext uri="{FF2B5EF4-FFF2-40B4-BE49-F238E27FC236}">
                <a16:creationId xmlns:a16="http://schemas.microsoft.com/office/drawing/2014/main" id="{1EE31729-541A-B056-BFC5-6FA34649F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976" y="3781044"/>
            <a:ext cx="283464" cy="28346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2330"/>
          </a:solidFill>
          <a:ln xmlns:a="http://schemas.openxmlformats.org/drawingml/2006/main" w="12700">
            <a:solidFill>
              <a:srgbClr val="8B7CF6"/>
            </a:solidFill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8" name="TextBox 97">
            <a:extLst xmlns:a="http://schemas.openxmlformats.org/drawingml/2006/main">
              <a:ext uri="{FF2B5EF4-FFF2-40B4-BE49-F238E27FC236}">
                <a16:creationId xmlns:a16="http://schemas.microsoft.com/office/drawing/2014/main" id="{021A9A07-7A0B-B932-AFF9-918F65302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976" y="3781044"/>
            <a:ext cx="283464" cy="1415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920" b="1">
                <a:solidFill>
                  <a:srgbClr val="E6EDF3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99" name="TextBox 98">
            <a:extLst xmlns:a="http://schemas.openxmlformats.org/drawingml/2006/main">
              <a:ext uri="{FF2B5EF4-FFF2-40B4-BE49-F238E27FC236}">
                <a16:creationId xmlns:a16="http://schemas.microsoft.com/office/drawing/2014/main" id="{91D234F5-9C71-193F-9CB7-783397D95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3730752"/>
            <a:ext cx="3337560" cy="16312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r>
              <a:rPr sz="1060" b="1">
                <a:solidFill>
                  <a:srgbClr val="E6EDF3"/>
                </a:solidFill>
                <a:latin typeface="Arial"/>
                <a:ea typeface="Arial"/>
                <a:cs typeface="Arial"/>
              </a:rPr>
              <a:t>Senior AI Engineer - Apple</a:t>
            </a:r>
          </a:p>
        </p:txBody>
      </p:sp>
      <p:sp>
        <p:nvSpPr>
          <p:cNvPr id="100" name="TextBox 99">
            <a:extLst xmlns:a="http://schemas.openxmlformats.org/drawingml/2006/main">
              <a:ext uri="{FF2B5EF4-FFF2-40B4-BE49-F238E27FC236}">
                <a16:creationId xmlns:a16="http://schemas.microsoft.com/office/drawing/2014/main" id="{65163C17-B8D7-1E4F-D059-7B57741FA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3931920"/>
            <a:ext cx="3529584" cy="1261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r>
              <a:rPr sz="820">
                <a:solidFill>
                  <a:srgbClr val="6E7C8C"/>
                </a:solidFill>
                <a:latin typeface="Arial"/>
                <a:ea typeface="Arial"/>
                <a:cs typeface="Arial"/>
              </a:rPr>
              <a:t>FAISS + fine-tuning + 30-day notice</a:t>
            </a:r>
          </a:p>
        </p:txBody>
      </p:sp>
      <p:sp>
        <p:nvSpPr>
          <p:cNvPr id="101" name="TextBox 100">
            <a:extLst xmlns:a="http://schemas.openxmlformats.org/drawingml/2006/main">
              <a:ext uri="{FF2B5EF4-FFF2-40B4-BE49-F238E27FC236}">
                <a16:creationId xmlns:a16="http://schemas.microsoft.com/office/drawing/2014/main" id="{ACC8B7A6-AD90-8FF7-F9B5-18A94651F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656" y="3785616"/>
            <a:ext cx="384048" cy="15696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020">
                <a:solidFill>
                  <a:srgbClr val="9AA7B4"/>
                </a:solidFill>
                <a:latin typeface="Arial"/>
                <a:ea typeface="Arial"/>
                <a:cs typeface="Arial"/>
              </a:rPr>
              <a:t>5.9</a:t>
            </a:r>
          </a:p>
        </p:txBody>
      </p:sp>
      <p:sp>
        <p:nvSpPr>
          <p:cNvPr id="102" name="TextBox 101">
            <a:extLst xmlns:a="http://schemas.openxmlformats.org/drawingml/2006/main">
              <a:ext uri="{FF2B5EF4-FFF2-40B4-BE49-F238E27FC236}">
                <a16:creationId xmlns:a16="http://schemas.microsoft.com/office/drawing/2014/main" id="{405C7A32-FB22-8F48-AEA1-435902DC3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7296" y="3785616"/>
            <a:ext cx="530352" cy="1600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040" b="1">
                <a:solidFill>
                  <a:srgbClr val="E6EDF3"/>
                </a:solidFill>
                <a:latin typeface="Arial"/>
                <a:ea typeface="Arial"/>
                <a:cs typeface="Arial"/>
              </a:rPr>
              <a:t>0.960</a:t>
            </a:r>
          </a:p>
        </p:txBody>
      </p:sp>
      <p:sp>
        <p:nvSpPr>
          <p:cNvPr id="103" name="Rectangle 102">
            <a:extLst xmlns:a="http://schemas.openxmlformats.org/drawingml/2006/main">
              <a:ext uri="{FF2B5EF4-FFF2-40B4-BE49-F238E27FC236}">
                <a16:creationId xmlns:a16="http://schemas.microsoft.com/office/drawing/2014/main" id="{1D96B96E-C73B-44D7-C000-EF2AE7D19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4215384"/>
            <a:ext cx="5559552" cy="42062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1C24">
              <a:alpha val="65000"/>
            </a:srgbClr>
          </a:solidFill>
          <a:ln xmlns:a="http://schemas.openxmlformats.org/drawingml/2006/main" w="12700" cmpd="sng">
            <a:noFill/>
            <a:prstDash val="solid"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04" name="Oval 103">
            <a:extLst xmlns:a="http://schemas.openxmlformats.org/drawingml/2006/main">
              <a:ext uri="{FF2B5EF4-FFF2-40B4-BE49-F238E27FC236}">
                <a16:creationId xmlns:a16="http://schemas.microsoft.com/office/drawing/2014/main" id="{E4E9BA67-BC9B-8533-D331-3BC66C489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976" y="4283964"/>
            <a:ext cx="283464" cy="28346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2330"/>
          </a:solidFill>
          <a:ln xmlns:a="http://schemas.openxmlformats.org/drawingml/2006/main" w="12700">
            <a:solidFill>
              <a:srgbClr val="8B7CF6"/>
            </a:solidFill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05" name="TextBox 104">
            <a:extLst xmlns:a="http://schemas.openxmlformats.org/drawingml/2006/main">
              <a:ext uri="{FF2B5EF4-FFF2-40B4-BE49-F238E27FC236}">
                <a16:creationId xmlns:a16="http://schemas.microsoft.com/office/drawing/2014/main" id="{C574ACB9-4395-0E45-CCC1-9C7B4F10B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976" y="4283964"/>
            <a:ext cx="283464" cy="1415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920" b="1">
                <a:solidFill>
                  <a:srgbClr val="E6EDF3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06" name="TextBox 105">
            <a:extLst xmlns:a="http://schemas.openxmlformats.org/drawingml/2006/main">
              <a:ext uri="{FF2B5EF4-FFF2-40B4-BE49-F238E27FC236}">
                <a16:creationId xmlns:a16="http://schemas.microsoft.com/office/drawing/2014/main" id="{91088F14-D80E-81E2-8126-DEE011BB4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4233672"/>
            <a:ext cx="3337560" cy="16312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r>
              <a:rPr sz="1060" b="1">
                <a:solidFill>
                  <a:srgbClr val="E6EDF3"/>
                </a:solidFill>
                <a:latin typeface="Arial"/>
                <a:ea typeface="Arial"/>
                <a:cs typeface="Arial"/>
              </a:rPr>
              <a:t>Senior ML Engineer - Flipkart</a:t>
            </a:r>
          </a:p>
        </p:txBody>
      </p:sp>
      <p:sp>
        <p:nvSpPr>
          <p:cNvPr id="107" name="TextBox 106">
            <a:extLst xmlns:a="http://schemas.openxmlformats.org/drawingml/2006/main">
              <a:ext uri="{FF2B5EF4-FFF2-40B4-BE49-F238E27FC236}">
                <a16:creationId xmlns:a16="http://schemas.microsoft.com/office/drawing/2014/main" id="{45C93A48-0608-70E3-E0F2-E2C6BBE19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4434840"/>
            <a:ext cx="3529584" cy="1261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r>
              <a:rPr sz="820">
                <a:solidFill>
                  <a:srgbClr val="6E7C8C"/>
                </a:solidFill>
                <a:latin typeface="Arial"/>
                <a:ea typeface="Arial"/>
                <a:cs typeface="Arial"/>
              </a:rPr>
              <a:t>semantic search at 35M+ item scale</a:t>
            </a:r>
          </a:p>
        </p:txBody>
      </p:sp>
      <p:sp>
        <p:nvSpPr>
          <p:cNvPr id="108" name="TextBox 107">
            <a:extLst xmlns:a="http://schemas.openxmlformats.org/drawingml/2006/main">
              <a:ext uri="{FF2B5EF4-FFF2-40B4-BE49-F238E27FC236}">
                <a16:creationId xmlns:a16="http://schemas.microsoft.com/office/drawing/2014/main" id="{CEDAE3B7-FCC6-10BD-FDDC-5311B8B98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656" y="4288536"/>
            <a:ext cx="384048" cy="15696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020">
                <a:solidFill>
                  <a:srgbClr val="9AA7B4"/>
                </a:solidFill>
                <a:latin typeface="Arial"/>
                <a:ea typeface="Arial"/>
                <a:cs typeface="Arial"/>
              </a:rPr>
              <a:t>8.1</a:t>
            </a:r>
          </a:p>
        </p:txBody>
      </p:sp>
      <p:sp>
        <p:nvSpPr>
          <p:cNvPr id="109" name="TextBox 108">
            <a:extLst xmlns:a="http://schemas.openxmlformats.org/drawingml/2006/main">
              <a:ext uri="{FF2B5EF4-FFF2-40B4-BE49-F238E27FC236}">
                <a16:creationId xmlns:a16="http://schemas.microsoft.com/office/drawing/2014/main" id="{332A4FB0-F315-BF11-A0FC-198FDED68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7296" y="4288536"/>
            <a:ext cx="530352" cy="1600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040" b="1">
                <a:solidFill>
                  <a:srgbClr val="E6EDF3"/>
                </a:solidFill>
                <a:latin typeface="Arial"/>
                <a:ea typeface="Arial"/>
                <a:cs typeface="Arial"/>
              </a:rPr>
              <a:t>0.957</a:t>
            </a:r>
          </a:p>
        </p:txBody>
      </p:sp>
      <p:sp>
        <p:nvSpPr>
          <p:cNvPr id="110" name="Rectangle 109">
            <a:extLst xmlns:a="http://schemas.openxmlformats.org/drawingml/2006/main">
              <a:ext uri="{FF2B5EF4-FFF2-40B4-BE49-F238E27FC236}">
                <a16:creationId xmlns:a16="http://schemas.microsoft.com/office/drawing/2014/main" id="{271AC048-521A-C76A-02DF-F573344D9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4718304"/>
            <a:ext cx="5559552" cy="42062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1C24">
              <a:alpha val="65000"/>
            </a:srgbClr>
          </a:solidFill>
          <a:ln xmlns:a="http://schemas.openxmlformats.org/drawingml/2006/main" w="12700" cmpd="sng">
            <a:noFill/>
            <a:prstDash val="solid"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1" name="Oval 110">
            <a:extLst xmlns:a="http://schemas.openxmlformats.org/drawingml/2006/main">
              <a:ext uri="{FF2B5EF4-FFF2-40B4-BE49-F238E27FC236}">
                <a16:creationId xmlns:a16="http://schemas.microsoft.com/office/drawing/2014/main" id="{1758716B-D5B9-D5AF-8E57-186F713D8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976" y="4786884"/>
            <a:ext cx="283464" cy="28346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2330"/>
          </a:solidFill>
          <a:ln xmlns:a="http://schemas.openxmlformats.org/drawingml/2006/main" w="12700">
            <a:solidFill>
              <a:srgbClr val="8B7CF6"/>
            </a:solidFill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2" name="TextBox 111">
            <a:extLst xmlns:a="http://schemas.openxmlformats.org/drawingml/2006/main">
              <a:ext uri="{FF2B5EF4-FFF2-40B4-BE49-F238E27FC236}">
                <a16:creationId xmlns:a16="http://schemas.microsoft.com/office/drawing/2014/main" id="{5F95A906-1FE3-3EE9-B4A9-0E654143D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976" y="4786884"/>
            <a:ext cx="283464" cy="1415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920" b="1">
                <a:solidFill>
                  <a:srgbClr val="E6EDF3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113" name="TextBox 112">
            <a:extLst xmlns:a="http://schemas.openxmlformats.org/drawingml/2006/main">
              <a:ext uri="{FF2B5EF4-FFF2-40B4-BE49-F238E27FC236}">
                <a16:creationId xmlns:a16="http://schemas.microsoft.com/office/drawing/2014/main" id="{1C54A2B8-4420-B697-C7C9-F1D94A057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4736592"/>
            <a:ext cx="3337560" cy="16312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r>
              <a:rPr sz="1060" b="1">
                <a:solidFill>
                  <a:srgbClr val="E6EDF3"/>
                </a:solidFill>
                <a:latin typeface="Arial"/>
                <a:ea typeface="Arial"/>
                <a:cs typeface="Arial"/>
              </a:rPr>
              <a:t>Lead AI Engineer - Razorpay</a:t>
            </a:r>
          </a:p>
        </p:txBody>
      </p:sp>
      <p:sp>
        <p:nvSpPr>
          <p:cNvPr id="114" name="TextBox 113">
            <a:extLst xmlns:a="http://schemas.openxmlformats.org/drawingml/2006/main">
              <a:ext uri="{FF2B5EF4-FFF2-40B4-BE49-F238E27FC236}">
                <a16:creationId xmlns:a16="http://schemas.microsoft.com/office/drawing/2014/main" id="{64D4130E-0E72-2B55-BF9F-516AD735B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4937760"/>
            <a:ext cx="3529584" cy="1261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r>
              <a:rPr sz="820">
                <a:solidFill>
                  <a:srgbClr val="6E7C8C"/>
                </a:solidFill>
                <a:latin typeface="Arial"/>
                <a:ea typeface="Arial"/>
                <a:cs typeface="Arial"/>
              </a:rPr>
              <a:t>IR + vector search + learning to rank</a:t>
            </a:r>
          </a:p>
        </p:txBody>
      </p:sp>
      <p:sp>
        <p:nvSpPr>
          <p:cNvPr id="115" name="TextBox 114">
            <a:extLst xmlns:a="http://schemas.openxmlformats.org/drawingml/2006/main">
              <a:ext uri="{FF2B5EF4-FFF2-40B4-BE49-F238E27FC236}">
                <a16:creationId xmlns:a16="http://schemas.microsoft.com/office/drawing/2014/main" id="{4667DF28-07FF-D191-B312-47DEBBC26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656" y="4791456"/>
            <a:ext cx="384048" cy="15696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020">
                <a:solidFill>
                  <a:srgbClr val="9AA7B4"/>
                </a:solidFill>
                <a:latin typeface="Arial"/>
                <a:ea typeface="Arial"/>
                <a:cs typeface="Arial"/>
              </a:rPr>
              <a:t>6.7</a:t>
            </a:r>
          </a:p>
        </p:txBody>
      </p:sp>
      <p:sp>
        <p:nvSpPr>
          <p:cNvPr id="116" name="TextBox 115">
            <a:extLst xmlns:a="http://schemas.openxmlformats.org/drawingml/2006/main">
              <a:ext uri="{FF2B5EF4-FFF2-40B4-BE49-F238E27FC236}">
                <a16:creationId xmlns:a16="http://schemas.microsoft.com/office/drawing/2014/main" id="{09206C98-E105-CA05-700A-411234778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7296" y="4791456"/>
            <a:ext cx="530352" cy="1600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040" b="1">
                <a:solidFill>
                  <a:srgbClr val="E6EDF3"/>
                </a:solidFill>
                <a:latin typeface="Arial"/>
                <a:ea typeface="Arial"/>
                <a:cs typeface="Arial"/>
              </a:rPr>
              <a:t>0.932</a:t>
            </a:r>
          </a:p>
        </p:txBody>
      </p:sp>
      <p:sp>
        <p:nvSpPr>
          <p:cNvPr id="117" name="Rectangle 116">
            <a:extLst xmlns:a="http://schemas.openxmlformats.org/drawingml/2006/main">
              <a:ext uri="{FF2B5EF4-FFF2-40B4-BE49-F238E27FC236}">
                <a16:creationId xmlns:a16="http://schemas.microsoft.com/office/drawing/2014/main" id="{266EB07F-FD98-C799-797E-9550D5943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5221224"/>
            <a:ext cx="5559552" cy="42062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1C24">
              <a:alpha val="65000"/>
            </a:srgbClr>
          </a:solidFill>
          <a:ln xmlns:a="http://schemas.openxmlformats.org/drawingml/2006/main" w="12700" cmpd="sng">
            <a:noFill/>
            <a:prstDash val="solid"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8" name="Oval 117">
            <a:extLst xmlns:a="http://schemas.openxmlformats.org/drawingml/2006/main">
              <a:ext uri="{FF2B5EF4-FFF2-40B4-BE49-F238E27FC236}">
                <a16:creationId xmlns:a16="http://schemas.microsoft.com/office/drawing/2014/main" id="{BF588870-B092-6259-DE85-98201D46A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976" y="5289804"/>
            <a:ext cx="283464" cy="28346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2330"/>
          </a:solidFill>
          <a:ln xmlns:a="http://schemas.openxmlformats.org/drawingml/2006/main" w="12700">
            <a:solidFill>
              <a:srgbClr val="8B7CF6"/>
            </a:solidFill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9" name="TextBox 118">
            <a:extLst xmlns:a="http://schemas.openxmlformats.org/drawingml/2006/main">
              <a:ext uri="{FF2B5EF4-FFF2-40B4-BE49-F238E27FC236}">
                <a16:creationId xmlns:a16="http://schemas.microsoft.com/office/drawing/2014/main" id="{F40AC9DE-F443-DC73-5495-501871B24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976" y="5289804"/>
            <a:ext cx="283464" cy="1415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920" b="1">
                <a:solidFill>
                  <a:srgbClr val="E6EDF3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120" name="TextBox 119">
            <a:extLst xmlns:a="http://schemas.openxmlformats.org/drawingml/2006/main">
              <a:ext uri="{FF2B5EF4-FFF2-40B4-BE49-F238E27FC236}">
                <a16:creationId xmlns:a16="http://schemas.microsoft.com/office/drawing/2014/main" id="{812B6F3B-1521-4F33-2D35-F46901BFE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5239512"/>
            <a:ext cx="3337560" cy="16312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r>
              <a:rPr sz="1060" b="1">
                <a:solidFill>
                  <a:srgbClr val="E6EDF3"/>
                </a:solidFill>
                <a:latin typeface="Arial"/>
                <a:ea typeface="Arial"/>
                <a:cs typeface="Arial"/>
              </a:rPr>
              <a:t>Senior NLP Engineer - Salesforce</a:t>
            </a:r>
          </a:p>
        </p:txBody>
      </p:sp>
      <p:sp>
        <p:nvSpPr>
          <p:cNvPr id="121" name="TextBox 120">
            <a:extLst xmlns:a="http://schemas.openxmlformats.org/drawingml/2006/main">
              <a:ext uri="{FF2B5EF4-FFF2-40B4-BE49-F238E27FC236}">
                <a16:creationId xmlns:a16="http://schemas.microsoft.com/office/drawing/2014/main" id="{D5E2A240-C915-560A-FBB0-33125042C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5440680"/>
            <a:ext cx="3529584" cy="1261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r>
              <a:rPr sz="820">
                <a:solidFill>
                  <a:srgbClr val="6E7C8C"/>
                </a:solidFill>
                <a:latin typeface="Arial"/>
                <a:ea typeface="Arial"/>
                <a:cs typeface="Arial"/>
              </a:rPr>
              <a:t>Pinecone + Elasticsearch; Amazon search depth</a:t>
            </a:r>
          </a:p>
        </p:txBody>
      </p:sp>
      <p:sp>
        <p:nvSpPr>
          <p:cNvPr id="122" name="TextBox 121">
            <a:extLst xmlns:a="http://schemas.openxmlformats.org/drawingml/2006/main">
              <a:ext uri="{FF2B5EF4-FFF2-40B4-BE49-F238E27FC236}">
                <a16:creationId xmlns:a16="http://schemas.microsoft.com/office/drawing/2014/main" id="{AEE1F685-98AF-1187-4995-F89D8574E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656" y="5294376"/>
            <a:ext cx="384048" cy="15696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020">
                <a:solidFill>
                  <a:srgbClr val="9AA7B4"/>
                </a:solidFill>
                <a:latin typeface="Arial"/>
                <a:ea typeface="Arial"/>
                <a:cs typeface="Arial"/>
              </a:rPr>
              <a:t>8.9</a:t>
            </a:r>
          </a:p>
        </p:txBody>
      </p:sp>
      <p:sp>
        <p:nvSpPr>
          <p:cNvPr id="123" name="TextBox 122">
            <a:extLst xmlns:a="http://schemas.openxmlformats.org/drawingml/2006/main">
              <a:ext uri="{FF2B5EF4-FFF2-40B4-BE49-F238E27FC236}">
                <a16:creationId xmlns:a16="http://schemas.microsoft.com/office/drawing/2014/main" id="{73E96677-0BB9-BE21-F973-6888CB18E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7296" y="5294376"/>
            <a:ext cx="530352" cy="1600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040" b="1">
                <a:solidFill>
                  <a:srgbClr val="E6EDF3"/>
                </a:solidFill>
                <a:latin typeface="Arial"/>
                <a:ea typeface="Arial"/>
                <a:cs typeface="Arial"/>
              </a:rPr>
              <a:t>0.931</a:t>
            </a:r>
          </a:p>
        </p:txBody>
      </p:sp>
      <p:sp>
        <p:nvSpPr>
          <p:cNvPr id="124" name="TextBox 123">
            <a:extLst xmlns:a="http://schemas.openxmlformats.org/drawingml/2006/main">
              <a:ext uri="{FF2B5EF4-FFF2-40B4-BE49-F238E27FC236}">
                <a16:creationId xmlns:a16="http://schemas.microsoft.com/office/drawing/2014/main" id="{ECB533EF-38CF-ABA4-28F6-EBC378E60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5623560"/>
            <a:ext cx="5394960" cy="286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r>
              <a:rPr sz="930" b="1">
                <a:solidFill>
                  <a:srgbClr val="8B7CF6"/>
                </a:solidFill>
                <a:latin typeface="Arial"/>
                <a:ea typeface="Arial"/>
                <a:cs typeface="Arial"/>
              </a:rPr>
              <a:t>Readout: all six combine production retrieval/ranking evidence, seniority, and recruiter-ready behavior.</a:t>
            </a:r>
          </a:p>
        </p:txBody>
      </p:sp>
      <p:sp>
        <p:nvSpPr>
          <p:cNvPr id="125" name="Rectangle: Rounded Corners 124">
            <a:extLst xmlns:a="http://schemas.openxmlformats.org/drawingml/2006/main">
              <a:ext uri="{FF2B5EF4-FFF2-40B4-BE49-F238E27FC236}">
                <a16:creationId xmlns:a16="http://schemas.microsoft.com/office/drawing/2014/main" id="{2BA23C8D-70DE-57D5-30D8-300109CF4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1810512"/>
            <a:ext cx="4462272" cy="4160520"/>
          </a:xfrm>
          <a:prstGeom xmlns:a="http://schemas.openxmlformats.org/drawingml/2006/main" prst="roundRect">
            <a:avLst>
              <a:gd name="adj" fmla="val 3500"/>
            </a:avLst>
          </a:prstGeom>
          <a:solidFill xmlns:a="http://schemas.openxmlformats.org/drawingml/2006/main">
            <a:srgbClr val="1B2330"/>
          </a:solidFill>
          <a:ln xmlns:a="http://schemas.openxmlformats.org/drawingml/2006/main" w="12700">
            <a:solidFill>
              <a:srgbClr val="2A3340"/>
            </a:solidFill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6" name="TextBox 125">
            <a:extLst xmlns:a="http://schemas.openxmlformats.org/drawingml/2006/main">
              <a:ext uri="{FF2B5EF4-FFF2-40B4-BE49-F238E27FC236}">
                <a16:creationId xmlns:a16="http://schemas.microsoft.com/office/drawing/2014/main" id="{8A8DA593-2A17-DAB1-3F2F-995CCBEA7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0920" y="2029968"/>
            <a:ext cx="2194560" cy="2308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r>
              <a:rPr sz="1500" b="1">
                <a:solidFill>
                  <a:srgbClr val="2DD4BF"/>
                </a:solidFill>
                <a:latin typeface="Arial"/>
                <a:ea typeface="Arial"/>
                <a:cs typeface="Arial"/>
              </a:rPr>
              <a:t>Why #1 wins</a:t>
            </a:r>
          </a:p>
        </p:txBody>
      </p:sp>
      <p:sp>
        <p:nvSpPr>
          <p:cNvPr id="127" name="Rectangle: Rounded Corners 126">
            <a:extLst xmlns:a="http://schemas.openxmlformats.org/drawingml/2006/main">
              <a:ext uri="{FF2B5EF4-FFF2-40B4-BE49-F238E27FC236}">
                <a16:creationId xmlns:a16="http://schemas.microsoft.com/office/drawing/2014/main" id="{9F0D344D-A642-5D26-15DE-DBDB2597B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1552" y="2029968"/>
            <a:ext cx="1005840" cy="256032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2330"/>
          </a:solidFill>
          <a:ln xmlns:a="http://schemas.openxmlformats.org/drawingml/2006/main" w="12700" cmpd="sng">
            <a:solidFill>
              <a:srgbClr val="2DD4BF">
                <a:alpha val="65000"/>
              </a:srgbClr>
            </a:solidFill>
            <a:prstDash val="solid"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8" name="TextBox 127">
            <a:extLst xmlns:a="http://schemas.openxmlformats.org/drawingml/2006/main">
              <a:ext uri="{FF2B5EF4-FFF2-40B4-BE49-F238E27FC236}">
                <a16:creationId xmlns:a16="http://schemas.microsoft.com/office/drawing/2014/main" id="{6C1BF720-D7D1-BBB5-8079-722857B8D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4704" y="2061972"/>
            <a:ext cx="859536" cy="13080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850" b="1">
                <a:solidFill>
                  <a:srgbClr val="E6EDF3"/>
                </a:solidFill>
                <a:latin typeface="Arial"/>
                <a:ea typeface="Arial"/>
                <a:cs typeface="Arial"/>
              </a:rPr>
              <a:t>CAND_0018499</a:t>
            </a:r>
          </a:p>
        </p:txBody>
      </p:sp>
      <p:sp>
        <p:nvSpPr>
          <p:cNvPr id="129" name="TextBox 128">
            <a:extLst xmlns:a="http://schemas.openxmlformats.org/drawingml/2006/main">
              <a:ext uri="{FF2B5EF4-FFF2-40B4-BE49-F238E27FC236}">
                <a16:creationId xmlns:a16="http://schemas.microsoft.com/office/drawing/2014/main" id="{B802435B-3E9A-E9F5-0A61-F8D898BD3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0920" y="2359152"/>
            <a:ext cx="3840480" cy="1600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r>
              <a:rPr sz="1040" b="1">
                <a:solidFill>
                  <a:srgbClr val="E6EDF3"/>
                </a:solidFill>
                <a:latin typeface="Arial"/>
                <a:ea typeface="Arial"/>
                <a:cs typeface="Arial"/>
              </a:rPr>
              <a:t>Senior ML Engineer</a:t>
            </a:r>
            <a:r>
              <a:rPr sz="1040">
                <a:solidFill>
                  <a:srgbClr val="9AA7B4"/>
                </a:solidFill>
                <a:latin typeface="Arial"/>
                <a:ea typeface="Arial"/>
                <a:cs typeface="Arial"/>
              </a:rPr>
              <a:t> at Zomato | 7.2 yrs | Noida | 15-day notice</a:t>
            </a:r>
          </a:p>
        </p:txBody>
      </p:sp>
      <p:sp>
        <p:nvSpPr>
          <p:cNvPr id="130" name="TextBox 129">
            <a:extLst xmlns:a="http://schemas.openxmlformats.org/drawingml/2006/main">
              <a:ext uri="{FF2B5EF4-FFF2-40B4-BE49-F238E27FC236}">
                <a16:creationId xmlns:a16="http://schemas.microsoft.com/office/drawing/2014/main" id="{F64D8439-AB54-8679-7E39-8C50F4167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0920" y="2816352"/>
            <a:ext cx="3017520" cy="15081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r>
              <a:rPr sz="980">
                <a:solidFill>
                  <a:srgbClr val="E6EDF3"/>
                </a:solidFill>
                <a:latin typeface="Arial"/>
                <a:ea typeface="Arial"/>
                <a:cs typeface="Arial"/>
              </a:rPr>
              <a:t>core_skill_match</a:t>
            </a:r>
          </a:p>
        </p:txBody>
      </p:sp>
      <p:sp>
        <p:nvSpPr>
          <p:cNvPr id="131" name="TextBox 130">
            <a:extLst xmlns:a="http://schemas.openxmlformats.org/drawingml/2006/main">
              <a:ext uri="{FF2B5EF4-FFF2-40B4-BE49-F238E27FC236}">
                <a16:creationId xmlns:a16="http://schemas.microsoft.com/office/drawing/2014/main" id="{E96801E7-7ACC-5F55-89EC-63337859E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7312" y="2816352"/>
            <a:ext cx="566928" cy="15081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80" b="1">
                <a:solidFill>
                  <a:srgbClr val="2DD4BF"/>
                </a:solidFill>
                <a:latin typeface="Arial"/>
                <a:ea typeface="Arial"/>
                <a:cs typeface="Arial"/>
              </a:rPr>
              <a:t>0.982</a:t>
            </a:r>
          </a:p>
        </p:txBody>
      </p:sp>
      <p:sp>
        <p:nvSpPr>
          <p:cNvPr id="132" name="Rectangle 131">
            <a:extLst xmlns:a="http://schemas.openxmlformats.org/drawingml/2006/main">
              <a:ext uri="{FF2B5EF4-FFF2-40B4-BE49-F238E27FC236}">
                <a16:creationId xmlns:a16="http://schemas.microsoft.com/office/drawing/2014/main" id="{38759B84-EFFA-966A-4631-658C81AE3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0920" y="3035808"/>
            <a:ext cx="3703319" cy="685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3340"/>
          </a:solidFill>
          <a:ln xmlns:a="http://schemas.openxmlformats.org/drawingml/2006/main" w="12700" cmpd="sng">
            <a:noFill/>
            <a:prstDash val="solid"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3" name="Rectangle 132">
            <a:extLst xmlns:a="http://schemas.openxmlformats.org/drawingml/2006/main">
              <a:ext uri="{FF2B5EF4-FFF2-40B4-BE49-F238E27FC236}">
                <a16:creationId xmlns:a16="http://schemas.microsoft.com/office/drawing/2014/main" id="{EA0D3225-DB95-893A-1FC7-D6D6C6B42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0920" y="3035808"/>
            <a:ext cx="3636660" cy="685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D4BF"/>
          </a:solidFill>
          <a:ln xmlns:a="http://schemas.openxmlformats.org/drawingml/2006/main" w="12700" cmpd="sng">
            <a:noFill/>
            <a:prstDash val="solid"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4" name="TextBox 133">
            <a:extLst xmlns:a="http://schemas.openxmlformats.org/drawingml/2006/main">
              <a:ext uri="{FF2B5EF4-FFF2-40B4-BE49-F238E27FC236}">
                <a16:creationId xmlns:a16="http://schemas.microsoft.com/office/drawing/2014/main" id="{EE9C4589-0219-7C76-EAB2-F722F968A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0920" y="3246120"/>
            <a:ext cx="3017520" cy="15081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r>
              <a:rPr sz="980">
                <a:solidFill>
                  <a:srgbClr val="E6EDF3"/>
                </a:solidFill>
                <a:latin typeface="Arial"/>
                <a:ea typeface="Arial"/>
                <a:cs typeface="Arial"/>
              </a:rPr>
              <a:t>production_evidence</a:t>
            </a:r>
          </a:p>
        </p:txBody>
      </p:sp>
      <p:sp>
        <p:nvSpPr>
          <p:cNvPr id="135" name="TextBox 134">
            <a:extLst xmlns:a="http://schemas.openxmlformats.org/drawingml/2006/main">
              <a:ext uri="{FF2B5EF4-FFF2-40B4-BE49-F238E27FC236}">
                <a16:creationId xmlns:a16="http://schemas.microsoft.com/office/drawing/2014/main" id="{B4A6747D-8E7E-F7A6-3702-78D359D08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7312" y="3246120"/>
            <a:ext cx="566928" cy="15081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80" b="1">
                <a:solidFill>
                  <a:srgbClr val="2DD4BF"/>
                </a:solidFill>
                <a:latin typeface="Arial"/>
                <a:ea typeface="Arial"/>
                <a:cs typeface="Arial"/>
              </a:rPr>
              <a:t>1.000</a:t>
            </a:r>
          </a:p>
        </p:txBody>
      </p:sp>
      <p:sp>
        <p:nvSpPr>
          <p:cNvPr id="136" name="Rectangle 135">
            <a:extLst xmlns:a="http://schemas.openxmlformats.org/drawingml/2006/main">
              <a:ext uri="{FF2B5EF4-FFF2-40B4-BE49-F238E27FC236}">
                <a16:creationId xmlns:a16="http://schemas.microsoft.com/office/drawing/2014/main" id="{56B0C241-8397-506E-7404-1D7781D28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0920" y="3465576"/>
            <a:ext cx="3703319" cy="685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3340"/>
          </a:solidFill>
          <a:ln xmlns:a="http://schemas.openxmlformats.org/drawingml/2006/main" w="12700" cmpd="sng">
            <a:noFill/>
            <a:prstDash val="solid"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7" name="Rectangle 136">
            <a:extLst xmlns:a="http://schemas.openxmlformats.org/drawingml/2006/main">
              <a:ext uri="{FF2B5EF4-FFF2-40B4-BE49-F238E27FC236}">
                <a16:creationId xmlns:a16="http://schemas.microsoft.com/office/drawing/2014/main" id="{7C42CE98-78E6-3AB6-1E65-D42D15332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0920" y="3465576"/>
            <a:ext cx="3703319" cy="685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D4BF"/>
          </a:solidFill>
          <a:ln xmlns:a="http://schemas.openxmlformats.org/drawingml/2006/main" w="12700" cmpd="sng">
            <a:noFill/>
            <a:prstDash val="solid"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8" name="TextBox 137">
            <a:extLst xmlns:a="http://schemas.openxmlformats.org/drawingml/2006/main">
              <a:ext uri="{FF2B5EF4-FFF2-40B4-BE49-F238E27FC236}">
                <a16:creationId xmlns:a16="http://schemas.microsoft.com/office/drawing/2014/main" id="{AB6818D4-D55B-CE72-00BF-8410D16E4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0920" y="3675888"/>
            <a:ext cx="3017520" cy="15081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r>
              <a:rPr sz="980">
                <a:solidFill>
                  <a:srgbClr val="E6EDF3"/>
                </a:solidFill>
                <a:latin typeface="Arial"/>
                <a:ea typeface="Arial"/>
                <a:cs typeface="Arial"/>
              </a:rPr>
              <a:t>ir_ranking_experience</a:t>
            </a:r>
          </a:p>
        </p:txBody>
      </p:sp>
      <p:sp>
        <p:nvSpPr>
          <p:cNvPr id="139" name="TextBox 138">
            <a:extLst xmlns:a="http://schemas.openxmlformats.org/drawingml/2006/main">
              <a:ext uri="{FF2B5EF4-FFF2-40B4-BE49-F238E27FC236}">
                <a16:creationId xmlns:a16="http://schemas.microsoft.com/office/drawing/2014/main" id="{B8E7DF0C-11D3-CC9F-9AEE-F8135A435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7312" y="3675888"/>
            <a:ext cx="566928" cy="15081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80" b="1">
                <a:solidFill>
                  <a:srgbClr val="2DD4BF"/>
                </a:solidFill>
                <a:latin typeface="Arial"/>
                <a:ea typeface="Arial"/>
                <a:cs typeface="Arial"/>
              </a:rPr>
              <a:t>1.000</a:t>
            </a:r>
          </a:p>
        </p:txBody>
      </p:sp>
      <p:sp>
        <p:nvSpPr>
          <p:cNvPr id="140" name="Rectangle 139">
            <a:extLst xmlns:a="http://schemas.openxmlformats.org/drawingml/2006/main">
              <a:ext uri="{FF2B5EF4-FFF2-40B4-BE49-F238E27FC236}">
                <a16:creationId xmlns:a16="http://schemas.microsoft.com/office/drawing/2014/main" id="{5C43AFD2-B3C7-39E8-95BA-1B52FF262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0920" y="3895344"/>
            <a:ext cx="3703319" cy="685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3340"/>
          </a:solidFill>
          <a:ln xmlns:a="http://schemas.openxmlformats.org/drawingml/2006/main" w="12700" cmpd="sng">
            <a:noFill/>
            <a:prstDash val="solid"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41" name="Rectangle 140">
            <a:extLst xmlns:a="http://schemas.openxmlformats.org/drawingml/2006/main">
              <a:ext uri="{FF2B5EF4-FFF2-40B4-BE49-F238E27FC236}">
                <a16:creationId xmlns:a16="http://schemas.microsoft.com/office/drawing/2014/main" id="{7E3822FC-3290-0F95-C829-F430487F3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0920" y="3895344"/>
            <a:ext cx="3703319" cy="685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D4BF"/>
          </a:solidFill>
          <a:ln xmlns:a="http://schemas.openxmlformats.org/drawingml/2006/main" w="12700" cmpd="sng">
            <a:noFill/>
            <a:prstDash val="solid"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42" name="TextBox 141">
            <a:extLst xmlns:a="http://schemas.openxmlformats.org/drawingml/2006/main">
              <a:ext uri="{FF2B5EF4-FFF2-40B4-BE49-F238E27FC236}">
                <a16:creationId xmlns:a16="http://schemas.microsoft.com/office/drawing/2014/main" id="{86DFF22F-A30A-5A1B-FD9C-31091FEF9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0920" y="4105656"/>
            <a:ext cx="3017520" cy="15081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r>
              <a:rPr sz="980">
                <a:solidFill>
                  <a:srgbClr val="E6EDF3"/>
                </a:solidFill>
                <a:latin typeface="Arial"/>
                <a:ea typeface="Arial"/>
                <a:cs typeface="Arial"/>
              </a:rPr>
              <a:t>product_company_ratio</a:t>
            </a:r>
          </a:p>
        </p:txBody>
      </p:sp>
      <p:sp>
        <p:nvSpPr>
          <p:cNvPr id="143" name="TextBox 142">
            <a:extLst xmlns:a="http://schemas.openxmlformats.org/drawingml/2006/main">
              <a:ext uri="{FF2B5EF4-FFF2-40B4-BE49-F238E27FC236}">
                <a16:creationId xmlns:a16="http://schemas.microsoft.com/office/drawing/2014/main" id="{A7FB7E33-B5BD-505B-2F46-36E6FFE94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7312" y="4105656"/>
            <a:ext cx="566928" cy="15081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80" b="1">
                <a:solidFill>
                  <a:srgbClr val="2DD4BF"/>
                </a:solidFill>
                <a:latin typeface="Arial"/>
                <a:ea typeface="Arial"/>
                <a:cs typeface="Arial"/>
              </a:rPr>
              <a:t>1.000</a:t>
            </a:r>
          </a:p>
        </p:txBody>
      </p:sp>
      <p:sp>
        <p:nvSpPr>
          <p:cNvPr id="144" name="Rectangle 143">
            <a:extLst xmlns:a="http://schemas.openxmlformats.org/drawingml/2006/main">
              <a:ext uri="{FF2B5EF4-FFF2-40B4-BE49-F238E27FC236}">
                <a16:creationId xmlns:a16="http://schemas.microsoft.com/office/drawing/2014/main" id="{5958C2B8-FEDE-81BA-EFA6-6EB2DEB39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0920" y="4325112"/>
            <a:ext cx="3703319" cy="685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3340"/>
          </a:solidFill>
          <a:ln xmlns:a="http://schemas.openxmlformats.org/drawingml/2006/main" w="12700" cmpd="sng">
            <a:noFill/>
            <a:prstDash val="solid"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45" name="Rectangle 144">
            <a:extLst xmlns:a="http://schemas.openxmlformats.org/drawingml/2006/main">
              <a:ext uri="{FF2B5EF4-FFF2-40B4-BE49-F238E27FC236}">
                <a16:creationId xmlns:a16="http://schemas.microsoft.com/office/drawing/2014/main" id="{F7B83E20-BBBC-BF29-EFA9-CF9C506A9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0920" y="4325112"/>
            <a:ext cx="3703319" cy="685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D4BF"/>
          </a:solidFill>
          <a:ln xmlns:a="http://schemas.openxmlformats.org/drawingml/2006/main" w="12700" cmpd="sng">
            <a:noFill/>
            <a:prstDash val="solid"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46" name="TextBox 145">
            <a:extLst xmlns:a="http://schemas.openxmlformats.org/drawingml/2006/main">
              <a:ext uri="{FF2B5EF4-FFF2-40B4-BE49-F238E27FC236}">
                <a16:creationId xmlns:a16="http://schemas.microsoft.com/office/drawing/2014/main" id="{F8A2A697-ACAB-3AD3-ADA1-332962E6E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0920" y="4535424"/>
            <a:ext cx="3017520" cy="15081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r>
              <a:rPr sz="980">
                <a:solidFill>
                  <a:srgbClr val="E6EDF3"/>
                </a:solidFill>
                <a:latin typeface="Arial"/>
                <a:ea typeface="Arial"/>
                <a:cs typeface="Arial"/>
              </a:rPr>
              <a:t>career_trajectory_score</a:t>
            </a:r>
          </a:p>
        </p:txBody>
      </p:sp>
      <p:sp>
        <p:nvSpPr>
          <p:cNvPr id="147" name="TextBox 146">
            <a:extLst xmlns:a="http://schemas.openxmlformats.org/drawingml/2006/main">
              <a:ext uri="{FF2B5EF4-FFF2-40B4-BE49-F238E27FC236}">
                <a16:creationId xmlns:a16="http://schemas.microsoft.com/office/drawing/2014/main" id="{50A996BF-6F73-941D-A9B4-78FB03DF3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7312" y="4535424"/>
            <a:ext cx="566928" cy="15081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80" b="1">
                <a:solidFill>
                  <a:srgbClr val="2DD4BF"/>
                </a:solidFill>
                <a:latin typeface="Arial"/>
                <a:ea typeface="Arial"/>
                <a:cs typeface="Arial"/>
              </a:rPr>
              <a:t>1.000</a:t>
            </a:r>
          </a:p>
        </p:txBody>
      </p:sp>
      <p:sp>
        <p:nvSpPr>
          <p:cNvPr id="148" name="Rectangle 147">
            <a:extLst xmlns:a="http://schemas.openxmlformats.org/drawingml/2006/main">
              <a:ext uri="{FF2B5EF4-FFF2-40B4-BE49-F238E27FC236}">
                <a16:creationId xmlns:a16="http://schemas.microsoft.com/office/drawing/2014/main" id="{4DADF1DB-AA47-FA52-8D60-76D75DC27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0920" y="4754880"/>
            <a:ext cx="3703319" cy="685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3340"/>
          </a:solidFill>
          <a:ln xmlns:a="http://schemas.openxmlformats.org/drawingml/2006/main" w="12700" cmpd="sng">
            <a:noFill/>
            <a:prstDash val="solid"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49" name="Rectangle 148">
            <a:extLst xmlns:a="http://schemas.openxmlformats.org/drawingml/2006/main">
              <a:ext uri="{FF2B5EF4-FFF2-40B4-BE49-F238E27FC236}">
                <a16:creationId xmlns:a16="http://schemas.microsoft.com/office/drawing/2014/main" id="{94FCB66B-9693-2540-9974-762342B03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0920" y="4754880"/>
            <a:ext cx="3703319" cy="685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D4BF"/>
          </a:solidFill>
          <a:ln xmlns:a="http://schemas.openxmlformats.org/drawingml/2006/main" w="12700" cmpd="sng">
            <a:noFill/>
            <a:prstDash val="solid"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0" name="Rectangle: Rounded Corners 149">
            <a:extLst xmlns:a="http://schemas.openxmlformats.org/drawingml/2006/main">
              <a:ext uri="{FF2B5EF4-FFF2-40B4-BE49-F238E27FC236}">
                <a16:creationId xmlns:a16="http://schemas.microsoft.com/office/drawing/2014/main" id="{7E054154-1A8B-0C02-70B5-55FAAA5C4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0920" y="5065776"/>
            <a:ext cx="1078992" cy="256032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2330"/>
          </a:solidFill>
          <a:ln xmlns:a="http://schemas.openxmlformats.org/drawingml/2006/main" w="12700" cmpd="sng">
            <a:solidFill>
              <a:srgbClr val="8B7CF6">
                <a:alpha val="65000"/>
              </a:srgbClr>
            </a:solidFill>
            <a:prstDash val="solid"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1" name="TextBox 150">
            <a:extLst xmlns:a="http://schemas.openxmlformats.org/drawingml/2006/main">
              <a:ext uri="{FF2B5EF4-FFF2-40B4-BE49-F238E27FC236}">
                <a16:creationId xmlns:a16="http://schemas.microsoft.com/office/drawing/2014/main" id="{E9FA85BA-C536-0ED1-44DD-DBE93C591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4072" y="5097780"/>
            <a:ext cx="932688" cy="13080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850" b="1">
                <a:solidFill>
                  <a:srgbClr val="E6EDF3"/>
                </a:solidFill>
                <a:latin typeface="Arial"/>
                <a:ea typeface="Arial"/>
                <a:cs typeface="Arial"/>
              </a:rPr>
              <a:t>behavior x1.10</a:t>
            </a:r>
          </a:p>
        </p:txBody>
      </p:sp>
      <p:sp>
        <p:nvSpPr>
          <p:cNvPr id="152" name="Rectangle: Rounded Corners 151">
            <a:extLst xmlns:a="http://schemas.openxmlformats.org/drawingml/2006/main">
              <a:ext uri="{FF2B5EF4-FFF2-40B4-BE49-F238E27FC236}">
                <a16:creationId xmlns:a16="http://schemas.microsoft.com/office/drawing/2014/main" id="{D88F64E7-105F-BBEF-414F-A2D2F603D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3648" y="5065776"/>
            <a:ext cx="1225296" cy="256032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2330"/>
          </a:solidFill>
          <a:ln xmlns:a="http://schemas.openxmlformats.org/drawingml/2006/main" w="12700" cmpd="sng">
            <a:solidFill>
              <a:srgbClr val="34D399">
                <a:alpha val="65000"/>
              </a:srgbClr>
            </a:solidFill>
            <a:prstDash val="solid"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3" name="TextBox 152">
            <a:extLst xmlns:a="http://schemas.openxmlformats.org/drawingml/2006/main">
              <a:ext uri="{FF2B5EF4-FFF2-40B4-BE49-F238E27FC236}">
                <a16:creationId xmlns:a16="http://schemas.microsoft.com/office/drawing/2014/main" id="{6004B888-3842-74AB-3A10-0A8D111AB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5097780"/>
            <a:ext cx="1078992" cy="13080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850" b="1">
                <a:solidFill>
                  <a:srgbClr val="E6EDF3"/>
                </a:solidFill>
                <a:latin typeface="Arial"/>
                <a:ea typeface="Arial"/>
                <a:cs typeface="Arial"/>
              </a:rPr>
              <a:t>honeypot x1.00</a:t>
            </a:r>
          </a:p>
        </p:txBody>
      </p:sp>
      <p:sp>
        <p:nvSpPr>
          <p:cNvPr id="154" name="Rectangle: Rounded Corners 153">
            <a:extLst xmlns:a="http://schemas.openxmlformats.org/drawingml/2006/main">
              <a:ext uri="{FF2B5EF4-FFF2-40B4-BE49-F238E27FC236}">
                <a16:creationId xmlns:a16="http://schemas.microsoft.com/office/drawing/2014/main" id="{A150F443-D1B4-6B3D-508F-D98A006BA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1824" y="5065776"/>
            <a:ext cx="822960" cy="256032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2330"/>
          </a:solidFill>
          <a:ln xmlns:a="http://schemas.openxmlformats.org/drawingml/2006/main" w="12700" cmpd="sng">
            <a:solidFill>
              <a:srgbClr val="34D399">
                <a:alpha val="65000"/>
              </a:srgbClr>
            </a:solidFill>
            <a:prstDash val="solid"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5" name="TextBox 154">
            <a:extLst xmlns:a="http://schemas.openxmlformats.org/drawingml/2006/main">
              <a:ext uri="{FF2B5EF4-FFF2-40B4-BE49-F238E27FC236}">
                <a16:creationId xmlns:a16="http://schemas.microsoft.com/office/drawing/2014/main" id="{B9DB95C4-B2B7-1E47-AA4A-D197407A4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4976" y="5097780"/>
            <a:ext cx="676656" cy="13080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850" b="1">
                <a:solidFill>
                  <a:srgbClr val="E6EDF3"/>
                </a:solidFill>
                <a:latin typeface="Arial"/>
                <a:ea typeface="Arial"/>
                <a:cs typeface="Arial"/>
              </a:rPr>
              <a:t>DQ x1.00</a:t>
            </a:r>
          </a:p>
        </p:txBody>
      </p:sp>
      <p:sp>
        <p:nvSpPr>
          <p:cNvPr id="156" name="Rectangle: Rounded Corners 155">
            <a:extLst xmlns:a="http://schemas.openxmlformats.org/drawingml/2006/main">
              <a:ext uri="{FF2B5EF4-FFF2-40B4-BE49-F238E27FC236}">
                <a16:creationId xmlns:a16="http://schemas.microsoft.com/office/drawing/2014/main" id="{09EAD379-8A2E-44B2-3358-DC1669AF7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0920" y="5449824"/>
            <a:ext cx="3703319" cy="512064"/>
          </a:xfrm>
          <a:prstGeom xmlns:a="http://schemas.openxmlformats.org/drawingml/2006/main" prst="roundRect">
            <a:avLst>
              <a:gd name="adj" fmla="val 3500"/>
            </a:avLst>
          </a:prstGeom>
          <a:solidFill xmlns:a="http://schemas.openxmlformats.org/drawingml/2006/main">
            <a:srgbClr val="161C24"/>
          </a:solidFill>
          <a:ln xmlns:a="http://schemas.openxmlformats.org/drawingml/2006/main" w="12700">
            <a:solidFill>
              <a:srgbClr val="2A3340"/>
            </a:solidFill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7" name="TextBox 156">
            <a:extLst xmlns:a="http://schemas.openxmlformats.org/drawingml/2006/main">
              <a:ext uri="{FF2B5EF4-FFF2-40B4-BE49-F238E27FC236}">
                <a16:creationId xmlns:a16="http://schemas.microsoft.com/office/drawing/2014/main" id="{409B0A7F-9E2D-B66C-5C05-C69C0DAF1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6368" y="5541264"/>
            <a:ext cx="3383280" cy="2554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r>
              <a:rPr sz="830" b="1">
                <a:solidFill>
                  <a:srgbClr val="8B7CF6"/>
                </a:solidFill>
                <a:latin typeface="Arial"/>
                <a:ea typeface="Arial"/>
                <a:cs typeface="Arial"/>
              </a:rPr>
              <a:t>Grounded reason: </a:t>
            </a:r>
            <a:r>
              <a:rPr sz="830" i="1">
                <a:solidFill>
                  <a:srgbClr val="9AA7B4"/>
                </a:solidFill>
                <a:latin typeface="Arial"/>
                <a:ea typeface="Arial"/>
                <a:cs typeface="Arial"/>
              </a:rPr>
              <a:t>shipped retrieval/ranking; skills include Learning to Rank + Embeddings; response 0.61.</a:t>
            </a:r>
          </a:p>
        </p:txBody>
      </p:sp>
      <p:sp>
        <p:nvSpPr>
          <p:cNvPr id="158" name="TextBox 157">
            <a:extLst xmlns:a="http://schemas.openxmlformats.org/drawingml/2006/main">
              <a:ext uri="{FF2B5EF4-FFF2-40B4-BE49-F238E27FC236}">
                <a16:creationId xmlns:a16="http://schemas.microsoft.com/office/drawing/2014/main" id="{F79F286E-DB10-AE93-9AF8-3A583F5A3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6473952"/>
            <a:ext cx="914400" cy="1384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>
                <a:solidFill>
                  <a:srgbClr val="6E7C8C"/>
                </a:solidFill>
                <a:latin typeface="Arial"/>
                <a:ea typeface="Arial"/>
                <a:cs typeface="Arial"/>
              </a:rPr>
              <a:t>7/14</a:t>
            </a:r>
          </a:p>
        </p:txBody>
      </p:sp>
      <p:sp>
        <p:nvSpPr>
          <p:cNvPr id="159" name="TextBox 158">
            <a:extLst xmlns:a="http://schemas.openxmlformats.org/drawingml/2006/main">
              <a:ext uri="{FF2B5EF4-FFF2-40B4-BE49-F238E27FC236}">
                <a16:creationId xmlns:a16="http://schemas.microsoft.com/office/drawing/2014/main" id="{9CB67968-E6C3-95CA-08D8-4F09F6117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6473952"/>
            <a:ext cx="2743200" cy="1384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r>
              <a:rPr sz="900" b="1">
                <a:solidFill>
                  <a:srgbClr val="6E7C8C"/>
                </a:solidFill>
                <a:latin typeface="Arial"/>
                <a:ea typeface="Arial"/>
                <a:cs typeface="Arial"/>
              </a:rPr>
              <a:t>HIREFIT RANKER</a:t>
            </a:r>
          </a:p>
        </p:txBody>
      </p:sp>
    </p:spTree>
    <p:extLst>
      <p:ext uri="{BB962C8B-B14F-4D97-AF65-F5344CB8AC3E}">
        <p14:creationId xmlns:p14="http://schemas.microsoft.com/office/powerpoint/2010/main" val="203394164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E111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5BA11B14-24E0-4E39-9236-57DEBFD34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84048"/>
            <a:ext cx="10911535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 spc="300">
                <a:solidFill>
                  <a:srgbClr val="8B7CF6"/>
                </a:solidFill>
                <a:latin typeface="Arial"/>
                <a:ea typeface="Arial"/>
                <a:cs typeface="Arial"/>
              </a:rPr>
              <a:t>WHY IT HOLDS UP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8B2997CE-6244-4F6D-AAD5-75D971609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658368"/>
            <a:ext cx="10911535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lnSpc>
                <a:spcPct val="98000"/>
              </a:lnSpc>
              <a:buNone/>
            </a:pPr>
            <a:r>
              <a:rPr sz="2600" b="1">
                <a:solidFill>
                  <a:srgbClr val="E6EDF3"/>
                </a:solidFill>
                <a:latin typeface="Arial"/>
                <a:ea typeface="Arial"/>
                <a:cs typeface="Arial"/>
              </a:rPr>
              <a:t>Stuffers and honeypots never reach the shortlist.</a:t>
            </a: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2DE0635D-144B-4537-A6A5-FD98408E7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335024"/>
            <a:ext cx="10911535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9AA7B4"/>
                </a:solidFill>
                <a:latin typeface="Arial"/>
                <a:ea typeface="Arial"/>
                <a:cs typeface="Arial"/>
              </a:rPr>
              <a:t>Measured on the released pool — the guardrails do real work, not decoration.</a:t>
            </a:r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10088F0A-8322-4F19-AD73-529F4BF6B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965960"/>
            <a:ext cx="3423818" cy="260604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161C24"/>
          </a:solidFill>
          <a:ln xmlns:a="http://schemas.openxmlformats.org/drawingml/2006/main" w="12700">
            <a:solidFill>
              <a:srgbClr val="2A3340"/>
            </a:solidFill>
            <a:prstDash val="solid"/>
          </a:ln>
          <a:effectLst xmlns:a="http://schemas.openxmlformats.org/drawingml/2006/main"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5973BC99-EC92-4A02-879A-AC890300A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40280"/>
            <a:ext cx="457200" cy="457200"/>
          </a:xfrm>
          <a:prstGeom xmlns:a="http://schemas.openxmlformats.org/drawingml/2006/main" prst="roundRect">
            <a:avLst>
              <a:gd name="adj" fmla="val 14000"/>
            </a:avLst>
          </a:prstGeom>
          <a:solidFill xmlns:a="http://schemas.openxmlformats.org/drawingml/2006/main">
            <a:srgbClr val="F2607B">
              <a:alpha val="18000"/>
            </a:srgbClr>
          </a:solidFill>
          <a:ln xmlns:a="http://schemas.openxmlformats.org/drawingml/2006/main" w="12700">
            <a:solidFill>
              <a:srgbClr val="F2607B">
                <a:alpha val="45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8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9865f381fb948c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14984" y="2340864"/>
            <a:ext cx="256032" cy="256032"/>
          </a:xfrm>
          <a:prstGeom xmlns:a="http://schemas.openxmlformats.org/drawingml/2006/main" prst="rect">
            <a:avLst/>
          </a:prstGeom>
        </p:spPr>
      </p:pic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0B81508B-22F3-4F0F-8914-75D7B0550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8760" y="2240280"/>
            <a:ext cx="2417978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E6EDF3"/>
                </a:solidFill>
                <a:latin typeface="Arial"/>
                <a:ea typeface="Arial"/>
                <a:cs typeface="Arial"/>
              </a:rPr>
              <a:t>Keyword stuffers buried</a:t>
            </a:r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DA3DB847-64BC-4C32-8078-6F61AEC3F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926080"/>
            <a:ext cx="2875178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4400" b="1">
                <a:solidFill>
                  <a:srgbClr val="F2607B"/>
                </a:solidFill>
                <a:latin typeface="Arial"/>
                <a:ea typeface="Arial"/>
                <a:cs typeface="Arial"/>
              </a:rPr>
              <a:t>4,800+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CDE7FBBC-820B-4774-B66D-6B26BB174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794760"/>
            <a:ext cx="2875178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lnSpc>
                <a:spcPct val="108000"/>
              </a:lnSpc>
              <a:buNone/>
            </a:pPr>
            <a:r>
              <a:rPr sz="1150">
                <a:solidFill>
                  <a:srgbClr val="9AA7B4"/>
                </a:solidFill>
                <a:latin typeface="Arial"/>
                <a:ea typeface="Arial"/>
                <a:cs typeface="Arial"/>
              </a:rPr>
              <a:t>Wrong-role profiles across the pool's 12 non-target strata — zero reach the top-100.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F0E311A4-BEAA-44E7-8AE6-5F11AF47F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3938" y="1965960"/>
            <a:ext cx="3423818" cy="260604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161C24"/>
          </a:solidFill>
          <a:ln xmlns:a="http://schemas.openxmlformats.org/drawingml/2006/main" w="12700">
            <a:solidFill>
              <a:srgbClr val="2A3340"/>
            </a:solidFill>
            <a:prstDash val="solid"/>
          </a:ln>
          <a:effectLst xmlns:a="http://schemas.openxmlformats.org/drawingml/2006/main"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7578E8CC-4890-4392-939D-7A7E31888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8258" y="2240280"/>
            <a:ext cx="457200" cy="457200"/>
          </a:xfrm>
          <a:prstGeom xmlns:a="http://schemas.openxmlformats.org/drawingml/2006/main" prst="roundRect">
            <a:avLst>
              <a:gd name="adj" fmla="val 14000"/>
            </a:avLst>
          </a:prstGeom>
          <a:solidFill xmlns:a="http://schemas.openxmlformats.org/drawingml/2006/main">
            <a:srgbClr val="F2607B">
              <a:alpha val="18000"/>
            </a:srgbClr>
          </a:solidFill>
          <a:ln xmlns:a="http://schemas.openxmlformats.org/drawingml/2006/main" w="12700">
            <a:solidFill>
              <a:srgbClr val="F2607B">
                <a:alpha val="45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44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0432924aa0542f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758842" y="2340864"/>
            <a:ext cx="256032" cy="256032"/>
          </a:xfrm>
          <a:prstGeom xmlns:a="http://schemas.openxmlformats.org/drawingml/2006/main" prst="rect">
            <a:avLst/>
          </a:prstGeom>
        </p:spPr>
      </p:pic>
      <p:sp>
        <p:nvSpPr>
          <p:cNvPr id="14" name="Text 10">
            <a:extLst xmlns:a="http://schemas.openxmlformats.org/drawingml/2006/main">
              <a:ext uri="{FF2B5EF4-FFF2-40B4-BE49-F238E27FC236}">
                <a16:creationId xmlns:a16="http://schemas.microsoft.com/office/drawing/2014/main" id="{512EC139-3762-4102-95D7-B3AE17530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2618" y="2240280"/>
            <a:ext cx="2417978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E6EDF3"/>
                </a:solidFill>
                <a:latin typeface="Arial"/>
                <a:ea typeface="Arial"/>
                <a:cs typeface="Arial"/>
              </a:rPr>
              <a:t>Honeypots blocked</a:t>
            </a:r>
          </a:p>
        </p:txBody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9FE4BED0-7C02-4CC9-878A-04AF1F0FD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8258" y="2926080"/>
            <a:ext cx="2875178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4400" b="1">
                <a:solidFill>
                  <a:srgbClr val="F2607B"/>
                </a:solidFill>
                <a:latin typeface="Arial"/>
                <a:ea typeface="Arial"/>
                <a:cs typeface="Arial"/>
              </a:rPr>
              <a:t>53 → 0</a:t>
            </a:r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BEE16393-77B5-4EDF-BED3-0A23A5644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8258" y="3794760"/>
            <a:ext cx="2875178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lnSpc>
                <a:spcPct val="108000"/>
              </a:lnSpc>
              <a:buNone/>
            </a:pPr>
            <a:r>
              <a:rPr sz="1150">
                <a:solidFill>
                  <a:srgbClr val="9AA7B4"/>
                </a:solidFill>
                <a:latin typeface="Arial"/>
                <a:ea typeface="Arial"/>
                <a:cs typeface="Arial"/>
              </a:rPr>
              <a:t>Impossible profiles detected, then zero emitted in the top 100. Challenge DQ threshold is &gt;10%.</a:t>
            </a:r>
          </a:p>
        </p:txBody>
      </p:sp>
      <p:sp>
        <p:nvSpPr>
          <p:cNvPr id="17" name="Shape 13">
            <a:extLst xmlns:a="http://schemas.openxmlformats.org/drawingml/2006/main">
              <a:ext uri="{FF2B5EF4-FFF2-40B4-BE49-F238E27FC236}">
                <a16:creationId xmlns:a16="http://schemas.microsoft.com/office/drawing/2014/main" id="{C21DD935-47DE-4325-9EBD-04CBA763A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7797" y="1965960"/>
            <a:ext cx="3423818" cy="260604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161C24"/>
          </a:solidFill>
          <a:ln xmlns:a="http://schemas.openxmlformats.org/drawingml/2006/main" w="12700">
            <a:solidFill>
              <a:srgbClr val="2A3340"/>
            </a:solidFill>
            <a:prstDash val="solid"/>
          </a:ln>
          <a:effectLst xmlns:a="http://schemas.openxmlformats.org/drawingml/2006/main"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Shape 14">
            <a:extLst xmlns:a="http://schemas.openxmlformats.org/drawingml/2006/main">
              <a:ext uri="{FF2B5EF4-FFF2-40B4-BE49-F238E27FC236}">
                <a16:creationId xmlns:a16="http://schemas.microsoft.com/office/drawing/2014/main" id="{40219E34-48A8-4257-AB9D-FDAD3AB52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2117" y="2240280"/>
            <a:ext cx="457200" cy="457200"/>
          </a:xfrm>
          <a:prstGeom xmlns:a="http://schemas.openxmlformats.org/drawingml/2006/main" prst="roundRect">
            <a:avLst>
              <a:gd name="adj" fmla="val 14000"/>
            </a:avLst>
          </a:prstGeom>
          <a:solidFill xmlns:a="http://schemas.openxmlformats.org/drawingml/2006/main">
            <a:srgbClr val="F2B544">
              <a:alpha val="18000"/>
            </a:srgbClr>
          </a:solidFill>
          <a:ln xmlns:a="http://schemas.openxmlformats.org/drawingml/2006/main" w="12700">
            <a:solidFill>
              <a:srgbClr val="F2B544">
                <a:alpha val="45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50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1f273678db3411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502701" y="2340864"/>
            <a:ext cx="256032" cy="256032"/>
          </a:xfrm>
          <a:prstGeom xmlns:a="http://schemas.openxmlformats.org/drawingml/2006/main" prst="rect">
            <a:avLst/>
          </a:prstGeom>
        </p:spPr>
      </p:pic>
      <p:sp>
        <p:nvSpPr>
          <p:cNvPr id="20" name="Text 15">
            <a:extLst xmlns:a="http://schemas.openxmlformats.org/drawingml/2006/main">
              <a:ext uri="{FF2B5EF4-FFF2-40B4-BE49-F238E27FC236}">
                <a16:creationId xmlns:a16="http://schemas.microsoft.com/office/drawing/2014/main" id="{46E10D6F-76F5-4D1A-8486-0D3D808BA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6477" y="2240280"/>
            <a:ext cx="2417978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E6EDF3"/>
                </a:solidFill>
                <a:latin typeface="Arial"/>
                <a:ea typeface="Arial"/>
                <a:cs typeface="Arial"/>
              </a:rPr>
              <a:t>Unavailable down-weighted</a:t>
            </a:r>
          </a:p>
        </p:txBody>
      </p:sp>
      <p:sp>
        <p:nvSpPr>
          <p:cNvPr id="21" name="Text 16">
            <a:extLst xmlns:a="http://schemas.openxmlformats.org/drawingml/2006/main">
              <a:ext uri="{FF2B5EF4-FFF2-40B4-BE49-F238E27FC236}">
                <a16:creationId xmlns:a16="http://schemas.microsoft.com/office/drawing/2014/main" id="{B749D9D2-9866-40FE-8BBC-CE8FB9176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2117" y="2926080"/>
            <a:ext cx="2875178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4400" b="1">
                <a:solidFill>
                  <a:srgbClr val="F2B544"/>
                </a:solidFill>
                <a:latin typeface="Arial"/>
                <a:ea typeface="Arial"/>
                <a:cs typeface="Arial"/>
              </a:rPr>
              <a:t>×0.42</a:t>
            </a:r>
          </a:p>
        </p:txBody>
      </p:sp>
      <p:sp>
        <p:nvSpPr>
          <p:cNvPr id="22" name="Text 17">
            <a:extLst xmlns:a="http://schemas.openxmlformats.org/drawingml/2006/main">
              <a:ext uri="{FF2B5EF4-FFF2-40B4-BE49-F238E27FC236}">
                <a16:creationId xmlns:a16="http://schemas.microsoft.com/office/drawing/2014/main" id="{E289E5C6-E007-418A-A8D4-6E7C28774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2117" y="3794760"/>
            <a:ext cx="2875178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lnSpc>
                <a:spcPct val="108000"/>
              </a:lnSpc>
              <a:buNone/>
            </a:pPr>
            <a:r>
              <a:rPr sz="1150">
                <a:solidFill>
                  <a:srgbClr val="9AA7B4"/>
                </a:solidFill>
                <a:latin typeface="Arial"/>
                <a:ea typeface="Arial"/>
                <a:cs typeface="Arial"/>
              </a:rPr>
              <a:t>Behavioral multiplier on an 8-yr profile with 12% response &amp; not-open-to-work — pushed off the shortlist.</a:t>
            </a:r>
          </a:p>
        </p:txBody>
      </p:sp>
      <p:sp>
        <p:nvSpPr>
          <p:cNvPr id="23" name="Shape 18">
            <a:extLst xmlns:a="http://schemas.openxmlformats.org/drawingml/2006/main">
              <a:ext uri="{FF2B5EF4-FFF2-40B4-BE49-F238E27FC236}">
                <a16:creationId xmlns:a16="http://schemas.microsoft.com/office/drawing/2014/main" id="{37A2C9A4-312A-4D9C-A42B-408F96B84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800600"/>
            <a:ext cx="10911535" cy="1051560"/>
          </a:xfrm>
          <a:prstGeom xmlns:a="http://schemas.openxmlformats.org/drawingml/2006/main" prst="roundRect">
            <a:avLst>
              <a:gd name="adj" fmla="val 10435"/>
            </a:avLst>
          </a:prstGeom>
          <a:solidFill xmlns:a="http://schemas.openxmlformats.org/drawingml/2006/main">
            <a:srgbClr val="1B2330"/>
          </a:solidFill>
          <a:ln xmlns:a="http://schemas.openxmlformats.org/drawingml/2006/main" w="12700">
            <a:solidFill>
              <a:srgbClr val="2A3340"/>
            </a:solidFill>
            <a:prstDash val="solid"/>
          </a:ln>
          <a:effectLst xmlns:a="http://schemas.openxmlformats.org/drawingml/2006/main"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Shape 19">
            <a:extLst xmlns:a="http://schemas.openxmlformats.org/drawingml/2006/main">
              <a:ext uri="{FF2B5EF4-FFF2-40B4-BE49-F238E27FC236}">
                <a16:creationId xmlns:a16="http://schemas.microsoft.com/office/drawing/2014/main" id="{33CB7837-AFE5-400D-B597-4831BB44D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074920"/>
            <a:ext cx="457200" cy="457200"/>
          </a:xfrm>
          <a:prstGeom xmlns:a="http://schemas.openxmlformats.org/drawingml/2006/main" prst="roundRect">
            <a:avLst>
              <a:gd name="adj" fmla="val 14000"/>
            </a:avLst>
          </a:prstGeom>
          <a:solidFill xmlns:a="http://schemas.openxmlformats.org/drawingml/2006/main">
            <a:srgbClr val="8B7CF6">
              <a:alpha val="18000"/>
            </a:srgbClr>
          </a:solidFill>
          <a:ln xmlns:a="http://schemas.openxmlformats.org/drawingml/2006/main" w="12700">
            <a:solidFill>
              <a:srgbClr val="8B7CF6">
                <a:alpha val="45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56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9377e8fbf01480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14984" y="5175504"/>
            <a:ext cx="256032" cy="256032"/>
          </a:xfrm>
          <a:prstGeom xmlns:a="http://schemas.openxmlformats.org/drawingml/2006/main" prst="rect">
            <a:avLst/>
          </a:prstGeom>
        </p:spPr>
      </p:pic>
      <p:sp>
        <p:nvSpPr>
          <p:cNvPr id="26" name="Text 20">
            <a:extLst xmlns:a="http://schemas.openxmlformats.org/drawingml/2006/main">
              <a:ext uri="{FF2B5EF4-FFF2-40B4-BE49-F238E27FC236}">
                <a16:creationId xmlns:a16="http://schemas.microsoft.com/office/drawing/2014/main" id="{78DD2176-6B96-4CEA-9CDE-6F8FBBB5E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8760" y="4937760"/>
            <a:ext cx="9722815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lnSpc>
                <a:spcPct val="105000"/>
              </a:lnSpc>
              <a:buNone/>
            </a:pPr>
            <a:r>
              <a:rPr sz="1300" b="1">
                <a:solidFill>
                  <a:srgbClr val="8B7CF6"/>
                </a:solidFill>
                <a:latin typeface="Arial"/>
                <a:ea typeface="Arial"/>
                <a:cs typeface="Arial"/>
              </a:rPr>
              <a:t>Plain-language fit is captured too:  </a:t>
            </a:r>
            <a:r>
              <a:rPr sz="1300">
                <a:solidFill>
                  <a:srgbClr val="E6EDF3"/>
                </a:solidFill>
                <a:latin typeface="Arial"/>
                <a:ea typeface="Arial"/>
                <a:cs typeface="Arial"/>
              </a:rPr>
              <a:t>skill matching runs over the full profile text, not just the skills array — so an engineer who </a:t>
            </a:r>
            <a:r>
              <a:rPr sz="1300" i="1">
                <a:solidFill>
                  <a:srgbClr val="E6EDF3"/>
                </a:solidFill>
                <a:latin typeface="Arial"/>
                <a:ea typeface="Arial"/>
                <a:cs typeface="Arial"/>
              </a:rPr>
              <a:t>describes</a:t>
            </a:r>
            <a:r>
              <a:rPr sz="1300">
                <a:solidFill>
                  <a:srgbClr val="E6EDF3"/>
                </a:solidFill>
                <a:latin typeface="Arial"/>
                <a:ea typeface="Arial"/>
                <a:cs typeface="Arial"/>
              </a:rPr>
              <a:t> building a recommender (without the buzzwords) still scores on core fit.</a:t>
            </a:r>
          </a:p>
        </p:txBody>
      </p:sp>
      <p:sp>
        <p:nvSpPr>
          <p:cNvPr id="27" name="Text 21">
            <a:extLst xmlns:a="http://schemas.openxmlformats.org/drawingml/2006/main">
              <a:ext uri="{FF2B5EF4-FFF2-40B4-BE49-F238E27FC236}">
                <a16:creationId xmlns:a16="http://schemas.microsoft.com/office/drawing/2014/main" id="{7A3B3CC6-1287-41B8-8BE7-0015E3EAB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1535" y="6473952"/>
            <a:ext cx="914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6E7C8C"/>
                </a:solidFill>
                <a:latin typeface="Arial"/>
                <a:ea typeface="Arial"/>
                <a:cs typeface="Arial"/>
              </a:rPr>
              <a:t>8/14</a:t>
            </a:r>
          </a:p>
        </p:txBody>
      </p:sp>
      <p:sp>
        <p:nvSpPr>
          <p:cNvPr id="28" name="Text 22">
            <a:extLst xmlns:a="http://schemas.openxmlformats.org/drawingml/2006/main">
              <a:ext uri="{FF2B5EF4-FFF2-40B4-BE49-F238E27FC236}">
                <a16:creationId xmlns:a16="http://schemas.microsoft.com/office/drawing/2014/main" id="{86C88195-D968-4696-881C-9715191D1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6473952"/>
            <a:ext cx="27432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 spc="200">
                <a:solidFill>
                  <a:srgbClr val="6E7C8C"/>
                </a:solidFill>
                <a:latin typeface="Arial"/>
                <a:ea typeface="Arial"/>
                <a:cs typeface="Arial"/>
              </a:rPr>
              <a:t>HIREFIT RANKER</a:t>
            </a:r>
          </a:p>
        </p:txBody>
      </p:sp>
    </p:spTree>
    <p:extLst>
      <p:ext uri="{BB962C8B-B14F-4D97-AF65-F5344CB8AC3E}">
        <p14:creationId xmlns:p14="http://schemas.microsoft.com/office/powerpoint/2010/main" val="86554457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E111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784407B4-E2BB-47FE-BF27-B6932FDEE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84048"/>
            <a:ext cx="10911535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>
                <a:solidFill>
                  <a:srgbClr val="8B7CF6"/>
                </a:solidFill>
                <a:latin typeface="Arial"/>
                <a:ea typeface="Arial"/>
                <a:cs typeface="Arial"/>
              </a:rPr>
              <a:t>PUBLIC FIELD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C57EA894-51DD-4315-8E54-37F92F669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658368"/>
            <a:ext cx="10911535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lnSpc>
                <a:spcPct val="98000"/>
              </a:lnSpc>
              <a:buNone/>
            </a:pPr>
            <a:r>
              <a:rPr sz="2600" b="1">
                <a:solidFill>
                  <a:srgbClr val="E6EDF3"/>
                </a:solidFill>
                <a:latin typeface="Arial"/>
                <a:ea typeface="Arial"/>
                <a:cs typeface="Arial"/>
              </a:rPr>
              <a:t>V6 is #1 on two broad composites — and #3 on balance.</a:t>
            </a: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6D9A726F-1A9F-40DE-9777-ADF96C934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335024"/>
            <a:ext cx="10911535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9AA7B4"/>
                </a:solidFill>
                <a:latin typeface="Arial"/>
                <a:ea typeface="Arial"/>
                <a:cs typeface="Arial"/>
              </a:rPr>
              <a:t>1,367 repos discovered · 1,279 eligible · 672 valid outputs · one evaluator harness.</a:t>
            </a:r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6A6A4D69-E217-4BC9-8EEB-B5DD15F0D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874520"/>
            <a:ext cx="2522144" cy="109728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161C24"/>
          </a:solidFill>
          <a:ln xmlns:a="http://schemas.openxmlformats.org/drawingml/2006/main" w="12700">
            <a:solidFill>
              <a:srgbClr val="2A3340"/>
            </a:solidFill>
            <a:prstDash val="solid"/>
          </a:ln>
          <a:effectLst xmlns:a="http://schemas.openxmlformats.org/drawingml/2006/main"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3FAA3882-B40B-4F8B-9EBB-041500E44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993392"/>
            <a:ext cx="2522144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3400" b="1">
                <a:solidFill>
                  <a:srgbClr val="2DD4BF"/>
                </a:solidFill>
                <a:latin typeface="Arial"/>
                <a:ea typeface="Arial"/>
                <a:cs typeface="Arial"/>
              </a:rPr>
              <a:t>#1 / 673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E18FFC03-97CD-485B-ACA2-5888F5338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578608"/>
            <a:ext cx="2522144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9AA7B4"/>
                </a:solidFill>
                <a:latin typeface="Arial"/>
                <a:ea typeface="Arial"/>
                <a:cs typeface="Arial"/>
              </a:rPr>
              <a:t>SEVEN-EVALUATOR MEAN</a:t>
            </a:r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0B729BF5-2339-4399-8BA9-8A7C3E20B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6544" y="1874520"/>
            <a:ext cx="2522144" cy="109728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161C24"/>
          </a:solidFill>
          <a:ln xmlns:a="http://schemas.openxmlformats.org/drawingml/2006/main" w="12700">
            <a:solidFill>
              <a:srgbClr val="2A3340"/>
            </a:solidFill>
            <a:prstDash val="solid"/>
          </a:ln>
          <a:effectLst xmlns:a="http://schemas.openxmlformats.org/drawingml/2006/main"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8C62E156-8AA0-425B-959E-8320F40E5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6544" y="1993392"/>
            <a:ext cx="2522144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3400" b="1">
                <a:solidFill>
                  <a:srgbClr val="2DD4BF"/>
                </a:solidFill>
                <a:latin typeface="Arial"/>
                <a:ea typeface="Arial"/>
                <a:cs typeface="Arial"/>
              </a:rPr>
              <a:t>#1 / 100</a:t>
            </a:r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023B48F7-6FED-4B5C-AC15-CEFA9C2C6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6544" y="2578608"/>
            <a:ext cx="2522144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9AA7B4"/>
                </a:solidFill>
                <a:latin typeface="Arial"/>
                <a:ea typeface="Arial"/>
                <a:cs typeface="Arial"/>
              </a:rPr>
              <a:t>STRONGEST-UNION MEAN</a:t>
            </a:r>
          </a:p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38EF8F75-6B20-409C-9984-88CFC0940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3008" y="1874520"/>
            <a:ext cx="2522144" cy="109728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161C24"/>
          </a:solidFill>
          <a:ln xmlns:a="http://schemas.openxmlformats.org/drawingml/2006/main" w="12700">
            <a:solidFill>
              <a:srgbClr val="2A3340"/>
            </a:solidFill>
            <a:prstDash val="solid"/>
          </a:ln>
          <a:effectLst xmlns:a="http://schemas.openxmlformats.org/drawingml/2006/main"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BC667972-17D1-4DAA-A6B4-4639265E8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3008" y="1993392"/>
            <a:ext cx="2522144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3400" b="1">
                <a:solidFill>
                  <a:srgbClr val="2DD4BF"/>
                </a:solidFill>
                <a:latin typeface="Arial"/>
                <a:ea typeface="Arial"/>
                <a:cs typeface="Arial"/>
              </a:rPr>
              <a:t>#3 / 322</a:t>
            </a:r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59EB7EE0-F655-4C1B-8255-75862A92C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3008" y="2578608"/>
            <a:ext cx="2522144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9AA7B4"/>
                </a:solidFill>
                <a:latin typeface="Arial"/>
                <a:ea typeface="Arial"/>
                <a:cs typeface="Arial"/>
              </a:rPr>
              <a:t>FOUR-AXIS BALANCE</a:t>
            </a:r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6A5B6497-9B1E-4D09-98C3-06539CAED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471" y="1874520"/>
            <a:ext cx="2522144" cy="109728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161C24"/>
          </a:solidFill>
          <a:ln xmlns:a="http://schemas.openxmlformats.org/drawingml/2006/main" w="12700">
            <a:solidFill>
              <a:srgbClr val="2A3340"/>
            </a:solidFill>
            <a:prstDash val="solid"/>
          </a:ln>
          <a:effectLst xmlns:a="http://schemas.openxmlformats.org/drawingml/2006/main"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ECD68244-7C81-441A-906E-AAC79FD05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471" y="1993392"/>
            <a:ext cx="2522144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3400" b="1">
                <a:solidFill>
                  <a:srgbClr val="34D399"/>
                </a:solidFill>
                <a:latin typeface="Arial"/>
                <a:ea typeface="Arial"/>
                <a:cs typeface="Arial"/>
              </a:rPr>
              <a:t>30 / 30</a:t>
            </a:r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823D10CB-80A1-4A24-8A84-579D4978F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471" y="2578608"/>
            <a:ext cx="2522144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9AA7B4"/>
                </a:solidFill>
                <a:latin typeface="Arial"/>
                <a:ea typeface="Arial"/>
                <a:cs typeface="Arial"/>
              </a:rPr>
              <a:t>COMPOSITES VS MAIN</a:t>
            </a:r>
          </a:p>
        </p:txBody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159F5F5A-E061-45A7-ABC8-AAF7E99BB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200400"/>
            <a:ext cx="5272888" cy="1874520"/>
          </a:xfrm>
          <a:prstGeom xmlns:a="http://schemas.openxmlformats.org/drawingml/2006/main" prst="roundRect">
            <a:avLst>
              <a:gd name="adj" fmla="val 5854"/>
            </a:avLst>
          </a:prstGeom>
          <a:solidFill xmlns:a="http://schemas.openxmlformats.org/drawingml/2006/main">
            <a:srgbClr val="161C24"/>
          </a:solidFill>
          <a:ln xmlns:a="http://schemas.openxmlformats.org/drawingml/2006/main" w="12700">
            <a:solidFill>
              <a:srgbClr val="2A3340"/>
            </a:solidFill>
            <a:prstDash val="solid"/>
          </a:ln>
          <a:effectLst xmlns:a="http://schemas.openxmlformats.org/drawingml/2006/main"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CCF9A818-35AC-4919-9797-86E0FAE15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429000"/>
            <a:ext cx="420624" cy="420624"/>
          </a:xfrm>
          <a:prstGeom xmlns:a="http://schemas.openxmlformats.org/drawingml/2006/main" prst="roundRect">
            <a:avLst>
              <a:gd name="adj" fmla="val 15217"/>
            </a:avLst>
          </a:prstGeom>
          <a:solidFill xmlns:a="http://schemas.openxmlformats.org/drawingml/2006/main">
            <a:srgbClr val="F2B544">
              <a:alpha val="18000"/>
            </a:srgbClr>
          </a:solidFill>
          <a:ln xmlns:a="http://schemas.openxmlformats.org/drawingml/2006/main" w="12700">
            <a:solidFill>
              <a:srgbClr val="F2B544">
                <a:alpha val="45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5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7034d7291fe46d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06937" y="3521537"/>
            <a:ext cx="235549" cy="235549"/>
          </a:xfrm>
          <a:prstGeom xmlns:a="http://schemas.openxmlformats.org/drawingml/2006/main" prst="rect">
            <a:avLst/>
          </a:prstGeom>
        </p:spPr>
      </p:pic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1367E053-72C5-48E2-B091-21045B22E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4752" y="3429000"/>
            <a:ext cx="4358488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E6EDF3"/>
                </a:solidFill>
                <a:latin typeface="Arial"/>
                <a:ea typeface="Arial"/>
                <a:cs typeface="Arial"/>
              </a:rPr>
              <a:t>What the comparison proves</a:t>
            </a:r>
          </a:p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3A109BC9-6B86-44B6-BD60-BDEDED0A8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3931920"/>
            <a:ext cx="472424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lnSpc>
                <a:spcPct val="98000"/>
              </a:lnSpc>
              <a:buNone/>
            </a:pPr>
            <a:r>
              <a:rPr sz="1100" b="1">
                <a:solidFill>
                  <a:srgbClr val="2DD4BF"/>
                </a:solidFill>
                <a:latin typeface="Arial"/>
                <a:ea typeface="Arial"/>
                <a:cs typeface="Arial"/>
              </a:rPr>
              <a:t>Mean7   0.906553 — broad agreement across seven evaluator families</a:t>
            </a:r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B719A879-3AB3-4B6B-83F6-75057CE44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4315968"/>
            <a:ext cx="472424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lnSpc>
                <a:spcPct val="98000"/>
              </a:lnSpc>
              <a:buNone/>
            </a:pPr>
            <a:r>
              <a:rPr sz="1100" b="1">
                <a:solidFill>
                  <a:srgbClr val="2DD4BF"/>
                </a:solidFill>
                <a:latin typeface="Arial"/>
                <a:ea typeface="Arial"/>
                <a:cs typeface="Arial"/>
              </a:rPr>
              <a:t>Mean15   0.910406 — strongest available label union</a:t>
            </a:r>
          </a:p>
        </p:txBody>
      </p:sp>
      <p:sp>
        <p:nvSpPr>
          <p:cNvPr id="23" name="Text 20">
            <a:extLst xmlns:a="http://schemas.openxmlformats.org/drawingml/2006/main">
              <a:ext uri="{FF2B5EF4-FFF2-40B4-BE49-F238E27FC236}">
                <a16:creationId xmlns:a16="http://schemas.microsoft.com/office/drawing/2014/main" id="{7118090A-F74A-4D76-8F75-B8927DA72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4700016"/>
            <a:ext cx="472424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lnSpc>
                <a:spcPct val="98000"/>
              </a:lnSpc>
              <a:buNone/>
            </a:pPr>
            <a:r>
              <a:rPr sz="1100" b="1">
                <a:solidFill>
                  <a:srgbClr val="2DD4BF"/>
                </a:solidFill>
                <a:latin typeface="Arial"/>
                <a:ea typeface="Arial"/>
                <a:cs typeface="Arial"/>
              </a:rPr>
              <a:t>Balance   0.876596 — strength across four distinct quality axes</a:t>
            </a:r>
          </a:p>
        </p:txBody>
      </p:sp>
      <p:sp>
        <p:nvSpPr>
          <p:cNvPr id="24" name="Shape 21">
            <a:extLst xmlns:a="http://schemas.openxmlformats.org/drawingml/2006/main">
              <a:ext uri="{FF2B5EF4-FFF2-40B4-BE49-F238E27FC236}">
                <a16:creationId xmlns:a16="http://schemas.microsoft.com/office/drawing/2014/main" id="{AD1726F3-418C-4964-9985-3CFB847A1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8728" y="3200400"/>
            <a:ext cx="5272888" cy="1874520"/>
          </a:xfrm>
          <a:prstGeom xmlns:a="http://schemas.openxmlformats.org/drawingml/2006/main" prst="roundRect">
            <a:avLst>
              <a:gd name="adj" fmla="val 5854"/>
            </a:avLst>
          </a:prstGeom>
          <a:solidFill xmlns:a="http://schemas.openxmlformats.org/drawingml/2006/main">
            <a:srgbClr val="1B2330"/>
          </a:solidFill>
          <a:ln xmlns:a="http://schemas.openxmlformats.org/drawingml/2006/main" w="12700">
            <a:solidFill>
              <a:srgbClr val="2A3340"/>
            </a:solidFill>
            <a:prstDash val="solid"/>
          </a:ln>
          <a:effectLst xmlns:a="http://schemas.openxmlformats.org/drawingml/2006/main"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7273145F-4E53-4D41-83E2-9AF171B71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048" y="3429000"/>
            <a:ext cx="420624" cy="420624"/>
          </a:xfrm>
          <a:prstGeom xmlns:a="http://schemas.openxmlformats.org/drawingml/2006/main" prst="roundRect">
            <a:avLst>
              <a:gd name="adj" fmla="val 15217"/>
            </a:avLst>
          </a:prstGeom>
          <a:solidFill xmlns:a="http://schemas.openxmlformats.org/drawingml/2006/main">
            <a:srgbClr val="2DD4BF">
              <a:alpha val="18000"/>
            </a:srgbClr>
          </a:solidFill>
          <a:ln xmlns:a="http://schemas.openxmlformats.org/drawingml/2006/main" w="12700">
            <a:solidFill>
              <a:srgbClr val="2DD4BF">
                <a:alpha val="45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61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a14dac314bb472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645585" y="3521537"/>
            <a:ext cx="235549" cy="235549"/>
          </a:xfrm>
          <a:prstGeom xmlns:a="http://schemas.openxmlformats.org/drawingml/2006/main" prst="rect">
            <a:avLst/>
          </a:prstGeom>
        </p:spPr>
      </p:pic>
      <p:sp>
        <p:nvSpPr>
          <p:cNvPr id="27" name="Text 23">
            <a:extLst xmlns:a="http://schemas.openxmlformats.org/drawingml/2006/main">
              <a:ext uri="{FF2B5EF4-FFF2-40B4-BE49-F238E27FC236}">
                <a16:creationId xmlns:a16="http://schemas.microsoft.com/office/drawing/2014/main" id="{E43FD006-9643-42BA-93AF-24EE9A438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3400" y="3429000"/>
            <a:ext cx="4358488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2DD4BF"/>
                </a:solidFill>
                <a:latin typeface="Arial"/>
                <a:ea typeface="Arial"/>
                <a:cs typeface="Arial"/>
              </a:rPr>
              <a:t>No public four-axis dominator</a:t>
            </a:r>
          </a:p>
        </p:txBody>
      </p:sp>
      <p:sp>
        <p:nvSpPr>
          <p:cNvPr id="28" name="Text 24">
            <a:extLst xmlns:a="http://schemas.openxmlformats.org/drawingml/2006/main">
              <a:ext uri="{FF2B5EF4-FFF2-40B4-BE49-F238E27FC236}">
                <a16:creationId xmlns:a16="http://schemas.microsoft.com/office/drawing/2014/main" id="{58162B68-679C-4551-9007-1AF961F8D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1336" y="3931920"/>
            <a:ext cx="4724248" cy="1005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lnSpc>
                <a:spcPct val="110000"/>
              </a:lnSpc>
              <a:buNone/>
            </a:pPr>
            <a:r>
              <a:rPr sz="1250">
                <a:solidFill>
                  <a:srgbClr val="E6EDF3"/>
                </a:solidFill>
                <a:latin typeface="Arial"/>
                <a:ea typeface="Arial"/>
                <a:cs typeface="Arial"/>
              </a:rPr>
              <a:t>Every measured public competitor gives up at least one axis. V6 is not #1 on every specialist judge, but it has the strongest broad portfolio and beats main on every tested composite.</a:t>
            </a:r>
          </a:p>
        </p:txBody>
      </p:sp>
      <p:sp>
        <p:nvSpPr>
          <p:cNvPr id="29" name="Shape 25">
            <a:extLst xmlns:a="http://schemas.openxmlformats.org/drawingml/2006/main">
              <a:ext uri="{FF2B5EF4-FFF2-40B4-BE49-F238E27FC236}">
                <a16:creationId xmlns:a16="http://schemas.microsoft.com/office/drawing/2014/main" id="{145F641B-A229-4B8F-828A-B72E84832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257800"/>
            <a:ext cx="10911535" cy="658368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61C24"/>
          </a:solidFill>
          <a:ln xmlns:a="http://schemas.openxmlformats.org/drawingml/2006/main" w="12700">
            <a:solidFill>
              <a:srgbClr val="2A3340"/>
            </a:solidFill>
            <a:prstDash val="solid"/>
          </a:ln>
          <a:effectLst xmlns:a="http://schemas.openxmlformats.org/drawingml/2006/main"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65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5dbfd1a142141f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14400" y="5413248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31" name="Text 26">
            <a:extLst xmlns:a="http://schemas.openxmlformats.org/drawingml/2006/main">
              <a:ext uri="{FF2B5EF4-FFF2-40B4-BE49-F238E27FC236}">
                <a16:creationId xmlns:a16="http://schemas.microsoft.com/office/drawing/2014/main" id="{5C0DCABB-059A-450A-B0B9-D45D2A56A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5257800"/>
            <a:ext cx="9905695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lnSpc>
                <a:spcPct val="100000"/>
              </a:lnSpc>
              <a:buNone/>
            </a:pPr>
            <a:r>
              <a:rPr sz="1200" b="1">
                <a:solidFill>
                  <a:srgbClr val="F2B544"/>
                </a:solidFill>
                <a:latin typeface="Arial"/>
                <a:ea typeface="Arial"/>
                <a:cs typeface="Arial"/>
              </a:rPr>
              <a:t>Transparent local comparison, not an official Hack2skill leaderboard. Repository availability and evaluator coverage vary.</a:t>
            </a:r>
          </a:p>
        </p:txBody>
      </p:sp>
      <p:sp>
        <p:nvSpPr>
          <p:cNvPr id="32" name="Text 27">
            <a:extLst xmlns:a="http://schemas.openxmlformats.org/drawingml/2006/main">
              <a:ext uri="{FF2B5EF4-FFF2-40B4-BE49-F238E27FC236}">
                <a16:creationId xmlns:a16="http://schemas.microsoft.com/office/drawing/2014/main" id="{895CDFE0-B1DF-4F9E-B891-EB272BC97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1535" y="6473952"/>
            <a:ext cx="914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6E7C8C"/>
                </a:solidFill>
                <a:latin typeface="Arial"/>
                <a:ea typeface="Arial"/>
                <a:cs typeface="Arial"/>
              </a:rPr>
              <a:t>9/14</a:t>
            </a:r>
          </a:p>
        </p:txBody>
      </p:sp>
      <p:sp>
        <p:nvSpPr>
          <p:cNvPr id="33" name="Text 28">
            <a:extLst xmlns:a="http://schemas.openxmlformats.org/drawingml/2006/main">
              <a:ext uri="{FF2B5EF4-FFF2-40B4-BE49-F238E27FC236}">
                <a16:creationId xmlns:a16="http://schemas.microsoft.com/office/drawing/2014/main" id="{3E5C30DD-D0DF-42C3-8A00-7B8D133D3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6473952"/>
            <a:ext cx="27432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 spc="200">
                <a:solidFill>
                  <a:srgbClr val="6E7C8C"/>
                </a:solidFill>
                <a:latin typeface="Arial"/>
                <a:ea typeface="Arial"/>
                <a:cs typeface="Arial"/>
              </a:rPr>
              <a:t>HIREFIT RANKER</a:t>
            </a:r>
          </a:p>
        </p:txBody>
      </p:sp>
    </p:spTree>
    <p:extLst>
      <p:ext uri="{BB962C8B-B14F-4D97-AF65-F5344CB8AC3E}">
        <p14:creationId xmlns:p14="http://schemas.microsoft.com/office/powerpoint/2010/main" val="1351059263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E111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9" name="Rectangle 38">
            <a:extLst xmlns:a="http://schemas.openxmlformats.org/drawingml/2006/main">
              <a:ext uri="{FF2B5EF4-FFF2-40B4-BE49-F238E27FC236}">
                <a16:creationId xmlns:a16="http://schemas.microsoft.com/office/drawing/2014/main" id="{ED9998D3-4237-66E4-3FFA-742BA440B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1116"/>
          </a:solidFill>
          <a:ln xmlns:a="http://schemas.openxmlformats.org/drawingml/2006/main" w="12700" cmpd="sng">
            <a:noFill/>
            <a:prstDash val="solid"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0" name="TextBox 39">
            <a:extLst xmlns:a="http://schemas.openxmlformats.org/drawingml/2006/main">
              <a:ext uri="{FF2B5EF4-FFF2-40B4-BE49-F238E27FC236}">
                <a16:creationId xmlns:a16="http://schemas.microsoft.com/office/drawing/2014/main" id="{D54EB237-F78D-0269-84C8-933F09F66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84048"/>
            <a:ext cx="10881360" cy="1769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r>
              <a:rPr sz="1150" b="1">
                <a:solidFill>
                  <a:srgbClr val="8B7CF6"/>
                </a:solidFill>
                <a:latin typeface="Arial"/>
                <a:ea typeface="Arial"/>
                <a:cs typeface="Arial"/>
              </a:rPr>
              <a:t>TRADEOFFS &amp; LIMITS</a:t>
            </a:r>
          </a:p>
        </p:txBody>
      </p:sp>
      <p:sp>
        <p:nvSpPr>
          <p:cNvPr id="41" name="TextBox 40">
            <a:extLst xmlns:a="http://schemas.openxmlformats.org/drawingml/2006/main">
              <a:ext uri="{FF2B5EF4-FFF2-40B4-BE49-F238E27FC236}">
                <a16:creationId xmlns:a16="http://schemas.microsoft.com/office/drawing/2014/main" id="{F2161346-604D-E5F8-1933-90B9D4C6F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658368"/>
            <a:ext cx="10881360" cy="46166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r>
              <a:rPr sz="3000" b="1">
                <a:solidFill>
                  <a:srgbClr val="E6EDF3"/>
                </a:solidFill>
                <a:latin typeface="Arial"/>
                <a:ea typeface="Arial"/>
                <a:cs typeface="Arial"/>
              </a:rPr>
              <a:t>Universal strength beats one-metric overfitting.</a:t>
            </a:r>
          </a:p>
        </p:txBody>
      </p:sp>
      <p:sp>
        <p:nvSpPr>
          <p:cNvPr id="42" name="TextBox 41">
            <a:extLst xmlns:a="http://schemas.openxmlformats.org/drawingml/2006/main">
              <a:ext uri="{FF2B5EF4-FFF2-40B4-BE49-F238E27FC236}">
                <a16:creationId xmlns:a16="http://schemas.microsoft.com/office/drawing/2014/main" id="{E6D84A61-C4E7-EB28-E06B-A18D38B3E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335024"/>
            <a:ext cx="1088136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r>
              <a:rPr sz="1300">
                <a:solidFill>
                  <a:srgbClr val="9AA7B4"/>
                </a:solidFill>
                <a:latin typeface="Arial"/>
                <a:ea typeface="Arial"/>
                <a:cs typeface="Arial"/>
              </a:rPr>
              <a:t>The deck separates measured wins from uncertainty judges should know.</a:t>
            </a:r>
          </a:p>
        </p:txBody>
      </p:sp>
      <p:sp>
        <p:nvSpPr>
          <p:cNvPr id="43" name="Rectangle: Rounded Corners 42">
            <a:extLst xmlns:a="http://schemas.openxmlformats.org/drawingml/2006/main">
              <a:ext uri="{FF2B5EF4-FFF2-40B4-BE49-F238E27FC236}">
                <a16:creationId xmlns:a16="http://schemas.microsoft.com/office/drawing/2014/main" id="{6B5A105F-DC77-6142-08D2-4212DB022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874520"/>
            <a:ext cx="5349240" cy="4069080"/>
          </a:xfrm>
          <a:prstGeom xmlns:a="http://schemas.openxmlformats.org/drawingml/2006/main" prst="roundRect">
            <a:avLst>
              <a:gd name="adj" fmla="val 3500"/>
            </a:avLst>
          </a:prstGeom>
          <a:solidFill xmlns:a="http://schemas.openxmlformats.org/drawingml/2006/main">
            <a:srgbClr val="161C24"/>
          </a:solidFill>
          <a:ln xmlns:a="http://schemas.openxmlformats.org/drawingml/2006/main" w="12700">
            <a:solidFill>
              <a:srgbClr val="2A3340"/>
            </a:solidFill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4" name="TextBox 43">
            <a:extLst xmlns:a="http://schemas.openxmlformats.org/drawingml/2006/main">
              <a:ext uri="{FF2B5EF4-FFF2-40B4-BE49-F238E27FC236}">
                <a16:creationId xmlns:a16="http://schemas.microsoft.com/office/drawing/2014/main" id="{AA395892-7750-E775-B810-FD5AA9482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2103120"/>
            <a:ext cx="2743200" cy="2308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r>
              <a:rPr sz="1500" b="1">
                <a:solidFill>
                  <a:srgbClr val="E6EDF3"/>
                </a:solidFill>
                <a:latin typeface="Arial"/>
                <a:ea typeface="Arial"/>
                <a:cs typeface="Arial"/>
              </a:rPr>
              <a:t>Defensible decisions</a:t>
            </a:r>
          </a:p>
        </p:txBody>
      </p:sp>
      <p:sp>
        <p:nvSpPr>
          <p:cNvPr id="45" name="Rectangle: Rounded Corners 44">
            <a:extLst xmlns:a="http://schemas.openxmlformats.org/drawingml/2006/main">
              <a:ext uri="{FF2B5EF4-FFF2-40B4-BE49-F238E27FC236}">
                <a16:creationId xmlns:a16="http://schemas.microsoft.com/office/drawing/2014/main" id="{D2BE1CFD-69F6-40B2-27C7-E7B03EF33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5152" y="2121408"/>
            <a:ext cx="914400" cy="256032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2330"/>
          </a:solidFill>
          <a:ln xmlns:a="http://schemas.openxmlformats.org/drawingml/2006/main" w="12700" cmpd="sng">
            <a:solidFill>
              <a:srgbClr val="2DD4BF">
                <a:alpha val="65000"/>
              </a:srgbClr>
            </a:solidFill>
            <a:prstDash val="solid"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6" name="TextBox 45">
            <a:extLst xmlns:a="http://schemas.openxmlformats.org/drawingml/2006/main">
              <a:ext uri="{FF2B5EF4-FFF2-40B4-BE49-F238E27FC236}">
                <a16:creationId xmlns:a16="http://schemas.microsoft.com/office/drawing/2014/main" id="{82764EEF-F1EF-8E57-349A-54673CF2B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8304" y="2153412"/>
            <a:ext cx="768096" cy="13080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850" b="1">
                <a:solidFill>
                  <a:srgbClr val="E6EDF3"/>
                </a:solidFill>
                <a:latin typeface="Arial"/>
                <a:ea typeface="Arial"/>
                <a:cs typeface="Arial"/>
              </a:rPr>
              <a:t>shipped path</a:t>
            </a:r>
          </a:p>
        </p:txBody>
      </p:sp>
      <p:sp>
        <p:nvSpPr>
          <p:cNvPr id="47" name="Oval 46">
            <a:extLst xmlns:a="http://schemas.openxmlformats.org/drawingml/2006/main">
              <a:ext uri="{FF2B5EF4-FFF2-40B4-BE49-F238E27FC236}">
                <a16:creationId xmlns:a16="http://schemas.microsoft.com/office/drawing/2014/main" id="{C6E666A7-A9DA-282A-6235-719927B41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2670048"/>
            <a:ext cx="146304" cy="14630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12700" cmpd="sng">
            <a:noFill/>
            <a:prstDash val="solid"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8" name="TextBox 47">
            <a:extLst xmlns:a="http://schemas.openxmlformats.org/drawingml/2006/main">
              <a:ext uri="{FF2B5EF4-FFF2-40B4-BE49-F238E27FC236}">
                <a16:creationId xmlns:a16="http://schemas.microsoft.com/office/drawing/2014/main" id="{20A5A3A1-DF61-ACF6-B576-2C5E7168D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2633472"/>
            <a:ext cx="4160520" cy="1815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r>
              <a:rPr sz="1180" b="1">
                <a:solidFill>
                  <a:srgbClr val="E6EDF3"/>
                </a:solidFill>
                <a:latin typeface="Arial"/>
                <a:ea typeface="Arial"/>
                <a:cs typeface="Arial"/>
              </a:rPr>
              <a:t>No LLM per candidate</a:t>
            </a:r>
          </a:p>
        </p:txBody>
      </p:sp>
      <p:sp>
        <p:nvSpPr>
          <p:cNvPr id="49" name="TextBox 48">
            <a:extLst xmlns:a="http://schemas.openxmlformats.org/drawingml/2006/main">
              <a:ext uri="{FF2B5EF4-FFF2-40B4-BE49-F238E27FC236}">
                <a16:creationId xmlns:a16="http://schemas.microsoft.com/office/drawing/2014/main" id="{132CB621-651A-9B23-3182-9D8857945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2871216"/>
            <a:ext cx="4224528" cy="29854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r>
              <a:rPr sz="970">
                <a:solidFill>
                  <a:srgbClr val="9AA7B4"/>
                </a:solidFill>
                <a:latin typeface="Arial"/>
                <a:ea typeface="Arial"/>
                <a:cs typeface="Arial"/>
              </a:rPr>
              <a:t>100K hosted calls break the CPU/no-network budget and make reproduction fragile.</a:t>
            </a:r>
          </a:p>
        </p:txBody>
      </p:sp>
      <p:sp>
        <p:nvSpPr>
          <p:cNvPr id="50" name="Oval 49">
            <a:extLst xmlns:a="http://schemas.openxmlformats.org/drawingml/2006/main">
              <a:ext uri="{FF2B5EF4-FFF2-40B4-BE49-F238E27FC236}">
                <a16:creationId xmlns:a16="http://schemas.microsoft.com/office/drawing/2014/main" id="{6FDE318C-29BE-36A5-1F3B-FBC27953E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3438144"/>
            <a:ext cx="146304" cy="14630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12700" cmpd="sng">
            <a:noFill/>
            <a:prstDash val="solid"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1" name="TextBox 50">
            <a:extLst xmlns:a="http://schemas.openxmlformats.org/drawingml/2006/main">
              <a:ext uri="{FF2B5EF4-FFF2-40B4-BE49-F238E27FC236}">
                <a16:creationId xmlns:a16="http://schemas.microsoft.com/office/drawing/2014/main" id="{A3CF24C1-F991-1B4B-FE0E-8E3AB42E7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3401568"/>
            <a:ext cx="4160520" cy="1815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r>
              <a:rPr sz="1180" b="1">
                <a:solidFill>
                  <a:srgbClr val="E6EDF3"/>
                </a:solidFill>
                <a:latin typeface="Arial"/>
                <a:ea typeface="Arial"/>
                <a:cs typeface="Arial"/>
              </a:rPr>
              <a:t>Dense embeddings tested, then kept off</a:t>
            </a:r>
          </a:p>
        </p:txBody>
      </p:sp>
      <p:sp>
        <p:nvSpPr>
          <p:cNvPr id="52" name="TextBox 51">
            <a:extLst xmlns:a="http://schemas.openxmlformats.org/drawingml/2006/main">
              <a:ext uri="{FF2B5EF4-FFF2-40B4-BE49-F238E27FC236}">
                <a16:creationId xmlns:a16="http://schemas.microsoft.com/office/drawing/2014/main" id="{151AB0D3-8CA4-3230-8396-8D93CD6EC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3639312"/>
            <a:ext cx="4224528" cy="29854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r>
              <a:rPr sz="970">
                <a:solidFill>
                  <a:srgbClr val="9AA7B4"/>
                </a:solidFill>
                <a:latin typeface="Arial"/>
                <a:ea typeface="Arial"/>
                <a:cs typeface="Arial"/>
              </a:rPr>
              <a:t>NDCG@10 was flat while runtime and complexity rose, so the simpler ranker won.</a:t>
            </a:r>
          </a:p>
        </p:txBody>
      </p:sp>
      <p:sp>
        <p:nvSpPr>
          <p:cNvPr id="53" name="Oval 52">
            <a:extLst xmlns:a="http://schemas.openxmlformats.org/drawingml/2006/main">
              <a:ext uri="{FF2B5EF4-FFF2-40B4-BE49-F238E27FC236}">
                <a16:creationId xmlns:a16="http://schemas.microsoft.com/office/drawing/2014/main" id="{A6F9E95D-C63D-FC46-63E6-3C72E8A8B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4206240"/>
            <a:ext cx="146304" cy="14630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12700" cmpd="sng">
            <a:noFill/>
            <a:prstDash val="solid"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4" name="TextBox 53">
            <a:extLst xmlns:a="http://schemas.openxmlformats.org/drawingml/2006/main">
              <a:ext uri="{FF2B5EF4-FFF2-40B4-BE49-F238E27FC236}">
                <a16:creationId xmlns:a16="http://schemas.microsoft.com/office/drawing/2014/main" id="{0980977D-A3C7-654D-95ED-64E182E42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4169664"/>
            <a:ext cx="4160520" cy="1815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r>
              <a:rPr sz="1180" b="1">
                <a:solidFill>
                  <a:srgbClr val="E6EDF3"/>
                </a:solidFill>
                <a:latin typeface="Arial"/>
                <a:ea typeface="Arial"/>
                <a:cs typeface="Arial"/>
              </a:rPr>
              <a:t>Guardrails are multiplicative</a:t>
            </a:r>
          </a:p>
        </p:txBody>
      </p:sp>
      <p:sp>
        <p:nvSpPr>
          <p:cNvPr id="55" name="TextBox 54">
            <a:extLst xmlns:a="http://schemas.openxmlformats.org/drawingml/2006/main">
              <a:ext uri="{FF2B5EF4-FFF2-40B4-BE49-F238E27FC236}">
                <a16:creationId xmlns:a16="http://schemas.microsoft.com/office/drawing/2014/main" id="{C465C445-A809-101B-386B-5A132CB59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4407408"/>
            <a:ext cx="4224528" cy="29854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r>
              <a:rPr sz="970">
                <a:solidFill>
                  <a:srgbClr val="9AA7B4"/>
                </a:solidFill>
                <a:latin typeface="Arial"/>
                <a:ea typeface="Arial"/>
                <a:cs typeface="Arial"/>
              </a:rPr>
              <a:t>Impossible, off-target, or unreachable profiles cannot buy rank with keywords.</a:t>
            </a:r>
          </a:p>
        </p:txBody>
      </p:sp>
      <p:sp>
        <p:nvSpPr>
          <p:cNvPr id="56" name="Oval 55">
            <a:extLst xmlns:a="http://schemas.openxmlformats.org/drawingml/2006/main">
              <a:ext uri="{FF2B5EF4-FFF2-40B4-BE49-F238E27FC236}">
                <a16:creationId xmlns:a16="http://schemas.microsoft.com/office/drawing/2014/main" id="{5566CFCC-B2AE-132E-6A32-85EE8E53E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4974336"/>
            <a:ext cx="146304" cy="14630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12700" cmpd="sng">
            <a:noFill/>
            <a:prstDash val="solid"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7" name="TextBox 56">
            <a:extLst xmlns:a="http://schemas.openxmlformats.org/drawingml/2006/main">
              <a:ext uri="{FF2B5EF4-FFF2-40B4-BE49-F238E27FC236}">
                <a16:creationId xmlns:a16="http://schemas.microsoft.com/office/drawing/2014/main" id="{E9652D21-839F-758D-6273-08AE68990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4937760"/>
            <a:ext cx="4160520" cy="1815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r>
              <a:rPr sz="1180" b="1">
                <a:solidFill>
                  <a:srgbClr val="E6EDF3"/>
                </a:solidFill>
                <a:latin typeface="Arial"/>
                <a:ea typeface="Arial"/>
                <a:cs typeface="Arial"/>
              </a:rPr>
              <a:t>Deterministic reasoning</a:t>
            </a:r>
          </a:p>
        </p:txBody>
      </p:sp>
      <p:sp>
        <p:nvSpPr>
          <p:cNvPr id="58" name="TextBox 57">
            <a:extLst xmlns:a="http://schemas.openxmlformats.org/drawingml/2006/main">
              <a:ext uri="{FF2B5EF4-FFF2-40B4-BE49-F238E27FC236}">
                <a16:creationId xmlns:a16="http://schemas.microsoft.com/office/drawing/2014/main" id="{092C095F-02DB-60A3-F6BF-11A1992E2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5175504"/>
            <a:ext cx="4224528" cy="1492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r>
              <a:rPr sz="970">
                <a:solidFill>
                  <a:srgbClr val="9AA7B4"/>
                </a:solidFill>
                <a:latin typeface="Arial"/>
                <a:ea typeface="Arial"/>
                <a:cs typeface="Arial"/>
              </a:rPr>
              <a:t>Same input gives the same CSV; every sentence points to real profile facts.</a:t>
            </a:r>
          </a:p>
        </p:txBody>
      </p:sp>
      <p:sp>
        <p:nvSpPr>
          <p:cNvPr id="59" name="Rectangle: Rounded Corners 58">
            <a:extLst xmlns:a="http://schemas.openxmlformats.org/drawingml/2006/main">
              <a:ext uri="{FF2B5EF4-FFF2-40B4-BE49-F238E27FC236}">
                <a16:creationId xmlns:a16="http://schemas.microsoft.com/office/drawing/2014/main" id="{9425DBE5-6E1C-F454-DF69-C0DE1628A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7648" y="1874520"/>
            <a:ext cx="5221224" cy="4069080"/>
          </a:xfrm>
          <a:prstGeom xmlns:a="http://schemas.openxmlformats.org/drawingml/2006/main" prst="roundRect">
            <a:avLst>
              <a:gd name="adj" fmla="val 3500"/>
            </a:avLst>
          </a:prstGeom>
          <a:solidFill xmlns:a="http://schemas.openxmlformats.org/drawingml/2006/main">
            <a:srgbClr val="1B2330"/>
          </a:solidFill>
          <a:ln xmlns:a="http://schemas.openxmlformats.org/drawingml/2006/main" w="12700">
            <a:solidFill>
              <a:srgbClr val="2A3340"/>
            </a:solidFill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0" name="TextBox 59">
            <a:extLst xmlns:a="http://schemas.openxmlformats.org/drawingml/2006/main">
              <a:ext uri="{FF2B5EF4-FFF2-40B4-BE49-F238E27FC236}">
                <a16:creationId xmlns:a16="http://schemas.microsoft.com/office/drawing/2014/main" id="{B402E204-3320-E613-E7A3-C3422B452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0256" y="2103120"/>
            <a:ext cx="2834640" cy="2308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r>
              <a:rPr sz="1500" b="1">
                <a:solidFill>
                  <a:srgbClr val="F2B544"/>
                </a:solidFill>
                <a:latin typeface="Arial"/>
                <a:ea typeface="Arial"/>
                <a:cs typeface="Arial"/>
              </a:rPr>
              <a:t>Known uncertainty</a:t>
            </a:r>
          </a:p>
        </p:txBody>
      </p:sp>
      <p:sp>
        <p:nvSpPr>
          <p:cNvPr id="61" name="Rectangle: Rounded Corners 60">
            <a:extLst xmlns:a="http://schemas.openxmlformats.org/drawingml/2006/main">
              <a:ext uri="{FF2B5EF4-FFF2-40B4-BE49-F238E27FC236}">
                <a16:creationId xmlns:a16="http://schemas.microsoft.com/office/drawing/2014/main" id="{EA2188D7-A674-11A2-BC24-7C5599F69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8128" y="2121408"/>
            <a:ext cx="1005840" cy="256032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2330"/>
          </a:solidFill>
          <a:ln xmlns:a="http://schemas.openxmlformats.org/drawingml/2006/main" w="12700" cmpd="sng">
            <a:solidFill>
              <a:srgbClr val="F2B544">
                <a:alpha val="65000"/>
              </a:srgbClr>
            </a:solidFill>
            <a:prstDash val="solid"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2" name="TextBox 61">
            <a:extLst xmlns:a="http://schemas.openxmlformats.org/drawingml/2006/main">
              <a:ext uri="{FF2B5EF4-FFF2-40B4-BE49-F238E27FC236}">
                <a16:creationId xmlns:a16="http://schemas.microsoft.com/office/drawing/2014/main" id="{3FB3AF8D-AC8D-AF5C-CC28-827BAF66C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1280" y="2153412"/>
            <a:ext cx="859536" cy="259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850" b="1">
                <a:solidFill>
                  <a:srgbClr val="E6EDF3"/>
                </a:solidFill>
                <a:latin typeface="Arial"/>
                <a:ea typeface="Arial"/>
                <a:cs typeface="Arial"/>
              </a:rPr>
              <a:t>why no fake certainty</a:t>
            </a:r>
          </a:p>
        </p:txBody>
      </p:sp>
      <p:sp>
        <p:nvSpPr>
          <p:cNvPr id="63" name="Oval 62">
            <a:extLst xmlns:a="http://schemas.openxmlformats.org/drawingml/2006/main">
              <a:ext uri="{FF2B5EF4-FFF2-40B4-BE49-F238E27FC236}">
                <a16:creationId xmlns:a16="http://schemas.microsoft.com/office/drawing/2014/main" id="{8C9C10B7-5A12-EDD2-C55F-FBFBC7FC0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0256" y="2670048"/>
            <a:ext cx="146305" cy="14630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B544"/>
          </a:solidFill>
          <a:ln xmlns:a="http://schemas.openxmlformats.org/drawingml/2006/main" w="12700" cmpd="sng">
            <a:noFill/>
            <a:prstDash val="solid"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4" name="TextBox 63">
            <a:extLst xmlns:a="http://schemas.openxmlformats.org/drawingml/2006/main">
              <a:ext uri="{FF2B5EF4-FFF2-40B4-BE49-F238E27FC236}">
                <a16:creationId xmlns:a16="http://schemas.microsoft.com/office/drawing/2014/main" id="{7BCCC323-0FD6-74B1-9D75-C50810382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2008" y="2633472"/>
            <a:ext cx="3977640" cy="1815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r>
              <a:rPr sz="1180" b="1">
                <a:solidFill>
                  <a:srgbClr val="E6EDF3"/>
                </a:solidFill>
                <a:latin typeface="Arial"/>
                <a:ea typeface="Arial"/>
                <a:cs typeface="Arial"/>
              </a:rPr>
              <a:t>Hidden official labels</a:t>
            </a:r>
          </a:p>
        </p:txBody>
      </p:sp>
      <p:sp>
        <p:nvSpPr>
          <p:cNvPr id="65" name="TextBox 64">
            <a:extLst xmlns:a="http://schemas.openxmlformats.org/drawingml/2006/main">
              <a:ext uri="{FF2B5EF4-FFF2-40B4-BE49-F238E27FC236}">
                <a16:creationId xmlns:a16="http://schemas.microsoft.com/office/drawing/2014/main" id="{23450987-E5E3-55D7-DAD0-B890DBEDF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2008" y="2871216"/>
            <a:ext cx="4069080" cy="29854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r>
              <a:rPr sz="970">
                <a:solidFill>
                  <a:srgbClr val="9AA7B4"/>
                </a:solidFill>
                <a:latin typeface="Arial"/>
                <a:ea typeface="Arial"/>
                <a:cs typeface="Arial"/>
              </a:rPr>
              <a:t>Official weights and hidden scores are unseen, so public-field results are evidence — not a trophy claim.</a:t>
            </a:r>
          </a:p>
        </p:txBody>
      </p:sp>
      <p:sp>
        <p:nvSpPr>
          <p:cNvPr id="66" name="Oval 65">
            <a:extLst xmlns:a="http://schemas.openxmlformats.org/drawingml/2006/main">
              <a:ext uri="{FF2B5EF4-FFF2-40B4-BE49-F238E27FC236}">
                <a16:creationId xmlns:a16="http://schemas.microsoft.com/office/drawing/2014/main" id="{ACFA018F-70B3-3FC7-8CA0-2630C810B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0256" y="3438144"/>
            <a:ext cx="146305" cy="14630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B544"/>
          </a:solidFill>
          <a:ln xmlns:a="http://schemas.openxmlformats.org/drawingml/2006/main" w="12700" cmpd="sng">
            <a:noFill/>
            <a:prstDash val="solid"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7" name="TextBox 66">
            <a:extLst xmlns:a="http://schemas.openxmlformats.org/drawingml/2006/main">
              <a:ext uri="{FF2B5EF4-FFF2-40B4-BE49-F238E27FC236}">
                <a16:creationId xmlns:a16="http://schemas.microsoft.com/office/drawing/2014/main" id="{DB67AD5C-6325-897F-5918-038095590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2008" y="3401568"/>
            <a:ext cx="3977640" cy="1815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r>
              <a:rPr sz="1180" b="1">
                <a:solidFill>
                  <a:srgbClr val="E6EDF3"/>
                </a:solidFill>
                <a:latin typeface="Arial"/>
                <a:ea typeface="Arial"/>
                <a:cs typeface="Arial"/>
              </a:rPr>
              <a:t>Specialist rankings</a:t>
            </a:r>
          </a:p>
        </p:txBody>
      </p:sp>
      <p:sp>
        <p:nvSpPr>
          <p:cNvPr id="68" name="TextBox 67">
            <a:extLst xmlns:a="http://schemas.openxmlformats.org/drawingml/2006/main">
              <a:ext uri="{FF2B5EF4-FFF2-40B4-BE49-F238E27FC236}">
                <a16:creationId xmlns:a16="http://schemas.microsoft.com/office/drawing/2014/main" id="{65CA9012-83C7-78FB-450B-5197DF33B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2008" y="3639312"/>
            <a:ext cx="4069080" cy="29854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r>
              <a:rPr sz="970">
                <a:solidFill>
                  <a:srgbClr val="9AA7B4"/>
                </a:solidFill>
                <a:latin typeface="Arial"/>
                <a:ea typeface="Arial"/>
                <a:cs typeface="Arial"/>
              </a:rPr>
              <a:t>H2 #14, reviewer #115, blind estimate #20. Broad composites recover the strongest balance.</a:t>
            </a:r>
          </a:p>
        </p:txBody>
      </p:sp>
      <p:sp>
        <p:nvSpPr>
          <p:cNvPr id="69" name="Oval 68">
            <a:extLst xmlns:a="http://schemas.openxmlformats.org/drawingml/2006/main">
              <a:ext uri="{FF2B5EF4-FFF2-40B4-BE49-F238E27FC236}">
                <a16:creationId xmlns:a16="http://schemas.microsoft.com/office/drawing/2014/main" id="{4D2DCEE6-4F93-0777-F568-EE8CC4494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0256" y="4206240"/>
            <a:ext cx="146305" cy="14630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B544"/>
          </a:solidFill>
          <a:ln xmlns:a="http://schemas.openxmlformats.org/drawingml/2006/main" w="12700" cmpd="sng">
            <a:noFill/>
            <a:prstDash val="solid"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0" name="TextBox 69">
            <a:extLst xmlns:a="http://schemas.openxmlformats.org/drawingml/2006/main">
              <a:ext uri="{FF2B5EF4-FFF2-40B4-BE49-F238E27FC236}">
                <a16:creationId xmlns:a16="http://schemas.microsoft.com/office/drawing/2014/main" id="{172A7CE0-AD36-A8A0-95BC-81D017C6E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2008" y="4169664"/>
            <a:ext cx="3977640" cy="1815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r>
              <a:rPr sz="1180" b="1">
                <a:solidFill>
                  <a:srgbClr val="E6EDF3"/>
                </a:solidFill>
                <a:latin typeface="Arial"/>
                <a:ea typeface="Arial"/>
                <a:cs typeface="Arial"/>
              </a:rPr>
              <a:t>Modern challengers lost</a:t>
            </a:r>
          </a:p>
        </p:txBody>
      </p:sp>
      <p:sp>
        <p:nvSpPr>
          <p:cNvPr id="71" name="TextBox 70">
            <a:extLst xmlns:a="http://schemas.openxmlformats.org/drawingml/2006/main">
              <a:ext uri="{FF2B5EF4-FFF2-40B4-BE49-F238E27FC236}">
                <a16:creationId xmlns:a16="http://schemas.microsoft.com/office/drawing/2014/main" id="{C3BDCBC8-26CB-3637-B4F1-B93E0DA85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2008" y="4407408"/>
            <a:ext cx="4069080" cy="29854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r>
              <a:rPr sz="970">
                <a:solidFill>
                  <a:srgbClr val="9AA7B4"/>
                </a:solidFill>
                <a:latin typeface="Arial"/>
                <a:ea typeface="Arial"/>
                <a:cs typeface="Arial"/>
              </a:rPr>
              <a:t>Dense, learned-LR, and LambdaMART variants failed their declared adoption gates.</a:t>
            </a:r>
          </a:p>
        </p:txBody>
      </p:sp>
      <p:sp>
        <p:nvSpPr>
          <p:cNvPr id="72" name="Oval 71">
            <a:extLst xmlns:a="http://schemas.openxmlformats.org/drawingml/2006/main">
              <a:ext uri="{FF2B5EF4-FFF2-40B4-BE49-F238E27FC236}">
                <a16:creationId xmlns:a16="http://schemas.microsoft.com/office/drawing/2014/main" id="{DE643930-814C-A471-7958-9543710F1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0256" y="4974336"/>
            <a:ext cx="146305" cy="14630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B544"/>
          </a:solidFill>
          <a:ln xmlns:a="http://schemas.openxmlformats.org/drawingml/2006/main" w="12700" cmpd="sng">
            <a:noFill/>
            <a:prstDash val="solid"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3" name="TextBox 72">
            <a:extLst xmlns:a="http://schemas.openxmlformats.org/drawingml/2006/main">
              <a:ext uri="{FF2B5EF4-FFF2-40B4-BE49-F238E27FC236}">
                <a16:creationId xmlns:a16="http://schemas.microsoft.com/office/drawing/2014/main" id="{C25B9317-2BAC-3C5A-192F-941B13C5A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2008" y="4937760"/>
            <a:ext cx="3977640" cy="1815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r>
              <a:rPr sz="1180" b="1">
                <a:solidFill>
                  <a:srgbClr val="E6EDF3"/>
                </a:solidFill>
                <a:latin typeface="Arial"/>
                <a:ea typeface="Arial"/>
                <a:cs typeface="Arial"/>
              </a:rPr>
              <a:t>Deterministic fallback</a:t>
            </a:r>
          </a:p>
        </p:txBody>
      </p:sp>
      <p:sp>
        <p:nvSpPr>
          <p:cNvPr id="74" name="TextBox 73">
            <a:extLst xmlns:a="http://schemas.openxmlformats.org/drawingml/2006/main">
              <a:ext uri="{FF2B5EF4-FFF2-40B4-BE49-F238E27FC236}">
                <a16:creationId xmlns:a16="http://schemas.microsoft.com/office/drawing/2014/main" id="{78828866-18CD-81AE-4355-588C89B9E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2008" y="5175504"/>
            <a:ext cx="4069080" cy="29854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r>
              <a:rPr sz="970">
                <a:solidFill>
                  <a:srgbClr val="9AA7B4"/>
                </a:solidFill>
                <a:latin typeface="Arial"/>
                <a:ea typeface="Arial"/>
                <a:cs typeface="Arial"/>
              </a:rPr>
              <a:t>If multiprocessing is constrained, --workers 1 preserves the exact same output.</a:t>
            </a:r>
          </a:p>
        </p:txBody>
      </p:sp>
      <p:sp>
        <p:nvSpPr>
          <p:cNvPr id="75" name="TextBox 74">
            <a:extLst xmlns:a="http://schemas.openxmlformats.org/drawingml/2006/main">
              <a:ext uri="{FF2B5EF4-FFF2-40B4-BE49-F238E27FC236}">
                <a16:creationId xmlns:a16="http://schemas.microsoft.com/office/drawing/2014/main" id="{3D4244A4-91F0-1D7E-70B3-924D9921A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6473952"/>
            <a:ext cx="914400" cy="1384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>
                <a:solidFill>
                  <a:srgbClr val="6E7C8C"/>
                </a:solidFill>
                <a:latin typeface="Arial"/>
                <a:ea typeface="Arial"/>
                <a:cs typeface="Arial"/>
              </a:rPr>
              <a:t>10/14</a:t>
            </a:r>
          </a:p>
        </p:txBody>
      </p:sp>
      <p:sp>
        <p:nvSpPr>
          <p:cNvPr id="76" name="TextBox 75">
            <a:extLst xmlns:a="http://schemas.openxmlformats.org/drawingml/2006/main">
              <a:ext uri="{FF2B5EF4-FFF2-40B4-BE49-F238E27FC236}">
                <a16:creationId xmlns:a16="http://schemas.microsoft.com/office/drawing/2014/main" id="{F6E0AFF0-E97A-F8A4-E153-3C6C28B07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6473952"/>
            <a:ext cx="2743200" cy="1384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r>
              <a:rPr sz="900" b="1">
                <a:solidFill>
                  <a:srgbClr val="6E7C8C"/>
                </a:solidFill>
                <a:latin typeface="Arial"/>
                <a:ea typeface="Arial"/>
                <a:cs typeface="Arial"/>
              </a:rPr>
              <a:t>HIREFIT RANKER</a:t>
            </a:r>
          </a:p>
        </p:txBody>
      </p:sp>
    </p:spTree>
    <p:extLst>
      <p:ext uri="{BB962C8B-B14F-4D97-AF65-F5344CB8AC3E}">
        <p14:creationId xmlns:p14="http://schemas.microsoft.com/office/powerpoint/2010/main" val="558022020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E111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0AEF2410-36C5-42A5-99E8-D17FB0DCB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84048"/>
            <a:ext cx="10911535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 spc="300">
                <a:solidFill>
                  <a:srgbClr val="8B7CF6"/>
                </a:solidFill>
                <a:latin typeface="Arial"/>
                <a:ea typeface="Arial"/>
                <a:cs typeface="Arial"/>
              </a:rPr>
              <a:t>REPRODUCIBILITY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EC385C55-B3D9-480E-8A80-FC1830079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658368"/>
            <a:ext cx="10911535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lnSpc>
                <a:spcPct val="98000"/>
              </a:lnSpc>
              <a:buNone/>
            </a:pPr>
            <a:r>
              <a:rPr sz="2600" b="1">
                <a:solidFill>
                  <a:srgbClr val="E6EDF3"/>
                </a:solidFill>
                <a:latin typeface="Arial"/>
                <a:ea typeface="Arial"/>
                <a:cs typeface="Arial"/>
              </a:rPr>
              <a:t>One release command reproduces the shortlist — and fails closed.</a:t>
            </a: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CF0696E4-B615-4CF4-9883-03E00FA70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335024"/>
            <a:ext cx="10911535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9AA7B4"/>
                </a:solidFill>
                <a:latin typeface="Arial"/>
                <a:ea typeface="Arial"/>
                <a:cs typeface="Arial"/>
              </a:rPr>
              <a:t>Built for the challenge sandbox: pinned, offline, atomic, and exact-output verified.</a:t>
            </a:r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93DCE17D-017E-4DAE-A2C7-BEC128854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920240"/>
            <a:ext cx="10911535" cy="868680"/>
          </a:xfrm>
          <a:prstGeom xmlns:a="http://schemas.openxmlformats.org/drawingml/2006/main" prst="roundRect">
            <a:avLst>
              <a:gd name="adj" fmla="val 12632"/>
            </a:avLst>
          </a:prstGeom>
          <a:solidFill xmlns:a="http://schemas.openxmlformats.org/drawingml/2006/main">
            <a:srgbClr val="0A0D11"/>
          </a:solidFill>
          <a:ln xmlns:a="http://schemas.openxmlformats.org/drawingml/2006/main" w="12700">
            <a:solidFill>
              <a:srgbClr val="2A3340"/>
            </a:solidFill>
            <a:prstDash val="solid"/>
          </a:ln>
          <a:effectLst xmlns:a="http://schemas.openxmlformats.org/drawingml/2006/main"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62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095f778814b4b5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14400" y="2212848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8DEB9D20-BEBF-4293-B5DA-B8858DFF1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1920240"/>
            <a:ext cx="9997135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2DD4BF"/>
                </a:solidFill>
                <a:latin typeface="Courier New"/>
                <a:ea typeface="Courier New"/>
                <a:cs typeface="Courier New"/>
              </a:rPr>
              <a:t>python rank.py --release --workers 2 --candidates candidates.jsonl --out submission.csv</a:t>
            </a:r>
          </a:p>
        </p:txBody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D4CAC9DD-1B7C-466A-82CA-E59D7E2F1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108960"/>
            <a:ext cx="2029546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 spc="100">
                <a:solidFill>
                  <a:srgbClr val="6E7C8C"/>
                </a:solidFill>
                <a:latin typeface="Arial"/>
                <a:ea typeface="Arial"/>
                <a:cs typeface="Arial"/>
              </a:rPr>
              <a:t>CONSTRAINT</a:t>
            </a:r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3437BB93-3D6F-4BFC-A801-46A96DEE1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9626" y="3108960"/>
            <a:ext cx="2435455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 spc="100">
                <a:solidFill>
                  <a:srgbClr val="6E7C8C"/>
                </a:solidFill>
                <a:latin typeface="Arial"/>
                <a:ea typeface="Arial"/>
                <a:cs typeface="Arial"/>
              </a:rPr>
              <a:t>CHALLENGE LIMIT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E23513D0-6EAC-44E2-9C94-1AF092068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080" y="3108960"/>
            <a:ext cx="2300152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 spc="100">
                <a:solidFill>
                  <a:srgbClr val="6E7C8C"/>
                </a:solidFill>
                <a:latin typeface="Arial"/>
                <a:ea typeface="Arial"/>
                <a:cs typeface="Arial"/>
              </a:rPr>
              <a:t>MEASURED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4B72F5A6-6A22-432C-A561-B2A689E65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675888"/>
            <a:ext cx="6765152" cy="475488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161C24"/>
          </a:solidFill>
          <a:ln xmlns:a="http://schemas.openxmlformats.org/drawingml/2006/main" w="12700">
            <a:solidFill>
              <a:srgbClr val="2A3340"/>
            </a:solidFill>
            <a:prstDash val="solid"/>
          </a:ln>
          <a:effectLst xmlns:a="http://schemas.openxmlformats.org/drawingml/2006/main"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B448CE23-C943-4DEC-BB5A-B312DB9D2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675888"/>
            <a:ext cx="1846666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 b="1">
                <a:solidFill>
                  <a:srgbClr val="E6EDF3"/>
                </a:solidFill>
                <a:latin typeface="Arial"/>
                <a:ea typeface="Arial"/>
                <a:cs typeface="Arial"/>
              </a:rPr>
              <a:t>Runtime</a:t>
            </a:r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ECC81CA1-65AC-4C1F-94F8-93C00E951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2506" y="3675888"/>
            <a:ext cx="2252575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>
                <a:solidFill>
                  <a:srgbClr val="9AA7B4"/>
                </a:solidFill>
                <a:latin typeface="Arial"/>
                <a:ea typeface="Arial"/>
                <a:cs typeface="Arial"/>
              </a:rPr>
              <a:t>≤ 5 min (300s)</a:t>
            </a:r>
          </a:p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7AC3C8B8-7461-4C2A-A251-8E72340C8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7960" y="3675888"/>
            <a:ext cx="2117272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 b="1">
                <a:solidFill>
                  <a:srgbClr val="2DD4BF"/>
                </a:solidFill>
                <a:latin typeface="Arial"/>
                <a:ea typeface="Arial"/>
                <a:cs typeface="Arial"/>
              </a:rPr>
              <a:t>136.0 s</a:t>
            </a:r>
          </a:p>
        </p:txBody>
      </p:sp>
      <p:pic>
        <p:nvPicPr>
          <p:cNvPr id="71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c1a690778a044c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021184" y="3803904"/>
            <a:ext cx="219456" cy="219456"/>
          </a:xfrm>
          <a:prstGeom xmlns:a="http://schemas.openxmlformats.org/drawingml/2006/main" prst="rect">
            <a:avLst/>
          </a:prstGeom>
        </p:spPr>
      </p:pic>
      <p:sp>
        <p:nvSpPr>
          <p:cNvPr id="16" name="Shape 12">
            <a:extLst xmlns:a="http://schemas.openxmlformats.org/drawingml/2006/main">
              <a:ext uri="{FF2B5EF4-FFF2-40B4-BE49-F238E27FC236}">
                <a16:creationId xmlns:a16="http://schemas.microsoft.com/office/drawing/2014/main" id="{67EFC00D-55BD-4C1C-9035-F68B0E935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242816"/>
            <a:ext cx="6765152" cy="475488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1B2330"/>
          </a:solidFill>
          <a:ln xmlns:a="http://schemas.openxmlformats.org/drawingml/2006/main" w="12700">
            <a:solidFill>
              <a:srgbClr val="2A3340"/>
            </a:solidFill>
            <a:prstDash val="solid"/>
          </a:ln>
          <a:effectLst xmlns:a="http://schemas.openxmlformats.org/drawingml/2006/main"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Text 13">
            <a:extLst xmlns:a="http://schemas.openxmlformats.org/drawingml/2006/main">
              <a:ext uri="{FF2B5EF4-FFF2-40B4-BE49-F238E27FC236}">
                <a16:creationId xmlns:a16="http://schemas.microsoft.com/office/drawing/2014/main" id="{BA4421D1-D84E-4C74-B20C-E22E46028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4242816"/>
            <a:ext cx="1846666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 b="1">
                <a:solidFill>
                  <a:srgbClr val="E6EDF3"/>
                </a:solidFill>
                <a:latin typeface="Arial"/>
                <a:ea typeface="Arial"/>
                <a:cs typeface="Arial"/>
              </a:rPr>
              <a:t>Memory</a:t>
            </a:r>
          </a:p>
        </p:txBody>
      </p:sp>
      <p:sp>
        <p:nvSpPr>
          <p:cNvPr id="18" name="Text 14">
            <a:extLst xmlns:a="http://schemas.openxmlformats.org/drawingml/2006/main">
              <a:ext uri="{FF2B5EF4-FFF2-40B4-BE49-F238E27FC236}">
                <a16:creationId xmlns:a16="http://schemas.microsoft.com/office/drawing/2014/main" id="{2040C9F3-864F-4D9D-9AFB-EE99E5B25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2506" y="4242816"/>
            <a:ext cx="2252575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>
                <a:solidFill>
                  <a:srgbClr val="9AA7B4"/>
                </a:solidFill>
                <a:latin typeface="Arial"/>
                <a:ea typeface="Arial"/>
                <a:cs typeface="Arial"/>
              </a:rPr>
              <a:t>≤ 16 GB RAM</a:t>
            </a:r>
          </a:p>
        </p:txBody>
      </p:sp>
      <p:sp>
        <p:nvSpPr>
          <p:cNvPr id="19" name="Text 15">
            <a:extLst xmlns:a="http://schemas.openxmlformats.org/drawingml/2006/main">
              <a:ext uri="{FF2B5EF4-FFF2-40B4-BE49-F238E27FC236}">
                <a16:creationId xmlns:a16="http://schemas.microsoft.com/office/drawing/2014/main" id="{C1835558-8A35-4FD6-96B3-0BA3698A6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7960" y="4242816"/>
            <a:ext cx="2117272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 b="1">
                <a:solidFill>
                  <a:srgbClr val="2DD4BF"/>
                </a:solidFill>
                <a:latin typeface="Arial"/>
                <a:ea typeface="Arial"/>
                <a:cs typeface="Arial"/>
              </a:rPr>
              <a:t>4.13 GiB</a:t>
            </a:r>
          </a:p>
        </p:txBody>
      </p:sp>
      <p:pic>
        <p:nvPicPr>
          <p:cNvPr id="76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c1a690778a044c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021184" y="4370832"/>
            <a:ext cx="219456" cy="219456"/>
          </a:xfrm>
          <a:prstGeom xmlns:a="http://schemas.openxmlformats.org/drawingml/2006/main" prst="rect">
            <a:avLst/>
          </a:prstGeom>
        </p:spPr>
      </p:pic>
      <p:sp>
        <p:nvSpPr>
          <p:cNvPr id="21" name="Shape 16">
            <a:extLst xmlns:a="http://schemas.openxmlformats.org/drawingml/2006/main">
              <a:ext uri="{FF2B5EF4-FFF2-40B4-BE49-F238E27FC236}">
                <a16:creationId xmlns:a16="http://schemas.microsoft.com/office/drawing/2014/main" id="{CB587193-5E7F-49F2-BFB0-FC3F5FEC1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809744"/>
            <a:ext cx="6765152" cy="475488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161C24"/>
          </a:solidFill>
          <a:ln xmlns:a="http://schemas.openxmlformats.org/drawingml/2006/main" w="12700">
            <a:solidFill>
              <a:srgbClr val="2A3340"/>
            </a:solidFill>
            <a:prstDash val="solid"/>
          </a:ln>
          <a:effectLst xmlns:a="http://schemas.openxmlformats.org/drawingml/2006/main"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17">
            <a:extLst xmlns:a="http://schemas.openxmlformats.org/drawingml/2006/main">
              <a:ext uri="{FF2B5EF4-FFF2-40B4-BE49-F238E27FC236}">
                <a16:creationId xmlns:a16="http://schemas.microsoft.com/office/drawing/2014/main" id="{33D2ED64-D8FB-4553-A2B4-E0C6329CE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4809744"/>
            <a:ext cx="1846666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 b="1">
                <a:solidFill>
                  <a:srgbClr val="E6EDF3"/>
                </a:solidFill>
                <a:latin typeface="Arial"/>
                <a:ea typeface="Arial"/>
                <a:cs typeface="Arial"/>
              </a:rPr>
              <a:t>Compute</a:t>
            </a:r>
          </a:p>
        </p:txBody>
      </p:sp>
      <p:sp>
        <p:nvSpPr>
          <p:cNvPr id="23" name="Text 18">
            <a:extLst xmlns:a="http://schemas.openxmlformats.org/drawingml/2006/main">
              <a:ext uri="{FF2B5EF4-FFF2-40B4-BE49-F238E27FC236}">
                <a16:creationId xmlns:a16="http://schemas.microsoft.com/office/drawing/2014/main" id="{0EF69673-7769-4FF5-908D-ADBD25E69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2506" y="4809744"/>
            <a:ext cx="2252575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>
                <a:solidFill>
                  <a:srgbClr val="9AA7B4"/>
                </a:solidFill>
                <a:latin typeface="Arial"/>
                <a:ea typeface="Arial"/>
                <a:cs typeface="Arial"/>
              </a:rPr>
              <a:t>CPU only</a:t>
            </a:r>
          </a:p>
        </p:txBody>
      </p:sp>
      <p:sp>
        <p:nvSpPr>
          <p:cNvPr id="24" name="Text 19">
            <a:extLst xmlns:a="http://schemas.openxmlformats.org/drawingml/2006/main">
              <a:ext uri="{FF2B5EF4-FFF2-40B4-BE49-F238E27FC236}">
                <a16:creationId xmlns:a16="http://schemas.microsoft.com/office/drawing/2014/main" id="{5A417AB8-3493-4A68-AAFC-B323FCA4C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7960" y="4809744"/>
            <a:ext cx="2117272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 b="1">
                <a:solidFill>
                  <a:srgbClr val="2DD4BF"/>
                </a:solidFill>
                <a:latin typeface="Arial"/>
                <a:ea typeface="Arial"/>
                <a:cs typeface="Arial"/>
              </a:rPr>
              <a:t>CPU only</a:t>
            </a:r>
          </a:p>
        </p:txBody>
      </p:sp>
      <p:pic>
        <p:nvPicPr>
          <p:cNvPr id="81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c1a690778a044c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021184" y="4937760"/>
            <a:ext cx="219456" cy="219456"/>
          </a:xfrm>
          <a:prstGeom xmlns:a="http://schemas.openxmlformats.org/drawingml/2006/main" prst="rect">
            <a:avLst/>
          </a:prstGeom>
        </p:spPr>
      </p:pic>
      <p:sp>
        <p:nvSpPr>
          <p:cNvPr id="26" name="Shape 20">
            <a:extLst xmlns:a="http://schemas.openxmlformats.org/drawingml/2006/main">
              <a:ext uri="{FF2B5EF4-FFF2-40B4-BE49-F238E27FC236}">
                <a16:creationId xmlns:a16="http://schemas.microsoft.com/office/drawing/2014/main" id="{3EDB5086-89A3-4D8C-9773-0A902DCFE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376672"/>
            <a:ext cx="6765152" cy="475488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1B2330"/>
          </a:solidFill>
          <a:ln xmlns:a="http://schemas.openxmlformats.org/drawingml/2006/main" w="12700">
            <a:solidFill>
              <a:srgbClr val="2A3340"/>
            </a:solidFill>
            <a:prstDash val="solid"/>
          </a:ln>
          <a:effectLst xmlns:a="http://schemas.openxmlformats.org/drawingml/2006/main"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Text 21">
            <a:extLst xmlns:a="http://schemas.openxmlformats.org/drawingml/2006/main">
              <a:ext uri="{FF2B5EF4-FFF2-40B4-BE49-F238E27FC236}">
                <a16:creationId xmlns:a16="http://schemas.microsoft.com/office/drawing/2014/main" id="{9AC51FC8-19D0-42F3-A459-59F8E08D1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376672"/>
            <a:ext cx="1846666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 b="1">
                <a:solidFill>
                  <a:srgbClr val="E6EDF3"/>
                </a:solidFill>
                <a:latin typeface="Arial"/>
                <a:ea typeface="Arial"/>
                <a:cs typeface="Arial"/>
              </a:rPr>
              <a:t>Network</a:t>
            </a:r>
          </a:p>
        </p:txBody>
      </p:sp>
      <p:sp>
        <p:nvSpPr>
          <p:cNvPr id="28" name="Text 22">
            <a:extLst xmlns:a="http://schemas.openxmlformats.org/drawingml/2006/main">
              <a:ext uri="{FF2B5EF4-FFF2-40B4-BE49-F238E27FC236}">
                <a16:creationId xmlns:a16="http://schemas.microsoft.com/office/drawing/2014/main" id="{46B4AF21-B35B-4D7C-B691-0DC247BAD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2506" y="5376672"/>
            <a:ext cx="2252575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>
                <a:solidFill>
                  <a:srgbClr val="9AA7B4"/>
                </a:solidFill>
                <a:latin typeface="Arial"/>
                <a:ea typeface="Arial"/>
                <a:cs typeface="Arial"/>
              </a:rPr>
              <a:t>off during ranking</a:t>
            </a:r>
          </a:p>
        </p:txBody>
      </p:sp>
      <p:sp>
        <p:nvSpPr>
          <p:cNvPr id="29" name="Text 23">
            <a:extLst xmlns:a="http://schemas.openxmlformats.org/drawingml/2006/main">
              <a:ext uri="{FF2B5EF4-FFF2-40B4-BE49-F238E27FC236}">
                <a16:creationId xmlns:a16="http://schemas.microsoft.com/office/drawing/2014/main" id="{F2C2D688-2941-4D5D-884B-DEE264659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7960" y="5376672"/>
            <a:ext cx="2117272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 b="1">
                <a:solidFill>
                  <a:srgbClr val="2DD4BF"/>
                </a:solidFill>
                <a:latin typeface="Arial"/>
                <a:ea typeface="Arial"/>
                <a:cs typeface="Arial"/>
              </a:rPr>
              <a:t>fully offline</a:t>
            </a:r>
          </a:p>
        </p:txBody>
      </p:sp>
      <p:pic>
        <p:nvPicPr>
          <p:cNvPr id="86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c1a690778a044c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021184" y="5504688"/>
            <a:ext cx="219456" cy="219456"/>
          </a:xfrm>
          <a:prstGeom xmlns:a="http://schemas.openxmlformats.org/drawingml/2006/main" prst="rect">
            <a:avLst/>
          </a:prstGeom>
        </p:spPr>
      </p:pic>
      <p:sp>
        <p:nvSpPr>
          <p:cNvPr id="31" name="Shape 24">
            <a:extLst xmlns:a="http://schemas.openxmlformats.org/drawingml/2006/main">
              <a:ext uri="{FF2B5EF4-FFF2-40B4-BE49-F238E27FC236}">
                <a16:creationId xmlns:a16="http://schemas.microsoft.com/office/drawing/2014/main" id="{BB0B8438-46B4-4B78-849D-8AD9D7773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0992" y="3108960"/>
            <a:ext cx="3780623" cy="2724912"/>
          </a:xfrm>
          <a:prstGeom xmlns:a="http://schemas.openxmlformats.org/drawingml/2006/main" prst="roundRect">
            <a:avLst>
              <a:gd name="adj" fmla="val 4027"/>
            </a:avLst>
          </a:prstGeom>
          <a:solidFill xmlns:a="http://schemas.openxmlformats.org/drawingml/2006/main">
            <a:srgbClr val="161C24"/>
          </a:solidFill>
          <a:ln xmlns:a="http://schemas.openxmlformats.org/drawingml/2006/main" w="12700">
            <a:solidFill>
              <a:srgbClr val="2A3340"/>
            </a:solidFill>
            <a:prstDash val="solid"/>
          </a:ln>
          <a:effectLst xmlns:a="http://schemas.openxmlformats.org/drawingml/2006/main"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2" name="Shape 25">
            <a:extLst xmlns:a="http://schemas.openxmlformats.org/drawingml/2006/main">
              <a:ext uri="{FF2B5EF4-FFF2-40B4-BE49-F238E27FC236}">
                <a16:creationId xmlns:a16="http://schemas.microsoft.com/office/drawing/2014/main" id="{686E3E36-E3B1-4924-B905-2FB856021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5312" y="3337560"/>
            <a:ext cx="420624" cy="420624"/>
          </a:xfrm>
          <a:prstGeom xmlns:a="http://schemas.openxmlformats.org/drawingml/2006/main" prst="roundRect">
            <a:avLst>
              <a:gd name="adj" fmla="val 15217"/>
            </a:avLst>
          </a:prstGeom>
          <a:solidFill xmlns:a="http://schemas.openxmlformats.org/drawingml/2006/main">
            <a:srgbClr val="8B7CF6">
              <a:alpha val="18000"/>
            </a:srgbClr>
          </a:solidFill>
          <a:ln xmlns:a="http://schemas.openxmlformats.org/drawingml/2006/main" w="12700">
            <a:solidFill>
              <a:srgbClr val="8B7CF6">
                <a:alpha val="45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89" name="Im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b885ac6a7fb41e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137849" y="3430097"/>
            <a:ext cx="235549" cy="235549"/>
          </a:xfrm>
          <a:prstGeom xmlns:a="http://schemas.openxmlformats.org/drawingml/2006/main" prst="rect">
            <a:avLst/>
          </a:prstGeom>
        </p:spPr>
      </p:pic>
      <p:sp>
        <p:nvSpPr>
          <p:cNvPr id="34" name="Text 26">
            <a:extLst xmlns:a="http://schemas.openxmlformats.org/drawingml/2006/main">
              <a:ext uri="{FF2B5EF4-FFF2-40B4-BE49-F238E27FC236}">
                <a16:creationId xmlns:a16="http://schemas.microsoft.com/office/drawing/2014/main" id="{275C27A8-DAD2-4384-A3EE-4BB4F5F6D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5664" y="3337560"/>
            <a:ext cx="2866223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E6EDF3"/>
                </a:solidFill>
                <a:latin typeface="Arial"/>
                <a:ea typeface="Arial"/>
                <a:cs typeface="Arial"/>
              </a:rPr>
              <a:t>Submission package</a:t>
            </a:r>
          </a:p>
        </p:txBody>
      </p:sp>
      <p:pic>
        <p:nvPicPr>
          <p:cNvPr id="91" name="Imag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9785c0a3de6403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063600" y="3904488"/>
            <a:ext cx="201168" cy="201168"/>
          </a:xfrm>
          <a:prstGeom xmlns:a="http://schemas.openxmlformats.org/drawingml/2006/main" prst="rect">
            <a:avLst/>
          </a:prstGeom>
        </p:spPr>
      </p:pic>
      <p:sp>
        <p:nvSpPr>
          <p:cNvPr id="36" name="Text 27">
            <a:extLst xmlns:a="http://schemas.openxmlformats.org/drawingml/2006/main">
              <a:ext uri="{FF2B5EF4-FFF2-40B4-BE49-F238E27FC236}">
                <a16:creationId xmlns:a16="http://schemas.microsoft.com/office/drawing/2014/main" id="{6DF5021B-DDDC-4342-B820-0641D829D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74496" y="3840480"/>
            <a:ext cx="2957663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9AA7B4"/>
                </a:solidFill>
                <a:latin typeface="Arial"/>
                <a:ea typeface="Arial"/>
                <a:cs typeface="Arial"/>
              </a:rPr>
              <a:t>GitHub repo — tested, documented, reproducible</a:t>
            </a:r>
          </a:p>
        </p:txBody>
      </p:sp>
      <p:pic>
        <p:nvPicPr>
          <p:cNvPr id="93" name="Image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9785c0a3de6403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063600" y="4288536"/>
            <a:ext cx="201168" cy="201168"/>
          </a:xfrm>
          <a:prstGeom xmlns:a="http://schemas.openxmlformats.org/drawingml/2006/main" prst="rect">
            <a:avLst/>
          </a:prstGeom>
        </p:spPr>
      </p:pic>
      <p:sp>
        <p:nvSpPr>
          <p:cNvPr id="38" name="Text 28">
            <a:extLst xmlns:a="http://schemas.openxmlformats.org/drawingml/2006/main">
              <a:ext uri="{FF2B5EF4-FFF2-40B4-BE49-F238E27FC236}">
                <a16:creationId xmlns:a16="http://schemas.microsoft.com/office/drawing/2014/main" id="{453407BE-5E1F-4E94-B706-BD3F96EA0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74496" y="4224528"/>
            <a:ext cx="2957663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9AA7B4"/>
                </a:solidFill>
                <a:latin typeface="Arial"/>
                <a:ea typeface="Arial"/>
                <a:cs typeface="Arial"/>
              </a:rPr>
              <a:t>submission.csv — exact top-100 + grounded reasons</a:t>
            </a:r>
          </a:p>
        </p:txBody>
      </p:sp>
      <p:pic>
        <p:nvPicPr>
          <p:cNvPr id="95" name="Image 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9785c0a3de6403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063600" y="4672584"/>
            <a:ext cx="201168" cy="201168"/>
          </a:xfrm>
          <a:prstGeom xmlns:a="http://schemas.openxmlformats.org/drawingml/2006/main" prst="rect">
            <a:avLst/>
          </a:prstGeom>
        </p:spPr>
      </p:pic>
      <p:sp>
        <p:nvSpPr>
          <p:cNvPr id="40" name="Text 29">
            <a:extLst xmlns:a="http://schemas.openxmlformats.org/drawingml/2006/main">
              <a:ext uri="{FF2B5EF4-FFF2-40B4-BE49-F238E27FC236}">
                <a16:creationId xmlns:a16="http://schemas.microsoft.com/office/drawing/2014/main" id="{9F2905BF-02FA-431C-A9F4-55B038AD0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74496" y="4608576"/>
            <a:ext cx="2957663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9AA7B4"/>
                </a:solidFill>
                <a:latin typeface="Arial"/>
                <a:ea typeface="Arial"/>
                <a:cs typeface="Arial"/>
              </a:rPr>
              <a:t>Challenge positioning — weights and caveats disclosed</a:t>
            </a:r>
          </a:p>
        </p:txBody>
      </p:sp>
      <p:pic>
        <p:nvPicPr>
          <p:cNvPr id="97" name="Image 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9785c0a3de6403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063600" y="5056632"/>
            <a:ext cx="201168" cy="201168"/>
          </a:xfrm>
          <a:prstGeom xmlns:a="http://schemas.openxmlformats.org/drawingml/2006/main" prst="rect">
            <a:avLst/>
          </a:prstGeom>
        </p:spPr>
      </p:pic>
      <p:sp>
        <p:nvSpPr>
          <p:cNvPr id="42" name="Text 30">
            <a:extLst xmlns:a="http://schemas.openxmlformats.org/drawingml/2006/main">
              <a:ext uri="{FF2B5EF4-FFF2-40B4-BE49-F238E27FC236}">
                <a16:creationId xmlns:a16="http://schemas.microsoft.com/office/drawing/2014/main" id="{04B1667E-2B1E-49E1-A97A-D75E3E065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74496" y="4992624"/>
            <a:ext cx="2957663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9AA7B4"/>
                </a:solidFill>
                <a:latin typeface="Arial"/>
                <a:ea typeface="Arial"/>
                <a:cs typeface="Arial"/>
              </a:rPr>
              <a:t>Deck + PDF — same V6 values as the README</a:t>
            </a:r>
          </a:p>
        </p:txBody>
      </p:sp>
      <p:pic>
        <p:nvPicPr>
          <p:cNvPr id="99" name="Image 1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9785c0a3de6403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063600" y="5440680"/>
            <a:ext cx="201168" cy="201168"/>
          </a:xfrm>
          <a:prstGeom xmlns:a="http://schemas.openxmlformats.org/drawingml/2006/main" prst="rect">
            <a:avLst/>
          </a:prstGeom>
        </p:spPr>
      </p:pic>
      <p:sp>
        <p:nvSpPr>
          <p:cNvPr id="44" name="Text 31">
            <a:extLst xmlns:a="http://schemas.openxmlformats.org/drawingml/2006/main">
              <a:ext uri="{FF2B5EF4-FFF2-40B4-BE49-F238E27FC236}">
                <a16:creationId xmlns:a16="http://schemas.microsoft.com/office/drawing/2014/main" id="{FE9EEDCD-3C78-47F7-9F0A-40C212F1F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74496" y="5376672"/>
            <a:ext cx="2957663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9AA7B4"/>
                </a:solidFill>
                <a:latin typeface="Arial"/>
                <a:ea typeface="Arial"/>
                <a:cs typeface="Arial"/>
              </a:rPr>
              <a:t>262 passed · 6 environment skips</a:t>
            </a:r>
          </a:p>
        </p:txBody>
      </p:sp>
      <p:sp>
        <p:nvSpPr>
          <p:cNvPr id="45" name="Text 32">
            <a:extLst xmlns:a="http://schemas.openxmlformats.org/drawingml/2006/main">
              <a:ext uri="{FF2B5EF4-FFF2-40B4-BE49-F238E27FC236}">
                <a16:creationId xmlns:a16="http://schemas.microsoft.com/office/drawing/2014/main" id="{7F9C9D74-AFF2-45B7-B5CD-AA27E3790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1535" y="6473952"/>
            <a:ext cx="914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6E7C8C"/>
                </a:solidFill>
                <a:latin typeface="Arial"/>
                <a:ea typeface="Arial"/>
                <a:cs typeface="Arial"/>
              </a:rPr>
              <a:t>11/14</a:t>
            </a:r>
          </a:p>
        </p:txBody>
      </p:sp>
      <p:sp>
        <p:nvSpPr>
          <p:cNvPr id="46" name="Text 33">
            <a:extLst xmlns:a="http://schemas.openxmlformats.org/drawingml/2006/main">
              <a:ext uri="{FF2B5EF4-FFF2-40B4-BE49-F238E27FC236}">
                <a16:creationId xmlns:a16="http://schemas.microsoft.com/office/drawing/2014/main" id="{612364D0-5623-4158-A4C4-FD3FFA3AD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6473952"/>
            <a:ext cx="27432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 spc="200">
                <a:solidFill>
                  <a:srgbClr val="6E7C8C"/>
                </a:solidFill>
                <a:latin typeface="Arial"/>
                <a:ea typeface="Arial"/>
                <a:cs typeface="Arial"/>
              </a:rPr>
              <a:t>HIREFIT RANKER</a:t>
            </a:r>
          </a:p>
        </p:txBody>
      </p:sp>
    </p:spTree>
    <p:extLst>
      <p:ext uri="{BB962C8B-B14F-4D97-AF65-F5344CB8AC3E}">
        <p14:creationId xmlns:p14="http://schemas.microsoft.com/office/powerpoint/2010/main" val="1112597350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E111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93396E60-D418-44EF-9070-871826BD3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84048"/>
            <a:ext cx="10911535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 spc="300">
                <a:solidFill>
                  <a:srgbClr val="8B7CF6"/>
                </a:solidFill>
                <a:latin typeface="Arial"/>
                <a:ea typeface="Arial"/>
                <a:cs typeface="Arial"/>
              </a:rPr>
              <a:t>INSIDE REDROB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68A15B33-ED3A-42BF-8723-54CD42EBD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658368"/>
            <a:ext cx="10911535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lnSpc>
                <a:spcPct val="98000"/>
              </a:lnSpc>
              <a:buNone/>
            </a:pPr>
            <a:r>
              <a:rPr sz="2600" b="1">
                <a:solidFill>
                  <a:srgbClr val="E6EDF3"/>
                </a:solidFill>
                <a:latin typeface="Arial"/>
                <a:ea typeface="Arial"/>
                <a:cs typeface="Arial"/>
              </a:rPr>
              <a:t>A drop-in scoring layer for Redrob — fast, auditable, and outcome-ready.</a:t>
            </a: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DE471E3A-B44F-4187-BB4B-4CE906FCC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335024"/>
            <a:ext cx="10911535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9AA7B4"/>
                </a:solidFill>
                <a:latin typeface="Arial"/>
                <a:ea typeface="Arial"/>
                <a:cs typeface="Arial"/>
              </a:rPr>
              <a:t>It converts job intent, career evidence, and activity signals into a recruiter-readable shortlist.</a:t>
            </a:r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14BABE4D-7C5B-4CB2-B5DE-7CBA76E87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874520"/>
            <a:ext cx="2522144" cy="109728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161C24"/>
          </a:solidFill>
          <a:ln xmlns:a="http://schemas.openxmlformats.org/drawingml/2006/main" w="12700">
            <a:solidFill>
              <a:srgbClr val="2A3340"/>
            </a:solidFill>
            <a:prstDash val="solid"/>
          </a:ln>
          <a:effectLst xmlns:a="http://schemas.openxmlformats.org/drawingml/2006/main"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375842AD-15B4-48C0-BB96-96B0B3F5C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993392"/>
            <a:ext cx="2522144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3400" b="1">
                <a:solidFill>
                  <a:srgbClr val="2DD4BF"/>
                </a:solidFill>
                <a:latin typeface="Arial"/>
                <a:ea typeface="Arial"/>
                <a:cs typeface="Arial"/>
              </a:rPr>
              <a:t>~3 ms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8C018EE5-07B5-468F-842C-7B3DCA136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578608"/>
            <a:ext cx="2522144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9AA7B4"/>
                </a:solidFill>
                <a:latin typeface="Arial"/>
                <a:ea typeface="Arial"/>
                <a:cs typeface="Arial"/>
              </a:rPr>
              <a:t>AUDIT API, MEASURED</a:t>
            </a:r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F47DB705-45B6-4A63-9EE3-0A920A10A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6544" y="1874520"/>
            <a:ext cx="2522144" cy="109728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161C24"/>
          </a:solidFill>
          <a:ln xmlns:a="http://schemas.openxmlformats.org/drawingml/2006/main" w="12700">
            <a:solidFill>
              <a:srgbClr val="2A3340"/>
            </a:solidFill>
            <a:prstDash val="solid"/>
          </a:ln>
          <a:effectLst xmlns:a="http://schemas.openxmlformats.org/drawingml/2006/main"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80E042B8-CFE3-42D8-9044-F1769717A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6544" y="1993392"/>
            <a:ext cx="2522144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3400" b="1">
                <a:solidFill>
                  <a:srgbClr val="2DD4BF"/>
                </a:solidFill>
                <a:latin typeface="Arial"/>
                <a:ea typeface="Arial"/>
                <a:cs typeface="Arial"/>
              </a:rPr>
              <a:t>136 s</a:t>
            </a:r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2187EDFE-8197-4F90-9371-833BD88EE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6544" y="2578608"/>
            <a:ext cx="2522144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9AA7B4"/>
                </a:solidFill>
                <a:latin typeface="Arial"/>
                <a:ea typeface="Arial"/>
                <a:cs typeface="Arial"/>
              </a:rPr>
              <a:t>FULL 100K RELEASE RUN</a:t>
            </a:r>
          </a:p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E79E8AE2-213D-464F-94DD-4BE7A56D9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3008" y="1874520"/>
            <a:ext cx="2522144" cy="109728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161C24"/>
          </a:solidFill>
          <a:ln xmlns:a="http://schemas.openxmlformats.org/drawingml/2006/main" w="12700">
            <a:solidFill>
              <a:srgbClr val="2A3340"/>
            </a:solidFill>
            <a:prstDash val="solid"/>
          </a:ln>
          <a:effectLst xmlns:a="http://schemas.openxmlformats.org/drawingml/2006/main"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76C0FE9D-66D1-4B87-A2BA-7F2C89D24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3008" y="1993392"/>
            <a:ext cx="2522144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3400" b="1">
                <a:solidFill>
                  <a:srgbClr val="2DD4BF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98AFD879-5730-4A26-A01D-496F50C0F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3008" y="2578608"/>
            <a:ext cx="2522144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9AA7B4"/>
                </a:solidFill>
                <a:latin typeface="Arial"/>
                <a:ea typeface="Arial"/>
                <a:cs typeface="Arial"/>
              </a:rPr>
              <a:t>LLM CALLS PER RANKED CANDIDATE</a:t>
            </a:r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A4D6435E-A7D6-488A-93AA-06568C82F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471" y="1874520"/>
            <a:ext cx="2522144" cy="109728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161C24"/>
          </a:solidFill>
          <a:ln xmlns:a="http://schemas.openxmlformats.org/drawingml/2006/main" w="12700">
            <a:solidFill>
              <a:srgbClr val="2A3340"/>
            </a:solidFill>
            <a:prstDash val="solid"/>
          </a:ln>
          <a:effectLst xmlns:a="http://schemas.openxmlformats.org/drawingml/2006/main"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8F84DC61-3514-4893-98C3-55C95BFA8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471" y="1993392"/>
            <a:ext cx="2522144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3400" b="1">
                <a:solidFill>
                  <a:srgbClr val="34D399"/>
                </a:solidFill>
                <a:latin typeface="Arial"/>
                <a:ea typeface="Arial"/>
                <a:cs typeface="Arial"/>
              </a:rPr>
              <a:t>33</a:t>
            </a:r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0911E57A-5B84-4CF0-862F-EFFEF9426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471" y="2578608"/>
            <a:ext cx="2522144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9AA7B4"/>
                </a:solidFill>
                <a:latin typeface="Arial"/>
                <a:ea typeface="Arial"/>
                <a:cs typeface="Arial"/>
              </a:rPr>
              <a:t>EXPLAINABLE FEATURES</a:t>
            </a:r>
          </a:p>
        </p:txBody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32C6D177-AA58-4217-A408-108EC92CD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200400"/>
            <a:ext cx="5272888" cy="1874520"/>
          </a:xfrm>
          <a:prstGeom xmlns:a="http://schemas.openxmlformats.org/drawingml/2006/main" prst="roundRect">
            <a:avLst>
              <a:gd name="adj" fmla="val 5854"/>
            </a:avLst>
          </a:prstGeom>
          <a:solidFill xmlns:a="http://schemas.openxmlformats.org/drawingml/2006/main">
            <a:srgbClr val="161C24"/>
          </a:solidFill>
          <a:ln xmlns:a="http://schemas.openxmlformats.org/drawingml/2006/main" w="12700">
            <a:solidFill>
              <a:srgbClr val="2A3340"/>
            </a:solidFill>
            <a:prstDash val="solid"/>
          </a:ln>
          <a:effectLst xmlns:a="http://schemas.openxmlformats.org/drawingml/2006/main"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F76F7779-A3EF-40E5-A6F2-FFF5F340F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429000"/>
            <a:ext cx="420624" cy="420624"/>
          </a:xfrm>
          <a:prstGeom xmlns:a="http://schemas.openxmlformats.org/drawingml/2006/main" prst="roundRect">
            <a:avLst>
              <a:gd name="adj" fmla="val 15217"/>
            </a:avLst>
          </a:prstGeom>
          <a:solidFill xmlns:a="http://schemas.openxmlformats.org/drawingml/2006/main">
            <a:srgbClr val="F2B544">
              <a:alpha val="18000"/>
            </a:srgbClr>
          </a:solidFill>
          <a:ln xmlns:a="http://schemas.openxmlformats.org/drawingml/2006/main" w="12700">
            <a:solidFill>
              <a:srgbClr val="F2B544">
                <a:alpha val="45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5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53c03d11fc74f3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06937" y="3521537"/>
            <a:ext cx="235549" cy="235549"/>
          </a:xfrm>
          <a:prstGeom xmlns:a="http://schemas.openxmlformats.org/drawingml/2006/main" prst="rect">
            <a:avLst/>
          </a:prstGeom>
        </p:spPr>
      </p:pic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C19FBD8A-113B-4487-A832-0F15F00E1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4752" y="3429000"/>
            <a:ext cx="4358488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E6EDF3"/>
                </a:solidFill>
                <a:latin typeface="Arial"/>
                <a:ea typeface="Arial"/>
                <a:cs typeface="Arial"/>
              </a:rPr>
              <a:t>Integration path</a:t>
            </a:r>
          </a:p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2057EC15-73F7-46D7-BF37-C5BB93EB8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3931920"/>
            <a:ext cx="472424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lnSpc>
                <a:spcPct val="98000"/>
              </a:lnSpc>
              <a:buNone/>
            </a:pPr>
            <a:r>
              <a:rPr sz="1100" b="1">
                <a:solidFill>
                  <a:srgbClr val="2DD4BF"/>
                </a:solidFill>
                <a:latin typeface="Arial"/>
                <a:ea typeface="Arial"/>
                <a:cs typeface="Arial"/>
              </a:rPr>
              <a:t>JD compiler   nuanced role text becomes a deterministic scoring program</a:t>
            </a:r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E4446EFA-DA6F-4618-9031-30BBA58E4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4315968"/>
            <a:ext cx="472424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lnSpc>
                <a:spcPct val="98000"/>
              </a:lnSpc>
              <a:buNone/>
            </a:pPr>
            <a:r>
              <a:rPr sz="1100" b="1">
                <a:solidFill>
                  <a:srgbClr val="2DD4BF"/>
                </a:solidFill>
                <a:latin typeface="Arial"/>
                <a:ea typeface="Arial"/>
                <a:cs typeface="Arial"/>
              </a:rPr>
              <a:t>Audit payload   features, multipliers, flags, and grounded career evidence</a:t>
            </a:r>
          </a:p>
        </p:txBody>
      </p:sp>
      <p:sp>
        <p:nvSpPr>
          <p:cNvPr id="23" name="Text 20">
            <a:extLst xmlns:a="http://schemas.openxmlformats.org/drawingml/2006/main">
              <a:ext uri="{FF2B5EF4-FFF2-40B4-BE49-F238E27FC236}">
                <a16:creationId xmlns:a16="http://schemas.microsoft.com/office/drawing/2014/main" id="{8E6C5F45-8BAD-45CB-AB33-B9B8DD876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4700016"/>
            <a:ext cx="472424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lnSpc>
                <a:spcPct val="98000"/>
              </a:lnSpc>
              <a:buNone/>
            </a:pPr>
            <a:r>
              <a:rPr sz="1100" b="1">
                <a:solidFill>
                  <a:srgbClr val="2DD4BF"/>
                </a:solidFill>
                <a:latin typeface="Arial"/>
                <a:ea typeface="Arial"/>
                <a:cs typeface="Arial"/>
              </a:rPr>
              <a:t>Signals   response, recency, notice, reliability, and open-to-work integrate natively</a:t>
            </a:r>
          </a:p>
        </p:txBody>
      </p:sp>
      <p:sp>
        <p:nvSpPr>
          <p:cNvPr id="24" name="Shape 21">
            <a:extLst xmlns:a="http://schemas.openxmlformats.org/drawingml/2006/main">
              <a:ext uri="{FF2B5EF4-FFF2-40B4-BE49-F238E27FC236}">
                <a16:creationId xmlns:a16="http://schemas.microsoft.com/office/drawing/2014/main" id="{10C82483-0EE4-4B34-9627-0A3DA3574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8728" y="3200400"/>
            <a:ext cx="5272888" cy="1874520"/>
          </a:xfrm>
          <a:prstGeom xmlns:a="http://schemas.openxmlformats.org/drawingml/2006/main" prst="roundRect">
            <a:avLst>
              <a:gd name="adj" fmla="val 5854"/>
            </a:avLst>
          </a:prstGeom>
          <a:solidFill xmlns:a="http://schemas.openxmlformats.org/drawingml/2006/main">
            <a:srgbClr val="1B2330"/>
          </a:solidFill>
          <a:ln xmlns:a="http://schemas.openxmlformats.org/drawingml/2006/main" w="12700">
            <a:solidFill>
              <a:srgbClr val="2A3340"/>
            </a:solidFill>
            <a:prstDash val="solid"/>
          </a:ln>
          <a:effectLst xmlns:a="http://schemas.openxmlformats.org/drawingml/2006/main"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5F85F2CE-6998-4AE8-91DB-9C9B390B9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048" y="3429000"/>
            <a:ext cx="420624" cy="420624"/>
          </a:xfrm>
          <a:prstGeom xmlns:a="http://schemas.openxmlformats.org/drawingml/2006/main" prst="roundRect">
            <a:avLst>
              <a:gd name="adj" fmla="val 15217"/>
            </a:avLst>
          </a:prstGeom>
          <a:solidFill xmlns:a="http://schemas.openxmlformats.org/drawingml/2006/main">
            <a:srgbClr val="2DD4BF">
              <a:alpha val="18000"/>
            </a:srgbClr>
          </a:solidFill>
          <a:ln xmlns:a="http://schemas.openxmlformats.org/drawingml/2006/main" w="12700">
            <a:solidFill>
              <a:srgbClr val="2DD4BF">
                <a:alpha val="45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61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2ba7ce170264c8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645585" y="3521537"/>
            <a:ext cx="235549" cy="235549"/>
          </a:xfrm>
          <a:prstGeom xmlns:a="http://schemas.openxmlformats.org/drawingml/2006/main" prst="rect">
            <a:avLst/>
          </a:prstGeom>
        </p:spPr>
      </p:pic>
      <p:sp>
        <p:nvSpPr>
          <p:cNvPr id="27" name="Text 23">
            <a:extLst xmlns:a="http://schemas.openxmlformats.org/drawingml/2006/main">
              <a:ext uri="{FF2B5EF4-FFF2-40B4-BE49-F238E27FC236}">
                <a16:creationId xmlns:a16="http://schemas.microsoft.com/office/drawing/2014/main" id="{980F944E-925C-47B4-A7BA-58C397875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3400" y="3429000"/>
            <a:ext cx="4358488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2DD4BF"/>
                </a:solidFill>
                <a:latin typeface="Arial"/>
                <a:ea typeface="Arial"/>
                <a:cs typeface="Arial"/>
              </a:rPr>
              <a:t>Where it grows</a:t>
            </a:r>
          </a:p>
        </p:txBody>
      </p:sp>
      <p:sp>
        <p:nvSpPr>
          <p:cNvPr id="28" name="Text 24">
            <a:extLst xmlns:a="http://schemas.openxmlformats.org/drawingml/2006/main">
              <a:ext uri="{FF2B5EF4-FFF2-40B4-BE49-F238E27FC236}">
                <a16:creationId xmlns:a16="http://schemas.microsoft.com/office/drawing/2014/main" id="{3C04142C-11DF-4B77-AA89-71E0B23DD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1336" y="3931920"/>
            <a:ext cx="4724248" cy="1005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lnSpc>
                <a:spcPct val="110000"/>
              </a:lnSpc>
              <a:buNone/>
            </a:pPr>
            <a:r>
              <a:rPr sz="1250">
                <a:solidFill>
                  <a:srgbClr val="E6EDF3"/>
                </a:solidFill>
                <a:latin typeface="Arial"/>
                <a:ea typeface="Arial"/>
                <a:cs typeface="Arial"/>
              </a:rPr>
              <a:t>Indic-script normalization is localized. With real outcome labels, learned reranking can reuse the 33-feature audit surface. The durable asset is the evidence model plus the release contract.</a:t>
            </a:r>
          </a:p>
        </p:txBody>
      </p:sp>
      <p:sp>
        <p:nvSpPr>
          <p:cNvPr id="29" name="Shape 25">
            <a:extLst xmlns:a="http://schemas.openxmlformats.org/drawingml/2006/main">
              <a:ext uri="{FF2B5EF4-FFF2-40B4-BE49-F238E27FC236}">
                <a16:creationId xmlns:a16="http://schemas.microsoft.com/office/drawing/2014/main" id="{E7A905F5-492F-4D6E-BA80-3361B82C4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257800"/>
            <a:ext cx="10911535" cy="658368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61C24"/>
          </a:solidFill>
          <a:ln xmlns:a="http://schemas.openxmlformats.org/drawingml/2006/main" w="12700">
            <a:solidFill>
              <a:srgbClr val="2A3340"/>
            </a:solidFill>
            <a:prstDash val="solid"/>
          </a:ln>
          <a:effectLst xmlns:a="http://schemas.openxmlformats.org/drawingml/2006/main"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65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5b759cbb95942d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14400" y="5413248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31" name="Text 26">
            <a:extLst xmlns:a="http://schemas.openxmlformats.org/drawingml/2006/main">
              <a:ext uri="{FF2B5EF4-FFF2-40B4-BE49-F238E27FC236}">
                <a16:creationId xmlns:a16="http://schemas.microsoft.com/office/drawing/2014/main" id="{5B8D664B-922B-4E40-BC68-59CF86E51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5257800"/>
            <a:ext cx="9905695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lnSpc>
                <a:spcPct val="100000"/>
              </a:lnSpc>
              <a:buNone/>
            </a:pPr>
            <a:r>
              <a:rPr sz="1200" b="1">
                <a:solidFill>
                  <a:srgbClr val="F2B544"/>
                </a:solidFill>
                <a:latin typeface="Arial"/>
                <a:ea typeface="Arial"/>
                <a:cs typeface="Arial"/>
              </a:rPr>
              <a:t>LLMs evaluate offline; deterministic evidence ranks where hiring decisions must be defended.</a:t>
            </a:r>
          </a:p>
        </p:txBody>
      </p:sp>
      <p:sp>
        <p:nvSpPr>
          <p:cNvPr id="32" name="Text 27">
            <a:extLst xmlns:a="http://schemas.openxmlformats.org/drawingml/2006/main">
              <a:ext uri="{FF2B5EF4-FFF2-40B4-BE49-F238E27FC236}">
                <a16:creationId xmlns:a16="http://schemas.microsoft.com/office/drawing/2014/main" id="{50837885-C6B6-46C6-AB33-2AC740468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1535" y="6473952"/>
            <a:ext cx="914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6E7C8C"/>
                </a:solidFill>
                <a:latin typeface="Arial"/>
                <a:ea typeface="Arial"/>
                <a:cs typeface="Arial"/>
              </a:rPr>
              <a:t>12/14</a:t>
            </a:r>
          </a:p>
        </p:txBody>
      </p:sp>
      <p:sp>
        <p:nvSpPr>
          <p:cNvPr id="33" name="Text 28">
            <a:extLst xmlns:a="http://schemas.openxmlformats.org/drawingml/2006/main">
              <a:ext uri="{FF2B5EF4-FFF2-40B4-BE49-F238E27FC236}">
                <a16:creationId xmlns:a16="http://schemas.microsoft.com/office/drawing/2014/main" id="{41AD7265-8EC0-40B7-A461-EDBCBD0B8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6473952"/>
            <a:ext cx="27432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 spc="200">
                <a:solidFill>
                  <a:srgbClr val="6E7C8C"/>
                </a:solidFill>
                <a:latin typeface="Arial"/>
                <a:ea typeface="Arial"/>
                <a:cs typeface="Arial"/>
              </a:rPr>
              <a:t>HIREFIT RANKER</a:t>
            </a:r>
          </a:p>
        </p:txBody>
      </p:sp>
    </p:spTree>
    <p:extLst>
      <p:ext uri="{BB962C8B-B14F-4D97-AF65-F5344CB8AC3E}">
        <p14:creationId xmlns:p14="http://schemas.microsoft.com/office/powerpoint/2010/main" val="1697746443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0E111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037A1514-5AA3-4FB8-B14F-4E1A69844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0" y="2011680"/>
            <a:ext cx="7315200" cy="7315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7CF6">
              <a:alpha val="10000"/>
            </a:srgbClr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FB25AEFC-416E-4E2C-8ED3-CA604A2C6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377440" y="-2377440"/>
            <a:ext cx="5943600" cy="5943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DD4BF">
              <a:alpha val="7000"/>
            </a:srgbClr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56097DC5-20F9-4B18-9F23-220AB09E3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371600"/>
            <a:ext cx="91440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 spc="300">
                <a:solidFill>
                  <a:srgbClr val="8B7CF6"/>
                </a:solidFill>
                <a:latin typeface="Arial"/>
                <a:ea typeface="Arial"/>
                <a:cs typeface="Arial"/>
              </a:rPr>
              <a:t>THE TAKEAWAY</a:t>
            </a:r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6B110BBF-8A98-4326-8E3F-3C7CE4674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783080"/>
            <a:ext cx="10515600" cy="1554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lnSpc>
                <a:spcPct val="100000"/>
              </a:lnSpc>
              <a:buNone/>
            </a:pPr>
            <a:r>
              <a:rPr sz="4600" b="1">
                <a:solidFill>
                  <a:srgbClr val="E6EDF3"/>
                </a:solidFill>
                <a:latin typeface="Arial"/>
                <a:ea typeface="Arial"/>
                <a:cs typeface="Arial"/>
              </a:rPr>
              <a:t>Battle-proof by design.</a:t>
            </a:r>
          </a:p>
          <a:p xmlns:a="http://schemas.openxmlformats.org/drawingml/2006/main">
            <a:pPr marL="0" indent="0">
              <a:lnSpc>
                <a:spcPct val="100000"/>
              </a:lnSpc>
              <a:buNone/>
            </a:pPr>
            <a:r>
              <a:rPr sz="4600" b="1">
                <a:solidFill>
                  <a:srgbClr val="E6EDF3"/>
                </a:solidFill>
                <a:latin typeface="Arial"/>
                <a:ea typeface="Arial"/>
                <a:cs typeface="Arial"/>
              </a:rPr>
              <a:t>Strong by evidence.</a:t>
            </a:r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A1B57842-3B96-4476-A278-C76EC0C27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611880"/>
            <a:ext cx="5272888" cy="54864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61C24"/>
          </a:solidFill>
          <a:ln xmlns:a="http://schemas.openxmlformats.org/drawingml/2006/main" w="12700">
            <a:solidFill>
              <a:srgbClr val="2A3340"/>
            </a:solidFill>
            <a:prstDash val="solid"/>
          </a:ln>
          <a:effectLst xmlns:a="http://schemas.openxmlformats.org/drawingml/2006/main"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3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460d34c72ed488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68680" y="3767328"/>
            <a:ext cx="237744" cy="237744"/>
          </a:xfrm>
          <a:prstGeom xmlns:a="http://schemas.openxmlformats.org/drawingml/2006/main" prst="rect">
            <a:avLst/>
          </a:prstGeom>
        </p:spPr>
      </p:pic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01696401-F3D2-4ADF-86C8-03A04D25E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3611880"/>
            <a:ext cx="4495648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>
                <a:solidFill>
                  <a:srgbClr val="E6EDF3"/>
                </a:solidFill>
                <a:latin typeface="Arial"/>
                <a:ea typeface="Arial"/>
                <a:cs typeface="Arial"/>
              </a:rPr>
              <a:t>Beats main on every tested composite — 30 / 30</a:t>
            </a:r>
          </a:p>
        </p:txBody>
      </p:sp>
      <p:sp>
        <p:nvSpPr>
          <p:cNvPr id="9" name="Shape 6">
            <a:extLst xmlns:a="http://schemas.openxmlformats.org/drawingml/2006/main">
              <a:ext uri="{FF2B5EF4-FFF2-40B4-BE49-F238E27FC236}">
                <a16:creationId xmlns:a16="http://schemas.microsoft.com/office/drawing/2014/main" id="{065DAE13-4178-40A2-847E-555CDABCE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8728" y="3611880"/>
            <a:ext cx="5272888" cy="54864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61C24"/>
          </a:solidFill>
          <a:ln xmlns:a="http://schemas.openxmlformats.org/drawingml/2006/main" w="12700">
            <a:solidFill>
              <a:srgbClr val="2A3340"/>
            </a:solidFill>
            <a:prstDash val="solid"/>
          </a:ln>
          <a:effectLst xmlns:a="http://schemas.openxmlformats.org/drawingml/2006/main"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6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f8159cc54e3401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507328" y="3767328"/>
            <a:ext cx="237744" cy="237744"/>
          </a:xfrm>
          <a:prstGeom xmlns:a="http://schemas.openxmlformats.org/drawingml/2006/main" prst="rect">
            <a:avLst/>
          </a:prstGeom>
        </p:spPr>
      </p:pic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91D0A4BE-7CDD-4E0E-9ED4-BA35B5F2F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3088" y="3611880"/>
            <a:ext cx="4495648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>
                <a:solidFill>
                  <a:srgbClr val="E6EDF3"/>
                </a:solidFill>
                <a:latin typeface="Arial"/>
                <a:ea typeface="Arial"/>
                <a:cs typeface="Arial"/>
              </a:rPr>
              <a:t>Public-field #1 on mean7 and strongest union</a:t>
            </a:r>
          </a:p>
        </p:txBody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F2F60292-441F-4689-9455-DA6B81D82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270248"/>
            <a:ext cx="5272888" cy="54864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61C24"/>
          </a:solidFill>
          <a:ln xmlns:a="http://schemas.openxmlformats.org/drawingml/2006/main" w="12700">
            <a:solidFill>
              <a:srgbClr val="2A3340"/>
            </a:solidFill>
            <a:prstDash val="solid"/>
          </a:ln>
          <a:effectLst xmlns:a="http://schemas.openxmlformats.org/drawingml/2006/main"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9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2940fff40f8444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68680" y="4425696"/>
            <a:ext cx="237744" cy="237744"/>
          </a:xfrm>
          <a:prstGeom xmlns:a="http://schemas.openxmlformats.org/drawingml/2006/main" prst="rect">
            <a:avLst/>
          </a:prstGeom>
        </p:spPr>
      </p:pic>
      <p:sp>
        <p:nvSpPr>
          <p:cNvPr id="14" name="Text 9">
            <a:extLst xmlns:a="http://schemas.openxmlformats.org/drawingml/2006/main">
              <a:ext uri="{FF2B5EF4-FFF2-40B4-BE49-F238E27FC236}">
                <a16:creationId xmlns:a16="http://schemas.microsoft.com/office/drawing/2014/main" id="{B65BE68D-DC3C-4D6F-9160-64617DC15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4270248"/>
            <a:ext cx="4495648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>
                <a:solidFill>
                  <a:srgbClr val="E6EDF3"/>
                </a:solidFill>
                <a:latin typeface="Arial"/>
                <a:ea typeface="Arial"/>
                <a:cs typeface="Arial"/>
              </a:rPr>
              <a:t>Exact 100K release in 136.0 s — zero traps emitted</a:t>
            </a:r>
          </a:p>
        </p:txBody>
      </p:sp>
      <p:sp>
        <p:nvSpPr>
          <p:cNvPr id="15" name="Shape 10">
            <a:extLst xmlns:a="http://schemas.openxmlformats.org/drawingml/2006/main">
              <a:ext uri="{FF2B5EF4-FFF2-40B4-BE49-F238E27FC236}">
                <a16:creationId xmlns:a16="http://schemas.microsoft.com/office/drawing/2014/main" id="{A14BE5E3-1B2A-49A4-B590-73A29FF55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8728" y="4270248"/>
            <a:ext cx="5272888" cy="54864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61C24"/>
          </a:solidFill>
          <a:ln xmlns:a="http://schemas.openxmlformats.org/drawingml/2006/main" w="12700">
            <a:solidFill>
              <a:srgbClr val="2A3340"/>
            </a:solidFill>
            <a:prstDash val="solid"/>
          </a:ln>
          <a:effectLst xmlns:a="http://schemas.openxmlformats.org/drawingml/2006/main"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42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ee52c8aa850497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507328" y="4425696"/>
            <a:ext cx="237744" cy="237744"/>
          </a:xfrm>
          <a:prstGeom xmlns:a="http://schemas.openxmlformats.org/drawingml/2006/main" prst="rect">
            <a:avLst/>
          </a:prstGeom>
        </p:spPr>
      </p:pic>
      <p:sp>
        <p:nvSpPr>
          <p:cNvPr id="17" name="Text 11">
            <a:extLst xmlns:a="http://schemas.openxmlformats.org/drawingml/2006/main">
              <a:ext uri="{FF2B5EF4-FFF2-40B4-BE49-F238E27FC236}">
                <a16:creationId xmlns:a16="http://schemas.microsoft.com/office/drawing/2014/main" id="{CD51C4FA-7943-4FB5-B39E-6119CEB6A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3088" y="4270248"/>
            <a:ext cx="4495648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>
                <a:solidFill>
                  <a:srgbClr val="E6EDF3"/>
                </a:solidFill>
                <a:latin typeface="Arial"/>
                <a:ea typeface="Arial"/>
                <a:cs typeface="Arial"/>
              </a:rPr>
              <a:t>262 tests; corrupt configs and OOM fail safely</a:t>
            </a:r>
          </a:p>
        </p:txBody>
      </p:sp>
      <p:sp>
        <p:nvSpPr>
          <p:cNvPr id="18" name="Shape 12">
            <a:extLst xmlns:a="http://schemas.openxmlformats.org/drawingml/2006/main">
              <a:ext uri="{FF2B5EF4-FFF2-40B4-BE49-F238E27FC236}">
                <a16:creationId xmlns:a16="http://schemas.microsoft.com/office/drawing/2014/main" id="{3C01C596-6A5D-4A8C-B5D1-8865447C3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928616"/>
            <a:ext cx="5272888" cy="54864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61C24"/>
          </a:solidFill>
          <a:ln xmlns:a="http://schemas.openxmlformats.org/drawingml/2006/main" w="12700">
            <a:solidFill>
              <a:srgbClr val="2A3340"/>
            </a:solidFill>
            <a:prstDash val="solid"/>
          </a:ln>
          <a:effectLst xmlns:a="http://schemas.openxmlformats.org/drawingml/2006/main"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45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2749c2c4e7f430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68680" y="5084064"/>
            <a:ext cx="237744" cy="237744"/>
          </a:xfrm>
          <a:prstGeom xmlns:a="http://schemas.openxmlformats.org/drawingml/2006/main" prst="rect">
            <a:avLst/>
          </a:prstGeom>
        </p:spPr>
      </p:pic>
      <p:sp>
        <p:nvSpPr>
          <p:cNvPr id="20" name="Text 13">
            <a:extLst xmlns:a="http://schemas.openxmlformats.org/drawingml/2006/main">
              <a:ext uri="{FF2B5EF4-FFF2-40B4-BE49-F238E27FC236}">
                <a16:creationId xmlns:a16="http://schemas.microsoft.com/office/drawing/2014/main" id="{3BDA8CFA-7474-4356-8E47-0F975B684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4928616"/>
            <a:ext cx="4495648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>
                <a:solidFill>
                  <a:srgbClr val="E6EDF3"/>
                </a:solidFill>
                <a:latin typeface="Arial"/>
                <a:ea typeface="Arial"/>
                <a:cs typeface="Arial"/>
              </a:rPr>
              <a:t>Projected #1 · honest range #1–#3 · not an official leaderboard</a:t>
            </a:r>
          </a:p>
        </p:txBody>
      </p:sp>
      <p:sp>
        <p:nvSpPr>
          <p:cNvPr id="21" name="Text 14">
            <a:extLst xmlns:a="http://schemas.openxmlformats.org/drawingml/2006/main">
              <a:ext uri="{FF2B5EF4-FFF2-40B4-BE49-F238E27FC236}">
                <a16:creationId xmlns:a16="http://schemas.microsoft.com/office/drawing/2014/main" id="{9B8F7ED1-97F3-476D-A1DE-56704A001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6355080"/>
            <a:ext cx="10972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6E7C8C"/>
                </a:solidFill>
                <a:latin typeface="Arial"/>
                <a:ea typeface="Arial"/>
                <a:cs typeface="Arial"/>
              </a:rPr>
              <a:t>HireFit Ranker  ·  Redrob Data &amp; AI Challenge  ·  github.com/bansalbhunesh/redrob-hirefit-ranker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BC0261FE-64F1-5EE0-7AFD-DC46F47EA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6473952"/>
            <a:ext cx="914400" cy="1384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>
                <a:solidFill>
                  <a:srgbClr val="6E7C8C"/>
                </a:solidFill>
                <a:latin typeface="Arial"/>
                <a:ea typeface="Arial"/>
                <a:cs typeface="Arial"/>
              </a:rPr>
              <a:t>13/14</a:t>
            </a:r>
          </a:p>
        </p:txBody>
      </p:sp>
    </p:spTree>
    <p:extLst>
      <p:ext uri="{BB962C8B-B14F-4D97-AF65-F5344CB8AC3E}">
        <p14:creationId xmlns:p14="http://schemas.microsoft.com/office/powerpoint/2010/main" val="1430478819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0E111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784407B4-E2BB-47FE-BF27-B6932FDEE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84048"/>
            <a:ext cx="10911535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>
                <a:solidFill>
                  <a:srgbClr val="8B7CF6"/>
                </a:solidFill>
                <a:latin typeface="Arial"/>
                <a:ea typeface="Arial"/>
                <a:cs typeface="Arial"/>
              </a:rPr>
              <a:t>MISSION SCORECARD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C57EA894-51DD-4315-8E54-37F92F669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658368"/>
            <a:ext cx="10911535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lnSpc>
                <a:spcPct val="98000"/>
              </a:lnSpc>
              <a:buNone/>
            </a:pPr>
            <a:r>
              <a:rPr sz="2600" b="1">
                <a:solidFill>
                  <a:srgbClr val="E6EDF3"/>
                </a:solidFill>
                <a:latin typeface="Arial"/>
                <a:ea typeface="Arial"/>
                <a:cs typeface="Arial"/>
              </a:rPr>
              <a:t>The challenge asks for an AI recruiter. V6 maps to every mission pillar.</a:t>
            </a: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6D9A726F-1A9F-40DE-9777-ADF96C934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335024"/>
            <a:ext cx="10911535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9AA7B4"/>
                </a:solidFill>
                <a:latin typeface="Arial"/>
                <a:ea typeface="Arial"/>
                <a:cs typeface="Arial"/>
              </a:rPr>
              <a:t>Mission-derived weights are transparent and explicitly not official.</a:t>
            </a:r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6A6A4D69-E217-4BC9-8EEB-B5DD15F0D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874520"/>
            <a:ext cx="2522144" cy="109728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161C24"/>
          </a:solidFill>
          <a:ln xmlns:a="http://schemas.openxmlformats.org/drawingml/2006/main" w="12700">
            <a:solidFill>
              <a:srgbClr val="2A3340"/>
            </a:solidFill>
            <a:prstDash val="solid"/>
          </a:ln>
          <a:effectLst xmlns:a="http://schemas.openxmlformats.org/drawingml/2006/main"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3FAA3882-B40B-4F8B-9EBB-041500E44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993392"/>
            <a:ext cx="2522144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3400" b="1">
                <a:solidFill>
                  <a:srgbClr val="2DD4BF"/>
                </a:solidFill>
                <a:latin typeface="Arial"/>
                <a:ea typeface="Arial"/>
                <a:cs typeface="Arial"/>
              </a:rPr>
              <a:t>93.7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E18FFC03-97CD-485B-ACA2-5888F5338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578608"/>
            <a:ext cx="2522144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9AA7B4"/>
                </a:solidFill>
                <a:latin typeface="Arial"/>
                <a:ea typeface="Arial"/>
                <a:cs typeface="Arial"/>
              </a:rPr>
              <a:t>MISSION SCORE / 100</a:t>
            </a:r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0B729BF5-2339-4399-8BA9-8A7C3E20B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6544" y="1874520"/>
            <a:ext cx="2522144" cy="109728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161C24"/>
          </a:solidFill>
          <a:ln xmlns:a="http://schemas.openxmlformats.org/drawingml/2006/main" w="12700">
            <a:solidFill>
              <a:srgbClr val="2A3340"/>
            </a:solidFill>
            <a:prstDash val="solid"/>
          </a:ln>
          <a:effectLst xmlns:a="http://schemas.openxmlformats.org/drawingml/2006/main"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8C62E156-8AA0-425B-959E-8320F40E5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6544" y="1993392"/>
            <a:ext cx="2522144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3400" b="1">
                <a:solidFill>
                  <a:srgbClr val="2DD4BF"/>
                </a:solidFill>
                <a:latin typeface="Arial"/>
                <a:ea typeface="Arial"/>
                <a:cs typeface="Arial"/>
              </a:rPr>
              <a:t>#1</a:t>
            </a:r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023B48F7-6FED-4B5C-AC15-CEFA9C2C6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6544" y="2578608"/>
            <a:ext cx="2522144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9AA7B4"/>
                </a:solidFill>
                <a:latin typeface="Arial"/>
                <a:ea typeface="Arial"/>
                <a:cs typeface="Arial"/>
              </a:rPr>
              <a:t>PROJECTED PUBLIC-FIELD POSITION</a:t>
            </a:r>
          </a:p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38EF8F75-6B20-409C-9984-88CFC0940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3008" y="1874520"/>
            <a:ext cx="2522144" cy="109728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161C24"/>
          </a:solidFill>
          <a:ln xmlns:a="http://schemas.openxmlformats.org/drawingml/2006/main" w="12700">
            <a:solidFill>
              <a:srgbClr val="2A3340"/>
            </a:solidFill>
            <a:prstDash val="solid"/>
          </a:ln>
          <a:effectLst xmlns:a="http://schemas.openxmlformats.org/drawingml/2006/main"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BC667972-17D1-4DAA-A6B4-4639265E8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3008" y="1993392"/>
            <a:ext cx="2522144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3400" b="1">
                <a:solidFill>
                  <a:srgbClr val="2DD4BF"/>
                </a:solidFill>
                <a:latin typeface="Arial"/>
                <a:ea typeface="Arial"/>
                <a:cs typeface="Arial"/>
              </a:rPr>
              <a:t>#1–#3</a:t>
            </a:r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59EB7EE0-F655-4C1B-8255-75862A92C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3008" y="2578608"/>
            <a:ext cx="2522144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9AA7B4"/>
                </a:solidFill>
                <a:latin typeface="Arial"/>
                <a:ea typeface="Arial"/>
                <a:cs typeface="Arial"/>
              </a:rPr>
              <a:t>HONEST UNCERTAINTY RANGE</a:t>
            </a:r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6A5B6497-9B1E-4D09-98C3-06539CAED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471" y="1874520"/>
            <a:ext cx="2522144" cy="109728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161C24"/>
          </a:solidFill>
          <a:ln xmlns:a="http://schemas.openxmlformats.org/drawingml/2006/main" w="12700">
            <a:solidFill>
              <a:srgbClr val="2A3340"/>
            </a:solidFill>
            <a:prstDash val="solid"/>
          </a:ln>
          <a:effectLst xmlns:a="http://schemas.openxmlformats.org/drawingml/2006/main"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ECD68244-7C81-441A-906E-AAC79FD05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471" y="1993392"/>
            <a:ext cx="2522144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3400" b="1">
                <a:solidFill>
                  <a:srgbClr val="34D399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823D10CB-80A1-4A24-8A84-579D4978F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471" y="2578608"/>
            <a:ext cx="2522144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9AA7B4"/>
                </a:solidFill>
                <a:latin typeface="Arial"/>
                <a:ea typeface="Arial"/>
                <a:cs typeface="Arial"/>
              </a:rPr>
              <a:t>OFFICIAL WEIGHTS INVENTED</a:t>
            </a:r>
          </a:p>
        </p:txBody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159F5F5A-E061-45A7-ABC8-AAF7E99BB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200400"/>
            <a:ext cx="5272888" cy="1874520"/>
          </a:xfrm>
          <a:prstGeom xmlns:a="http://schemas.openxmlformats.org/drawingml/2006/main" prst="roundRect">
            <a:avLst>
              <a:gd name="adj" fmla="val 5854"/>
            </a:avLst>
          </a:prstGeom>
          <a:solidFill xmlns:a="http://schemas.openxmlformats.org/drawingml/2006/main">
            <a:srgbClr val="161C24"/>
          </a:solidFill>
          <a:ln xmlns:a="http://schemas.openxmlformats.org/drawingml/2006/main" w="12700">
            <a:solidFill>
              <a:srgbClr val="2A3340"/>
            </a:solidFill>
            <a:prstDash val="solid"/>
          </a:ln>
          <a:effectLst xmlns:a="http://schemas.openxmlformats.org/drawingml/2006/main"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CCF9A818-35AC-4919-9797-86E0FAE15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429000"/>
            <a:ext cx="420624" cy="420624"/>
          </a:xfrm>
          <a:prstGeom xmlns:a="http://schemas.openxmlformats.org/drawingml/2006/main" prst="roundRect">
            <a:avLst>
              <a:gd name="adj" fmla="val 15217"/>
            </a:avLst>
          </a:prstGeom>
          <a:solidFill xmlns:a="http://schemas.openxmlformats.org/drawingml/2006/main">
            <a:srgbClr val="F2B544">
              <a:alpha val="18000"/>
            </a:srgbClr>
          </a:solidFill>
          <a:ln xmlns:a="http://schemas.openxmlformats.org/drawingml/2006/main" w="12700">
            <a:solidFill>
              <a:srgbClr val="F2B544">
                <a:alpha val="45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5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f205d154a214b2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06937" y="3521537"/>
            <a:ext cx="235549" cy="235549"/>
          </a:xfrm>
          <a:prstGeom xmlns:a="http://schemas.openxmlformats.org/drawingml/2006/main" prst="rect">
            <a:avLst/>
          </a:prstGeom>
        </p:spPr>
      </p:pic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1367E053-72C5-48E2-B091-21045B22E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4752" y="3429000"/>
            <a:ext cx="4358488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E6EDF3"/>
                </a:solidFill>
                <a:latin typeface="Arial"/>
                <a:ea typeface="Arial"/>
                <a:cs typeface="Arial"/>
              </a:rPr>
              <a:t>Why the score is high</a:t>
            </a:r>
          </a:p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3A109BC9-6B86-44B6-BD60-BDEDED0A8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3931920"/>
            <a:ext cx="472424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lnSpc>
                <a:spcPct val="98000"/>
              </a:lnSpc>
              <a:buNone/>
            </a:pPr>
            <a:r>
              <a:rPr sz="1100" b="1">
                <a:solidFill>
                  <a:srgbClr val="2DD4BF"/>
                </a:solidFill>
                <a:latin typeface="Arial"/>
                <a:ea typeface="Arial"/>
                <a:cs typeface="Arial"/>
              </a:rPr>
              <a:t>Ranking quality   32.6 / 35 — broad field leadership</a:t>
            </a:r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B719A879-3AB3-4B6B-83F6-75057CE44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4315968"/>
            <a:ext cx="472424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lnSpc>
                <a:spcPct val="98000"/>
              </a:lnSpc>
              <a:buNone/>
            </a:pPr>
            <a:r>
              <a:rPr sz="1100" b="1">
                <a:solidFill>
                  <a:srgbClr val="2DD4BF"/>
                </a:solidFill>
                <a:latin typeface="Arial"/>
                <a:ea typeface="Arial"/>
                <a:cs typeface="Arial"/>
              </a:rPr>
              <a:t>JD context + signals   27.5 / 30 — 33 career and behavior features</a:t>
            </a:r>
          </a:p>
        </p:txBody>
      </p:sp>
      <p:sp>
        <p:nvSpPr>
          <p:cNvPr id="23" name="Text 20">
            <a:extLst xmlns:a="http://schemas.openxmlformats.org/drawingml/2006/main">
              <a:ext uri="{FF2B5EF4-FFF2-40B4-BE49-F238E27FC236}">
                <a16:creationId xmlns:a16="http://schemas.microsoft.com/office/drawing/2014/main" id="{7118090A-F74A-4D76-8F75-B8927DA72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4700016"/>
            <a:ext cx="472424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lnSpc>
                <a:spcPct val="98000"/>
              </a:lnSpc>
              <a:buNone/>
            </a:pPr>
            <a:r>
              <a:rPr sz="1100" b="1">
                <a:solidFill>
                  <a:srgbClr val="2DD4BF"/>
                </a:solidFill>
                <a:latin typeface="Arial"/>
                <a:ea typeface="Arial"/>
                <a:cs typeface="Arial"/>
              </a:rPr>
              <a:t>Speed + robustness   14.7 / 15 — 136 s, exact, fail-closed</a:t>
            </a:r>
          </a:p>
        </p:txBody>
      </p:sp>
      <p:sp>
        <p:nvSpPr>
          <p:cNvPr id="24" name="Shape 21">
            <a:extLst xmlns:a="http://schemas.openxmlformats.org/drawingml/2006/main">
              <a:ext uri="{FF2B5EF4-FFF2-40B4-BE49-F238E27FC236}">
                <a16:creationId xmlns:a16="http://schemas.microsoft.com/office/drawing/2014/main" id="{AD1726F3-418C-4964-9985-3CFB847A1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8728" y="3200400"/>
            <a:ext cx="5272888" cy="1874520"/>
          </a:xfrm>
          <a:prstGeom xmlns:a="http://schemas.openxmlformats.org/drawingml/2006/main" prst="roundRect">
            <a:avLst>
              <a:gd name="adj" fmla="val 5854"/>
            </a:avLst>
          </a:prstGeom>
          <a:solidFill xmlns:a="http://schemas.openxmlformats.org/drawingml/2006/main">
            <a:srgbClr val="1B2330"/>
          </a:solidFill>
          <a:ln xmlns:a="http://schemas.openxmlformats.org/drawingml/2006/main" w="12700">
            <a:solidFill>
              <a:srgbClr val="2A3340"/>
            </a:solidFill>
            <a:prstDash val="solid"/>
          </a:ln>
          <a:effectLst xmlns:a="http://schemas.openxmlformats.org/drawingml/2006/main"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7273145F-4E53-4D41-83E2-9AF171B71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048" y="3429000"/>
            <a:ext cx="420624" cy="420624"/>
          </a:xfrm>
          <a:prstGeom xmlns:a="http://schemas.openxmlformats.org/drawingml/2006/main" prst="roundRect">
            <a:avLst>
              <a:gd name="adj" fmla="val 15217"/>
            </a:avLst>
          </a:prstGeom>
          <a:solidFill xmlns:a="http://schemas.openxmlformats.org/drawingml/2006/main">
            <a:srgbClr val="2DD4BF">
              <a:alpha val="18000"/>
            </a:srgbClr>
          </a:solidFill>
          <a:ln xmlns:a="http://schemas.openxmlformats.org/drawingml/2006/main" w="12700">
            <a:solidFill>
              <a:srgbClr val="2DD4BF">
                <a:alpha val="45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61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10f14bf0a1244c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645585" y="3521537"/>
            <a:ext cx="235549" cy="235549"/>
          </a:xfrm>
          <a:prstGeom xmlns:a="http://schemas.openxmlformats.org/drawingml/2006/main" prst="rect">
            <a:avLst/>
          </a:prstGeom>
        </p:spPr>
      </p:pic>
      <p:sp>
        <p:nvSpPr>
          <p:cNvPr id="27" name="Text 23">
            <a:extLst xmlns:a="http://schemas.openxmlformats.org/drawingml/2006/main">
              <a:ext uri="{FF2B5EF4-FFF2-40B4-BE49-F238E27FC236}">
                <a16:creationId xmlns:a16="http://schemas.microsoft.com/office/drawing/2014/main" id="{E43FD006-9643-42BA-93AF-24EE9A438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3400" y="3429000"/>
            <a:ext cx="4358488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2DD4BF"/>
                </a:solidFill>
                <a:latin typeface="Arial"/>
                <a:ea typeface="Arial"/>
                <a:cs typeface="Arial"/>
              </a:rPr>
              <a:t>Submission complete</a:t>
            </a:r>
          </a:p>
        </p:txBody>
      </p:sp>
      <p:sp>
        <p:nvSpPr>
          <p:cNvPr id="28" name="Text 24">
            <a:extLst xmlns:a="http://schemas.openxmlformats.org/drawingml/2006/main">
              <a:ext uri="{FF2B5EF4-FFF2-40B4-BE49-F238E27FC236}">
                <a16:creationId xmlns:a16="http://schemas.microsoft.com/office/drawing/2014/main" id="{58162B68-679C-4551-9007-1AF961F8D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1336" y="3931920"/>
            <a:ext cx="4724248" cy="1005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lnSpc>
                <a:spcPct val="110000"/>
              </a:lnSpc>
              <a:buNone/>
            </a:pPr>
            <a:r>
              <a:rPr sz="1250">
                <a:solidFill>
                  <a:srgbClr val="E6EDF3"/>
                </a:solidFill>
                <a:latin typeface="Arial"/>
                <a:ea typeface="Arial"/>
                <a:cs typeface="Arial"/>
              </a:rPr>
              <a:t>Code, README, methodology, architecture, ranked output, battle-proof audit, demo script, deck, and PDF now tell one V6 story.</a:t>
            </a:r>
          </a:p>
        </p:txBody>
      </p:sp>
      <p:sp>
        <p:nvSpPr>
          <p:cNvPr id="29" name="Shape 25">
            <a:extLst xmlns:a="http://schemas.openxmlformats.org/drawingml/2006/main">
              <a:ext uri="{FF2B5EF4-FFF2-40B4-BE49-F238E27FC236}">
                <a16:creationId xmlns:a16="http://schemas.microsoft.com/office/drawing/2014/main" id="{145F641B-A229-4B8F-828A-B72E84832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257800"/>
            <a:ext cx="10911535" cy="658368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61C24"/>
          </a:solidFill>
          <a:ln xmlns:a="http://schemas.openxmlformats.org/drawingml/2006/main" w="12700">
            <a:solidFill>
              <a:srgbClr val="2A3340"/>
            </a:solidFill>
            <a:prstDash val="solid"/>
          </a:ln>
          <a:effectLst xmlns:a="http://schemas.openxmlformats.org/drawingml/2006/main"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65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01d84ceec3d4fb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14400" y="5413248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31" name="Text 26">
            <a:extLst xmlns:a="http://schemas.openxmlformats.org/drawingml/2006/main">
              <a:ext uri="{FF2B5EF4-FFF2-40B4-BE49-F238E27FC236}">
                <a16:creationId xmlns:a16="http://schemas.microsoft.com/office/drawing/2014/main" id="{5C0DCABB-059A-450A-B0B9-D45D2A56A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5257800"/>
            <a:ext cx="9905695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lnSpc>
                <a:spcPct val="100000"/>
              </a:lnSpc>
              <a:buNone/>
            </a:pPr>
            <a:r>
              <a:rPr sz="1200" b="1">
                <a:solidFill>
                  <a:srgbClr val="F2B544"/>
                </a:solidFill>
                <a:latin typeface="Arial"/>
                <a:ea typeface="Arial"/>
                <a:cs typeface="Arial"/>
              </a:rPr>
              <a:t>Final position: projected #1 against the measured public field; the official hidden leaderboard remains unknown.</a:t>
            </a:r>
          </a:p>
        </p:txBody>
      </p:sp>
      <p:sp>
        <p:nvSpPr>
          <p:cNvPr id="32" name="Text 27">
            <a:extLst xmlns:a="http://schemas.openxmlformats.org/drawingml/2006/main">
              <a:ext uri="{FF2B5EF4-FFF2-40B4-BE49-F238E27FC236}">
                <a16:creationId xmlns:a16="http://schemas.microsoft.com/office/drawing/2014/main" id="{895CDFE0-B1DF-4F9E-B891-EB272BC97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1535" y="6473952"/>
            <a:ext cx="914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6E7C8C"/>
                </a:solidFill>
                <a:latin typeface="Arial"/>
                <a:ea typeface="Arial"/>
                <a:cs typeface="Arial"/>
              </a:rPr>
              <a:t>14/14</a:t>
            </a:r>
          </a:p>
        </p:txBody>
      </p:sp>
      <p:sp>
        <p:nvSpPr>
          <p:cNvPr id="33" name="Text 28">
            <a:extLst xmlns:a="http://schemas.openxmlformats.org/drawingml/2006/main">
              <a:ext uri="{FF2B5EF4-FFF2-40B4-BE49-F238E27FC236}">
                <a16:creationId xmlns:a16="http://schemas.microsoft.com/office/drawing/2014/main" id="{3E5C30DD-D0DF-42C3-8A00-7B8D133D3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6473952"/>
            <a:ext cx="27432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 spc="200">
                <a:solidFill>
                  <a:srgbClr val="6E7C8C"/>
                </a:solidFill>
                <a:latin typeface="Arial"/>
                <a:ea typeface="Arial"/>
                <a:cs typeface="Arial"/>
              </a:rPr>
              <a:t>HIREFIT RANKER</a:t>
            </a:r>
          </a:p>
        </p:txBody>
      </p:sp>
    </p:spTree>
    <p:extLst>
      <p:ext uri="{BB962C8B-B14F-4D97-AF65-F5344CB8AC3E}">
        <p14:creationId xmlns:p14="http://schemas.microsoft.com/office/powerpoint/2010/main" val="1351059263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2026-06-30T11:08:03.1650000Z</dcterms:created>
  <dcterms:modified xsi:type="dcterms:W3CDTF">2026-06-30T11:08:03.1660000Z</dcterms:modified>
</coreProperties>
</file>