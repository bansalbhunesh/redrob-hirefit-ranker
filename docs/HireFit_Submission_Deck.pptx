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041bc589784660" /><Relationship Type="http://schemas.openxmlformats.org/officeDocument/2006/relationships/extended-properties" Target="/docProps/app.xml" Id="Rfb31fbda3a3647f2" /><Relationship Type="http://schemas.openxmlformats.org/officeDocument/2006/relationships/officeDocument" Target="/ppt/presentation.xml" Id="R0d89067597f14b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1f9213cf654c40"/>
  </p:sldMasterIdLst>
  <p:notesMasterIdLst>
    <p:notesMasterId xmlns:r="http://schemas.openxmlformats.org/officeDocument/2006/relationships" r:id="R34b5cbba00444d11"/>
  </p:notesMasterIdLst>
  <p:sldIdLst>
    <p:sldId xmlns:r="http://schemas.openxmlformats.org/officeDocument/2006/relationships" id="256" r:id="R864573133b52473d"/>
    <p:sldId xmlns:r="http://schemas.openxmlformats.org/officeDocument/2006/relationships" id="257" r:id="R3fbb1440543c4b99"/>
    <p:sldId xmlns:r="http://schemas.openxmlformats.org/officeDocument/2006/relationships" id="258" r:id="R07eb905ddd934bcd"/>
    <p:sldId xmlns:r="http://schemas.openxmlformats.org/officeDocument/2006/relationships" id="259" r:id="Rdb094f35aa974b2d"/>
    <p:sldId xmlns:r="http://schemas.openxmlformats.org/officeDocument/2006/relationships" id="260" r:id="R48d702bcdccf41a7"/>
    <p:sldId xmlns:r="http://schemas.openxmlformats.org/officeDocument/2006/relationships" id="261" r:id="R2288ae637cfc4090"/>
    <p:sldId xmlns:r="http://schemas.openxmlformats.org/officeDocument/2006/relationships" id="262" r:id="R9564260f42eb4696"/>
    <p:sldId xmlns:r="http://schemas.openxmlformats.org/officeDocument/2006/relationships" id="263" r:id="R0daad275ffd54b3f"/>
    <p:sldId xmlns:r="http://schemas.openxmlformats.org/officeDocument/2006/relationships" id="264" r:id="R7bd38afbd0db45f0"/>
    <p:sldId xmlns:r="http://schemas.openxmlformats.org/officeDocument/2006/relationships" id="265" r:id="R065c8b49a48343ed"/>
    <p:sldId xmlns:r="http://schemas.openxmlformats.org/officeDocument/2006/relationships" id="266" r:id="R4b32dc8cd5be456c"/>
    <p:sldId xmlns:r="http://schemas.openxmlformats.org/officeDocument/2006/relationships" id="267" r:id="Rb038c14b97fd47bb"/>
    <p:sldId xmlns:r="http://schemas.openxmlformats.org/officeDocument/2006/relationships" id="268" r:id="Red0aeb57d04d4c4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64724c614f448a" /><Relationship Type="http://schemas.openxmlformats.org/officeDocument/2006/relationships/slideMaster" Target="/ppt/slideMasters/slideMaster1.xml" Id="Rb01f9213cf654c40" /><Relationship Type="http://schemas.openxmlformats.org/officeDocument/2006/relationships/notesMaster" Target="/ppt/notesMasters/notesMaster1.xml" Id="R34b5cbba00444d11" /><Relationship Type="http://schemas.openxmlformats.org/officeDocument/2006/relationships/presProps" Target="/ppt/presProps.xml" Id="Rce1c6f3b78854af3" /><Relationship Type="http://schemas.openxmlformats.org/officeDocument/2006/relationships/tableStyles" Target="/ppt/tableStyles.xml" Id="R1c7bf0c055944a3f" /><Relationship Type="http://schemas.openxmlformats.org/officeDocument/2006/relationships/slide" Target="/ppt/slides/slide1.xml" Id="R864573133b52473d" /><Relationship Type="http://schemas.openxmlformats.org/officeDocument/2006/relationships/slide" Target="/ppt/slides/slide2.xml" Id="R3fbb1440543c4b99" /><Relationship Type="http://schemas.openxmlformats.org/officeDocument/2006/relationships/slide" Target="/ppt/slides/slide3.xml" Id="R07eb905ddd934bcd" /><Relationship Type="http://schemas.openxmlformats.org/officeDocument/2006/relationships/slide" Target="/ppt/slides/slide4.xml" Id="Rdb094f35aa974b2d" /><Relationship Type="http://schemas.openxmlformats.org/officeDocument/2006/relationships/slide" Target="/ppt/slides/slide5.xml" Id="R48d702bcdccf41a7" /><Relationship Type="http://schemas.openxmlformats.org/officeDocument/2006/relationships/slide" Target="/ppt/slides/slide6.xml" Id="R2288ae637cfc4090" /><Relationship Type="http://schemas.openxmlformats.org/officeDocument/2006/relationships/slide" Target="/ppt/slides/slide7.xml" Id="R9564260f42eb4696" /><Relationship Type="http://schemas.openxmlformats.org/officeDocument/2006/relationships/slide" Target="/ppt/slides/slide8.xml" Id="R0daad275ffd54b3f" /><Relationship Type="http://schemas.openxmlformats.org/officeDocument/2006/relationships/slide" Target="/ppt/slides/slide9.xml" Id="R7bd38afbd0db45f0" /><Relationship Type="http://schemas.openxmlformats.org/officeDocument/2006/relationships/slide" Target="/ppt/slides/slide10.xml" Id="R065c8b49a48343ed" /><Relationship Type="http://schemas.openxmlformats.org/officeDocument/2006/relationships/slide" Target="/ppt/slides/slide11.xml" Id="R4b32dc8cd5be456c" /><Relationship Type="http://schemas.openxmlformats.org/officeDocument/2006/relationships/slide" Target="/ppt/slides/slide12.xml" Id="Rb038c14b97fd47bb" /><Relationship Type="http://schemas.openxmlformats.org/officeDocument/2006/relationships/slide" Target="/ppt/slides/slide13.xml" Id="Red0aeb57d04d4c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f354c8dd3845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17b19d83124f3f" /><Relationship Type="http://schemas.openxmlformats.org/officeDocument/2006/relationships/notesMaster" Target="/ppt/notesMasters/notesMaster1.xml" Id="R66b08e7cfe5446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dafc8746ca4013" /><Relationship Type="http://schemas.openxmlformats.org/officeDocument/2006/relationships/notesMaster" Target="/ppt/notesMasters/notesMaster1.xml" Id="R2ddbd78d9a1549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0551775fea4bf3" /><Relationship Type="http://schemas.openxmlformats.org/officeDocument/2006/relationships/notesMaster" Target="/ppt/notesMasters/notesMaster1.xml" Id="R7d6f696e4e2f48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d381af549b45a6" /><Relationship Type="http://schemas.openxmlformats.org/officeDocument/2006/relationships/notesMaster" Target="/ppt/notesMasters/notesMaster1.xml" Id="Rad7bcc577a554e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e079f578ba47aa" /><Relationship Type="http://schemas.openxmlformats.org/officeDocument/2006/relationships/notesMaster" Target="/ppt/notesMasters/notesMaster1.xml" Id="R6707a07d728549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c72fd637b44e5e" /><Relationship Type="http://schemas.openxmlformats.org/officeDocument/2006/relationships/notesMaster" Target="/ppt/notesMasters/notesMaster1.xml" Id="R367095ada6ba40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e147071ed94b57" /><Relationship Type="http://schemas.openxmlformats.org/officeDocument/2006/relationships/notesMaster" Target="/ppt/notesMasters/notesMaster1.xml" Id="Rbaf8cbfcb22045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7b9bc4be2e41b3" /><Relationship Type="http://schemas.openxmlformats.org/officeDocument/2006/relationships/notesMaster" Target="/ppt/notesMasters/notesMaster1.xml" Id="R6754ccde39054d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9ffc915b274d33" /><Relationship Type="http://schemas.openxmlformats.org/officeDocument/2006/relationships/notesMaster" Target="/ppt/notesMasters/notesMaster1.xml" Id="R0f43dad3dab942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f42598ba5343e9" /><Relationship Type="http://schemas.openxmlformats.org/officeDocument/2006/relationships/notesMaster" Target="/ppt/notesMasters/notesMaster1.xml" Id="Rfedcadbd51da454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b2f0cd36aa4f77" /><Relationship Type="http://schemas.openxmlformats.org/officeDocument/2006/relationships/notesMaster" Target="/ppt/notesMasters/notesMaster1.xml" Id="Rad20f564fe764ad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7d0f465c3b4b00" /><Relationship Type="http://schemas.openxmlformats.org/officeDocument/2006/relationships/notesMaster" Target="/ppt/notesMasters/notesMaster1.xml" Id="Ra1f62fa218dc4fb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a66d00fa5247d6" /><Relationship Type="http://schemas.openxmlformats.org/officeDocument/2006/relationships/notesMaster" Target="/ppt/notesMasters/notesMaster1.xml" Id="R8a760f56151845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059077a80f4e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f2a6cffa864652" /><Relationship Type="http://schemas.openxmlformats.org/officeDocument/2006/relationships/slideLayout" Target="/ppt/slideLayouts/slideLayout1.xml" Id="Rd5bcbf566a9e41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bcbf566a9e41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e5a53347b462d" /><Relationship Type="http://schemas.openxmlformats.org/officeDocument/2006/relationships/image" Target="/ppt/media/image.png" Id="R01398f9532ef4cf2" /><Relationship Type="http://schemas.openxmlformats.org/officeDocument/2006/relationships/notesSlide" Target="/ppt/notesSlides/notesSlide1.xml" Id="Rae8e970896e046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62f2d48da4762" /><Relationship Type="http://schemas.openxmlformats.org/officeDocument/2006/relationships/notesSlide" Target="/ppt/notesSlides/notesSlide2.xml" Id="R78eea2650bd145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d4848baaaa4e1b" /><Relationship Type="http://schemas.openxmlformats.org/officeDocument/2006/relationships/notesSlide" Target="/ppt/notesSlides/notesSlide3.xml" Id="R64e1d21f9b564f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3bb893d77469a" /><Relationship Type="http://schemas.openxmlformats.org/officeDocument/2006/relationships/image" Target="/ppt/media/image2.png" Id="Rde1f389dac9246be" /><Relationship Type="http://schemas.openxmlformats.org/officeDocument/2006/relationships/notesSlide" Target="/ppt/notesSlides/notesSlide4.xml" Id="R855fcbe14b3643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7793be185b4ad5" /><Relationship Type="http://schemas.openxmlformats.org/officeDocument/2006/relationships/notesSlide" Target="/ppt/notesSlides/notesSlide5.xml" Id="R19c78124d93146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25ac4cb6d4090" /><Relationship Type="http://schemas.openxmlformats.org/officeDocument/2006/relationships/image" Target="/ppt/media/image3.png" Id="Rf599682bdd684798" /><Relationship Type="http://schemas.openxmlformats.org/officeDocument/2006/relationships/notesSlide" Target="/ppt/notesSlides/notesSlide6.xml" Id="R81f4d8e2333c43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935c7f9e44b20" /><Relationship Type="http://schemas.openxmlformats.org/officeDocument/2006/relationships/notesSlide" Target="/ppt/notesSlides/notesSlide7.xml" Id="R1ef47d1fde4a42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60e02c1e54dd1" /><Relationship Type="http://schemas.openxmlformats.org/officeDocument/2006/relationships/notesSlide" Target="/ppt/notesSlides/notesSlide8.xml" Id="R496747967fe845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a313832104907" /><Relationship Type="http://schemas.openxmlformats.org/officeDocument/2006/relationships/notesSlide" Target="/ppt/notesSlides/notesSlide9.xml" Id="R8466cd28a01341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edabf7dd04400" /><Relationship Type="http://schemas.openxmlformats.org/officeDocument/2006/relationships/notesSlide" Target="/ppt/notesSlides/notesSlide10.xml" Id="R296f19daaea74f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f2934336a9445e" /><Relationship Type="http://schemas.openxmlformats.org/officeDocument/2006/relationships/notesSlide" Target="/ppt/notesSlides/notesSlide11.xml" Id="R5fc22c275c9e48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3919d19f14845" /><Relationship Type="http://schemas.openxmlformats.org/officeDocument/2006/relationships/notesSlide" Target="/ppt/notesSlides/notesSlide12.xml" Id="R0e278d738e05443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c81f9d5ec45c8" /><Relationship Type="http://schemas.openxmlformats.org/officeDocument/2006/relationships/hyperlink" Target="https://github.com/bansalbhunesh/redrob-hirefit-ranker" TargetMode="External" Id="Rb422dc78e05749b8" /><Relationship Type="http://schemas.openxmlformats.org/officeDocument/2006/relationships/hyperlink" Target="https://github.com/bansalbhunesh/redrob-hirefit-ranker" TargetMode="External" Id="Rbc7df2e05c104da5" /><Relationship Type="http://schemas.openxmlformats.org/officeDocument/2006/relationships/hyperlink" Target="https://huggingface.co/spaces/bansal1234/Hirefit" TargetMode="External" Id="Ra29e5ed6d70e4fff" /><Relationship Type="http://schemas.openxmlformats.org/officeDocument/2006/relationships/hyperlink" Target="https://huggingface.co/spaces/bansal1234/Hirefit" TargetMode="External" Id="R320eb4ef01264320" /><Relationship Type="http://schemas.openxmlformats.org/officeDocument/2006/relationships/hyperlink" Target="https://redrob-hirefit-ranker.onrender.com" TargetMode="External" Id="Rc63c0391ccdb4f35" /><Relationship Type="http://schemas.openxmlformats.org/officeDocument/2006/relationships/hyperlink" Target="https://redrob-hirefit-ranker.onrender.com" TargetMode="External" Id="Rea4df3d2785c4a9f" /><Relationship Type="http://schemas.openxmlformats.org/officeDocument/2006/relationships/hyperlink" Target="https://github.com/bansalbhunesh/redrob-hirefit-ranker/blob/main/docs/JUDGE_PROOF.md" TargetMode="External" Id="R9028ca9fa015431d" /><Relationship Type="http://schemas.openxmlformats.org/officeDocument/2006/relationships/hyperlink" Target="https://github.com/bansalbhunesh/redrob-hirefit-ranker/blob/main/docs/JUDGE_PROOF.md" TargetMode="External" Id="Rf84fed876e4249d6" /><Relationship Type="http://schemas.openxmlformats.org/officeDocument/2006/relationships/hyperlink" Target="https://github.com/bansalbhunesh/redrob-hirefit-ranker/blob/main/docs/DEMO_SCRIPT.md" TargetMode="External" Id="R06cbc5fdf1bf48c3" /><Relationship Type="http://schemas.openxmlformats.org/officeDocument/2006/relationships/hyperlink" Target="https://github.com/bansalbhunesh/redrob-hirefit-ranker/blob/main/docs/DEMO_SCRIPT.md" TargetMode="External" Id="R53da55161f244353" /><Relationship Type="http://schemas.openxmlformats.org/officeDocument/2006/relationships/hyperlink" Target="https://github.com/bansalbhunesh/redrob-hirefit-ranker/blob/main/docs/DEVPOST.md" TargetMode="External" Id="R2cdbdc396a544c42" /><Relationship Type="http://schemas.openxmlformats.org/officeDocument/2006/relationships/hyperlink" Target="https://github.com/bansalbhunesh/redrob-hirefit-ranker/blob/main/docs/DEVPOST.md" TargetMode="External" Id="Rdfc9f0f7d8e74d7c" /><Relationship Type="http://schemas.openxmlformats.org/officeDocument/2006/relationships/notesSlide" Target="/ppt/notesSlides/notesSlide13.xml" Id="R6d3e9665e6a9499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A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98f9532ef4cf2"/>
          <a:srcRect xmlns:a="http://schemas.openxmlformats.org/drawingml/2006/main" l="24805" t="0" r="2480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48375" y="0"/>
            <a:ext cx="614362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D08C6-2F5E-4ECC-B979-3A48848F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17"/>
          </a:solidFill>
          <a:ln xmlns:a="http://schemas.openxmlformats.org/drawingml/2006/main" w="0">
            <a:solidFill>
              <a:srgbClr val="0B1A1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32061-E4C4-4A97-AF07-A9EECCBF3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HIREFIT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573D2-2356-435E-A1CA-8CC3A32E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19100"/>
            <a:ext cx="2619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REDROB CANDIDATE RANKER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830E8-DF17-4E83-A071-757C3EEF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5857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0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900" b="0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shortlist should</a:t>
            </a:r>
          </a:p>
          <a:p xmlns:a="http://schemas.openxmlformats.org/drawingml/2006/main">
            <a:pPr algn="l">
              <a:defRPr sz="3900" b="0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900" b="0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survive cross-examination.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5CBF8-B012-4463-8DC6-9A9848A4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667125"/>
            <a:ext cx="509587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A deterministic, evidence-aware ranking engine that turns 100,000 profiles into an inspectable top 100 — on CPU, offline, and byte-reproducibly.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62E990-1C9C-4E43-B385-8D3129F1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781550"/>
            <a:ext cx="1809750" cy="2762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4D9"/>
          </a:solidFill>
          <a:ln xmlns:a="http://schemas.openxmlformats.org/drawingml/2006/main" w="0">
            <a:solidFill>
              <a:srgbClr val="CFE4D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73183-EED9-4B2C-99FA-C898D96F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48225"/>
            <a:ext cx="15811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JUDGE-READY RELEASE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D9A07-D20B-42A5-A325-F39A1BFC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24827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Golden output  8f7f30c6…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73F1F5-95A0-444F-90B9-4438B7EC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5435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270 tests pass  ·  1 environment skip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2250A-B7D0-4310-9A10-C97C58CC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2198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82948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2948D"/>
                </a:solidFill>
                <a:latin typeface="Arial"/>
                <a:ea typeface="Arial"/>
                <a:cs typeface="Arial"/>
              </a:rPr>
              <a:t>Bhunesh Bansal  /  2026</a:t>
            </a:r>
          </a:p>
        </p:txBody>
      </p:sp>
    </p:spTree>
    <p:extLst>
      <p:ext uri="{BB962C8B-B14F-4D97-AF65-F5344CB8AC3E}">
        <p14:creationId xmlns:p14="http://schemas.microsoft.com/office/powerpoint/2010/main" val="8249901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35CA29-29C5-479D-B186-8EA50656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FF65CC-7EA9-40A9-8C35-BBBF1605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704B7-294D-439F-9421-D4C5044F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4CD1B3-C1C4-464A-AB2C-CB77266A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FD0E5-0ADA-4579-8ED4-8F2434C2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Keyword filters find matches. Recruiters need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45996D-5E24-48B3-BEFC-FD7127AF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The challenge is not retrieving a résumé. It is deciding which career story still holds up when the title, timeline, behavior, and availability are examined together.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80803-8001-4A34-BC7B-E43D9ABD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111633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B4D20-AA5E-42AD-AE5F-4FBA6958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B85B3D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B85B3D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FA0FA-D82B-48CB-AD97-FED694C9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52700"/>
            <a:ext cx="1543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85B3D"/>
                </a:solidFill>
                <a:latin typeface="Arial"/>
                <a:ea typeface="Arial"/>
                <a:cs typeface="Arial"/>
              </a:rPr>
              <a:t>CLAIMS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EB112-49C4-481F-8E48-AB7AC07C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00350"/>
            <a:ext cx="9382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Skills lists and titles are easy to match — and easy to overvalue.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5A2289-FCBC-405D-8EAC-B084C2A0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43300"/>
            <a:ext cx="111633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1F2F9F-B913-4F6D-861B-52893157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0047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C98B32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C98B32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C9A1EC-830C-4480-BD18-009848CC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33800"/>
            <a:ext cx="1543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98B32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8B32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E417A3-619F-4553-8FC9-A733985E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81450"/>
            <a:ext cx="9382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Production depth, trajectory, role intent, and recency live across the career record.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F97ACE-675A-4995-B601-C91A6B99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24400"/>
            <a:ext cx="111633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3B86C5-3F0B-4A47-A22B-AD399B95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8157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A74638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A7463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726B0B-64F2-4F5C-8FB1-3086A51E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14900"/>
            <a:ext cx="1543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7463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74638"/>
                </a:solidFill>
                <a:latin typeface="Arial"/>
                <a:ea typeface="Arial"/>
                <a:cs typeface="Arial"/>
              </a:rPr>
              <a:t>RISK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C51304-BA41-45F5-9DBA-B290EC91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62550"/>
            <a:ext cx="9382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A relevance score must not overpower contradictions, planted traps, or disqualifiers.</a:t>
            </a:r>
          </a:p>
        </p:txBody>
      </p:sp>
    </p:spTree>
    <p:extLst>
      <p:ext uri="{BB962C8B-B14F-4D97-AF65-F5344CB8AC3E}">
        <p14:creationId xmlns:p14="http://schemas.microsoft.com/office/powerpoint/2010/main" val="9447187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F93BB6-35D3-40E1-8F72-AFA44D86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968D3-EC24-4566-AAA9-3897AED6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THE SOLUTION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1036EE-5595-46A9-8E55-0B2102F3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506BA-ED52-45D6-AAA0-2F1B8C69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AF269-4542-499F-B873-C3BFB529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Evidence before confidence.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8A5E8-FC90-4EDE-A00C-42AEDD43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HireFit separates retrieval, verification, integrity, and final ranking — so each decision can be inspected instead of merely trusted.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4E66C3-0947-45FD-AB37-5DD3EFD5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9825"/>
            <a:ext cx="2571750" cy="27051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109D65-2FF6-4859-8ABE-ECF9F01E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5C540-709A-4DFF-AB1E-A4C936CD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4200"/>
            <a:ext cx="2171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5E358B-DA5A-4EC1-9216-AB2B98C2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43300"/>
            <a:ext cx="2171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BM25 narrows lexical intent without pretending keywords are the answer.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D2C3F3-94CA-4A61-B1AB-17F1504A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0042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D640BB-FF68-4C74-9BF7-E8225FF7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09825"/>
            <a:ext cx="2571750" cy="27051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BF7A5-87D8-470B-9F03-C3356575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1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2B87C4-9C0D-4953-84FD-8CAC367A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24200"/>
            <a:ext cx="2171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BE91DB-44AE-4D09-9B99-AA341E22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43300"/>
            <a:ext cx="2171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33 named features test production depth, trajectory, behavior, and logistics.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931D2A-1E03-4CE8-A78B-243F3022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40042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28FB20-E898-4D8D-9BD8-931D56F2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09825"/>
            <a:ext cx="2571750" cy="27051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8626A8-F246-4E03-A9E1-99EBA272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1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9436C1-18EC-43D0-9E44-7D864FEE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2171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C94E1E-0703-4C1F-BE79-E0A18D7A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43300"/>
            <a:ext cx="2171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Honeypot and JD-disqualifier multipliers cannot be overruled by relevance.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D07CF4-5A75-443F-8FF8-3FD60E79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40042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5F287-9AF6-4E4A-8C9F-C3D04864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09825"/>
            <a:ext cx="2571750" cy="27051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22421"/>
          </a:solidFill>
          <a:ln xmlns:a="http://schemas.openxmlformats.org/drawingml/2006/main" w="9525">
            <a:solidFill>
              <a:srgbClr val="12242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45C4C5-F3AF-47F5-BCCD-C9E6D5CC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1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62F18D-E80F-497B-8EA6-75D1FB44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24200"/>
            <a:ext cx="2171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RANK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32D218-3717-4452-8F26-D51DF467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543300"/>
            <a:ext cx="2171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 i="0">
                <a:solidFill>
                  <a:srgbClr val="C2D0C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C2D0CB"/>
                </a:solidFill>
                <a:latin typeface="Arial"/>
                <a:ea typeface="Arial"/>
                <a:cs typeface="Arial"/>
              </a:rPr>
              <a:t>Seven shallow heads + conservative RRF produce a stable top 100.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2AFF-7CE0-4F50-BF6A-A477E2CA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10200"/>
            <a:ext cx="11163300" cy="752475"/>
          </a:xfrm>
          <a:prstGeom xmlns:a="http://schemas.openxmlformats.org/drawingml/2006/main" prst="roundRect">
            <a:avLst>
              <a:gd name="adj" fmla="val 20253"/>
            </a:avLst>
          </a:prstGeom>
          <a:solidFill xmlns:a="http://schemas.openxmlformats.org/drawingml/2006/main">
            <a:srgbClr val="E7D6C4"/>
          </a:solidFill>
          <a:ln xmlns:a="http://schemas.openxmlformats.org/drawingml/2006/main" w="0">
            <a:solidFill>
              <a:srgbClr val="E7D6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3D5157-2A97-4997-B8B9-3891B623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85B3D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258648-58FC-4271-8B03-D792B3C3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562600"/>
            <a:ext cx="9401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A grounded top-100 shortlist with evidence reasons, integrity context, and CSV / XLSX export.</a:t>
            </a:r>
          </a:p>
        </p:txBody>
      </p:sp>
    </p:spTree>
    <p:extLst>
      <p:ext uri="{BB962C8B-B14F-4D97-AF65-F5344CB8AC3E}">
        <p14:creationId xmlns:p14="http://schemas.microsoft.com/office/powerpoint/2010/main" val="19368437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4AC83E-32F4-4EED-9B9F-D9587646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B81401-3ED0-4393-BAFF-DF711E88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LIVE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82F43-9FDD-46D5-8780-EEE4328A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F5946E-9E5F-45D3-8F85-8B327E0D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76345-6A33-45AF-98C0-43CF35AD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Four moments. One judge-verifiable story.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3226FD-2D6A-4B57-82D4-456F9C22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The demo opens populated, exposes the proof docket first, and lets the judge move from shortlist to reasoning without setup friction.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1f389dac9246be"/>
          <a:srcRect xmlns:a="http://schemas.openxmlformats.org/drawingml/2006/main" l="1250" t="0" r="12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2209800"/>
            <a:ext cx="6438900" cy="371475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181235-7708-465C-95F0-EF48B23C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5742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6409DF-E65A-4C1B-81CB-05AC7E1D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38375"/>
            <a:ext cx="952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A1B7FE-BCC8-47B9-99C0-65193B28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05075"/>
            <a:ext cx="3486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See the verified release docket: hash, suite, runtime, and integrity.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8CD90C-CFB8-4A68-80A4-AC7DF6C4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48000"/>
            <a:ext cx="396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19F959-AD5E-4054-B5BE-577DF356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62300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F887D3-F081-4EB6-8020-8988DBC1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43250"/>
            <a:ext cx="952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INSPECT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CDC25-DBF2-4C5C-A076-AC8A3EFC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09950"/>
            <a:ext cx="3486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Open a candidate ledger row into an evidence dossier.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A811EE-2C43-4F28-B055-831B5F73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52875"/>
            <a:ext cx="396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1ABBD8-AC6B-4EA3-A7C6-CE7BFAA7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0671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0AEEB4-69E9-46D8-A9CA-83D6B6C6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952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36022E-7B78-4FCB-8A90-83E4C02B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14825"/>
            <a:ext cx="3486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Review 33-feature evidence and integrity context — not a mystery score.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E86B48-62E7-471E-9FCC-D9F5F809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57750"/>
            <a:ext cx="396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3F1119-571C-4A41-94B6-904DB1B9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72050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F2F2D1-9BF5-4F7B-AA2F-E5A26AB9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952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EXPORT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05F82D-A4B6-460F-8EEE-D2230722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19700"/>
            <a:ext cx="3486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Download the deterministic top-100 result from the live CPU ranker.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B76B84-FC6F-43AB-8E84-8D2354B5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9340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85B3D"/>
                </a:solidFill>
                <a:latin typeface="Arial"/>
                <a:ea typeface="Arial"/>
                <a:cs typeface="Arial"/>
              </a:rPr>
              <a:t>LIVE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FDA9BA-14C8-4D37-ACB8-39BF7118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9055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HF Space + Render decision room</a:t>
            </a:r>
          </a:p>
        </p:txBody>
      </p:sp>
    </p:spTree>
    <p:extLst>
      <p:ext uri="{BB962C8B-B14F-4D97-AF65-F5344CB8AC3E}">
        <p14:creationId xmlns:p14="http://schemas.microsoft.com/office/powerpoint/2010/main" val="11409185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662133-B3D3-4503-8E71-F941AF34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96379-E4AB-49F7-B806-9A9069EA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08611B-C467-4809-96AB-0D5245FA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FB6BAD-E863-4F53-ADA9-DFAE4856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554D3D-2B45-4F87-8CBF-23E8BBE4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Small, auditable parts. One fail-closed release path.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747520-826D-466C-9A30-71875367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No hosted LLM call, GPU, or network is required during ranking. Semantic paths exist for research but remain disabled because holdout evidence did not justify shipping them.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A64054-9A53-4335-8A5D-79975997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981200" cy="200025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3D8952-5B7C-4324-A27B-B02142C2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4CFB68-9B97-4A02-948F-7B3D6D42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POOL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893F07-679C-4241-BB27-EC919E5C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13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100K JSONL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2FF6CD-CCAE-4A72-ACC2-7843D750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structured career + activity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BB3C87-8D61-4332-82AB-2D4907DA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3718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31032-E153-4FD2-8056-5D834815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571750"/>
            <a:ext cx="1981200" cy="200025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FDC3B4-4B57-448A-80F9-98A0143A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432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E3D694-41E3-419A-9CE9-10ED0112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1527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BASE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3C501-3AFC-4B8C-8139-E59CCC72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5242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13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BM25 + 33 features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2F9F83-C5AE-46F2-9B95-4F357DE1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943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evidence, fit, behavior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B7333E-528B-4E3B-98FC-5032AE07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3718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7F0EEF-5F31-47EA-BFEB-9340F5FD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571750"/>
            <a:ext cx="1981200" cy="200025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BBB3EC-35D4-455C-918B-5F20BFF9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432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A28876-92CF-41F7-8DFF-16CE2B76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527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ENSEMBLE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44EEA7-23D6-4330-8BBC-0134CAC9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242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13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7 NumPy heads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3D7B62-FAD3-4211-B68C-B4DD5F89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943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conservative RRF hedge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B64D2D-1EE9-48C2-BF0A-EEC27B07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3718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F4E503-2C8A-4E85-B850-071A3355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571750"/>
            <a:ext cx="1981200" cy="200025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05EEA-1856-4136-AEA2-6D114E8A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7432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F166FF-D824-4F10-86B8-2E77D590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527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GUARDRAILS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5B9C5E-C157-4D89-B426-5AA06EA1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242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13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hard multipliers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286247-B4DD-4A94-ACDA-6986F06B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43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honeypot + JD gates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D1DCDD-FE46-408A-9272-31C1DBF7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3718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85CD3E-2BB4-4060-9CC7-586D96CE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0"/>
            <a:ext cx="1981200" cy="200025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122421"/>
          </a:solidFill>
          <a:ln xmlns:a="http://schemas.openxmlformats.org/drawingml/2006/main" w="9525">
            <a:solidFill>
              <a:srgbClr val="12242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34AF6A-BFC0-4F91-8119-C3E7AB12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432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2F7010-D41F-4EAB-B42E-CFE0E20B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527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RELEASE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C23B2C-F650-4C2C-A3AD-AEB19196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242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3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0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deterministic top 100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0D2221-D8FE-482B-BAC8-EAFC8AB0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943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C2D0CB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C2D0CB"/>
                </a:solidFill>
                <a:latin typeface="Arial"/>
                <a:ea typeface="Arial"/>
                <a:cs typeface="Arial"/>
              </a:rPr>
              <a:t>reason + CSV / XLSX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DE009B-67A4-4DBB-80D2-77FD438A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11163300" cy="942975"/>
          </a:xfrm>
          <a:prstGeom xmlns:a="http://schemas.openxmlformats.org/drawingml/2006/main" prst="roundRect">
            <a:avLst>
              <a:gd name="adj" fmla="val 16162"/>
            </a:avLst>
          </a:prstGeom>
          <a:solidFill xmlns:a="http://schemas.openxmlformats.org/drawingml/2006/main">
            <a:srgbClr val="E9ECE8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1B1ED48-4C19-4261-A5AE-401DC64C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816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RELEASE CONTRACT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5B0DA0-B1CC-42F8-B5FA-E005115D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133975"/>
            <a:ext cx="8810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5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Pinned input + model + output hashes  ·  forced BM25 backend  ·  deterministic environment  ·  OOM-safe atomic write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E82495-3026-4B03-A3DE-91D834F3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562600"/>
            <a:ext cx="8810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Any count, artifact, configuration, numeric, or golden-hash drift fails closed.</a:t>
            </a:r>
          </a:p>
        </p:txBody>
      </p:sp>
    </p:spTree>
    <p:extLst>
      <p:ext uri="{BB962C8B-B14F-4D97-AF65-F5344CB8AC3E}">
        <p14:creationId xmlns:p14="http://schemas.microsoft.com/office/powerpoint/2010/main" val="5245300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634E36-6E0E-4155-9746-9E0A196A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AEFD8-6A30-4EB8-892A-B5ACAEF1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EXPLAINABILITY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CA22B-C0CA-4809-B1E3-0D40A183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25CBB-FFF3-4E79-A81D-3FC44F1A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8A9FBD-762E-4896-974B-4332CC25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A score the recruiter can cross-examine.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16781B-5A01-45B9-9D73-1F078026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The universal-v2 evidence base is a normalized weighted sum, so each per-feature contribution is exact and analytic — not sampled or post-hoc theater.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9682bdd684798"/>
          <a:srcRect xmlns:a="http://schemas.openxmlformats.org/drawingml/2006/main" l="2429" t="0" r="242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2266950"/>
            <a:ext cx="5638800" cy="3333750"/>
          </a:xfrm>
          <a:prstGeom xmlns:a="http://schemas.openxmlformats.org/drawingml/2006/main" prst="roundRect">
            <a:avLst>
              <a:gd name="adj" fmla="val 514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6355E5-71E1-4B1B-8A38-D635FF35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EXACT EVIDENCE DECOMPOSITION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8C1DC8-1E7F-45E1-BB21-007C43E3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production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CB6E97-85B5-4957-9BAA-4FA42279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05100"/>
            <a:ext cx="266700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CE8"/>
          </a:solidFill>
          <a:ln xmlns:a="http://schemas.openxmlformats.org/drawingml/2006/main" w="0">
            <a:solidFill>
              <a:srgbClr val="E9EC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381C88-5C06-43BC-8D53-80B3B8E2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05100"/>
            <a:ext cx="240030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7259"/>
          </a:solidFill>
          <a:ln xmlns:a="http://schemas.openxmlformats.org/drawingml/2006/main" w="0">
            <a:solidFill>
              <a:srgbClr val="2E72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310C83-5A1D-46A0-9BA6-479FF7AE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813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experience fit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C37E1C-B5F5-4B5D-BEA5-E9D38F05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0400"/>
            <a:ext cx="266700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CE8"/>
          </a:solidFill>
          <a:ln xmlns:a="http://schemas.openxmlformats.org/drawingml/2006/main" w="0">
            <a:solidFill>
              <a:srgbClr val="E9EC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445375-BE3D-4517-B7B8-2C8C9D9A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0400"/>
            <a:ext cx="192024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7259"/>
          </a:solidFill>
          <a:ln xmlns:a="http://schemas.openxmlformats.org/drawingml/2006/main" w="0">
            <a:solidFill>
              <a:srgbClr val="2E725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B58D0B-4D2A-4E62-B3F8-1E0C15D7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766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trajectory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FF8D2C-03CE-4CF0-B05D-4877E360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95700"/>
            <a:ext cx="266700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CE8"/>
          </a:solidFill>
          <a:ln xmlns:a="http://schemas.openxmlformats.org/drawingml/2006/main" w="0">
            <a:solidFill>
              <a:srgbClr val="E9EC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C993D8-3A80-4A96-BDA3-69AFED83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95700"/>
            <a:ext cx="149352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8B32"/>
          </a:solidFill>
          <a:ln xmlns:a="http://schemas.openxmlformats.org/drawingml/2006/main" w="0">
            <a:solidFill>
              <a:srgbClr val="C98B3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A599C-C651-4334-8334-4434266A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behavior / recency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584943-9C32-42AB-AB44-A6EA69B7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91000"/>
            <a:ext cx="266700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CE8"/>
          </a:solidFill>
          <a:ln xmlns:a="http://schemas.openxmlformats.org/drawingml/2006/main" w="0">
            <a:solidFill>
              <a:srgbClr val="E9EC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23CF93-666C-4F58-B5EB-0767E1B9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91000"/>
            <a:ext cx="117348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8B32"/>
          </a:solidFill>
          <a:ln xmlns:a="http://schemas.openxmlformats.org/drawingml/2006/main" w="0">
            <a:solidFill>
              <a:srgbClr val="C98B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53B4D7-796B-45CD-BF2E-4F7241AD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67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title-only signal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A60566-85AF-4F1C-98CF-9E7E7F22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686300"/>
            <a:ext cx="266700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CE8"/>
          </a:solidFill>
          <a:ln xmlns:a="http://schemas.openxmlformats.org/drawingml/2006/main" w="0">
            <a:solidFill>
              <a:srgbClr val="E9EC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05CD8E-F6DD-4443-B768-905BFE40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686300"/>
            <a:ext cx="50673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5B3D"/>
          </a:solidFill>
          <a:ln xmlns:a="http://schemas.openxmlformats.org/drawingml/2006/main" w="0">
            <a:solidFill>
              <a:srgbClr val="B85B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A19F04-BA70-49E5-83C4-0AE7B8B0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72100"/>
            <a:ext cx="4438650" cy="60007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7D6C4"/>
          </a:solidFill>
          <a:ln xmlns:a="http://schemas.openxmlformats.org/drawingml/2006/main" w="0">
            <a:solidFill>
              <a:srgbClr val="E7D6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B2E0C1-A33D-440E-B006-1B5F8D56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505450"/>
            <a:ext cx="1619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85B3D"/>
                </a:solidFill>
                <a:latin typeface="Arial"/>
                <a:ea typeface="Arial"/>
                <a:cs typeface="Arial"/>
              </a:rPr>
              <a:t>SCOPE, STATED HONESTLY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F802C5-5317-46F1-9E0A-7B401D71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695950"/>
            <a:ext cx="403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Exact Shapley explains the evidence base; RRF and narrow reordering steps are documented separately.</a:t>
            </a:r>
          </a:p>
        </p:txBody>
      </p:sp>
    </p:spTree>
    <p:extLst>
      <p:ext uri="{BB962C8B-B14F-4D97-AF65-F5344CB8AC3E}">
        <p14:creationId xmlns:p14="http://schemas.microsoft.com/office/powerpoint/2010/main" val="19851564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A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C40891-A576-4800-8C0C-E3CB8DF1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3754C0-497B-4815-8B6B-2ACF4E69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A9B9B2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A9B9B2"/>
                </a:solidFill>
                <a:latin typeface="Arial"/>
                <a:ea typeface="Arial"/>
                <a:cs typeface="Arial"/>
              </a:rPr>
              <a:t>INTEGRITY GATES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3527E-F44C-4DEC-BDEA-F849DAEB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A9B9B2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9B9B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E126F-B23D-4428-832C-BA14340D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453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D2A08F-1A79-46B5-8928-EDDF88AA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Relevance cannot outvote a hard contradiction.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91C37-48FE-4AA1-A18C-6BFA905E9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Integrity is a ranking constraint, not a decorative warning badge — and a detector flag is never presented as a fraud accusation.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25E1B-EC3D-402E-855B-552D1D79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2190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600" b="0" i="0">
                <a:solidFill>
                  <a:srgbClr val="CFE4D9"/>
                </a:solidFill>
                <a:latin typeface="Georgia"/>
                <a:ea typeface="Georgia"/>
                <a:cs typeface="Georgia"/>
              </a:defRPr>
            </a:pPr>
            <a:r>
              <a:rPr sz="6600" b="0" i="0">
                <a:solidFill>
                  <a:srgbClr val="CFE4D9"/>
                </a:solidFill>
                <a:latin typeface="Georgia"/>
                <a:ea typeface="Georgia"/>
                <a:cs typeface="Georgia"/>
              </a:rPr>
              <a:t>53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1ACA0-2A74-43D3-B2D3-499B6B5E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detected in the full pool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1C887E-2530-486C-9DCA-7AC80056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14625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0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4050" b="0" i="0">
                <a:solidFill>
                  <a:srgbClr val="B85B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ABB6AE-77B3-4E28-A290-F58DC294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193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600" b="0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6600" b="0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98C369-0B6B-47C7-82FF-84D683BE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524250"/>
            <a:ext cx="2667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emitted into the top 100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ECD803-3559-47B8-B990-FD2A47240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305050"/>
            <a:ext cx="3857625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2E4A4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647BD-FCD1-46B8-847E-809A6759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95550"/>
            <a:ext cx="3619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0BD798-FAB4-4482-A481-3D1C60CDD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76500"/>
            <a:ext cx="2809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HONEYPOT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1537F4-62D9-4D5A-AB15-E96ED48B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7717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Multiplicative suppression; high relevance cannot override it.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978459-52DF-44E7-AA0C-21AFEEA8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505200"/>
            <a:ext cx="3857625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2E4A4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22A323-0639-4B5A-BD85-A833BD31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95700"/>
            <a:ext cx="3619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DD99D-4370-4D08-9BB7-7199E555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76650"/>
            <a:ext cx="2809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JD DISQUALIFIER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F2FD55-2E20-4A32-B981-9A7B4756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9719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Narrow role constraints remain hard constraints.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C6275F-9884-4AFF-A840-137E609C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705350"/>
            <a:ext cx="3857625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2E4A4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D09C1F-C174-4254-9011-72FA773A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95850"/>
            <a:ext cx="3619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3191D0-1005-4FD9-9198-6A3660E0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876800"/>
            <a:ext cx="2809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TIMELINE REVIEW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F68585-0F2F-4C6A-B70F-1B36ED49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1720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Suspicious claims route to VERIFY — never an automatic accusation.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72EB12-A9FC-4365-87E4-970139C3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579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DETECTOR-FLAGGED ANOMALY  ≠  CONFIRMED CONTRADICTION  ≠  OFFICIAL PLANTED HONEYPOT</a:t>
            </a:r>
          </a:p>
        </p:txBody>
      </p:sp>
    </p:spTree>
    <p:extLst>
      <p:ext uri="{BB962C8B-B14F-4D97-AF65-F5344CB8AC3E}">
        <p14:creationId xmlns:p14="http://schemas.microsoft.com/office/powerpoint/2010/main" val="13535368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657FC6-7B3D-49B7-AD57-B6EEEE2C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D64E6-E26A-4248-808B-7B80AE45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REPRODUCIBILITY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208BB-6E45-40AE-BFFC-13C33911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0F55D6-D58A-490E-A4D2-C3177A55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D58A23-DD21-49A3-A534-0D2A4BB4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The release has receipts — not just results.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534C56-0AAC-472C-9BF5-F219D3A0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Every number below was rechecked on the latest origin/main source of truth before this deck was generated.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18BE8-0743-4A29-A3B6-F3B3E84D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81225"/>
            <a:ext cx="11163300" cy="87630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122421"/>
          </a:solidFill>
          <a:ln xmlns:a="http://schemas.openxmlformats.org/drawingml/2006/main" w="0">
            <a:solidFill>
              <a:srgbClr val="1224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FD9F19-82F7-4433-8E27-8D3AEA32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GOLDEN SHA-256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F1D77-0AF3-41C4-8000-8CDB6B84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2410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8f7f30c68ec30cb66ad7d9c2f7103e7fbb6b20f639fdace8961f395c30ab6062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0D4A0-D0B0-4442-A241-22F3DCEA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765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Full-pool regeneration reproduces the committed submission.csv byte-for-byte.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55E7E3-B5C6-4F84-88FA-B4981D0F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24225"/>
            <a:ext cx="25717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0EE081-2972-4BB7-9CA0-FDF289EA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24225"/>
            <a:ext cx="4762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7259"/>
          </a:solidFill>
          <a:ln xmlns:a="http://schemas.openxmlformats.org/drawingml/2006/main" w="0">
            <a:solidFill>
              <a:srgbClr val="2E725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457A6C-3CF8-4F1F-A9EA-76ABCF28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14725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270 /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5780B7-77D1-4133-8BAA-7BE846C9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2228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TESTS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6E0F1-F339-4447-A93C-3BE00E1F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9575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passed / environment skip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9C7379-A519-4F48-A128-FC1F8CBE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24225"/>
            <a:ext cx="25717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1BD2C0-B525-4C8F-89F7-09AE8E60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24225"/>
            <a:ext cx="4762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7259"/>
          </a:solidFill>
          <a:ln xmlns:a="http://schemas.openxmlformats.org/drawingml/2006/main" w="0">
            <a:solidFill>
              <a:srgbClr val="2E725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85D1A2-7D93-4FE3-A14A-012D6E82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514725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VALID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BF9583-A207-4C1E-BD48-7D25F454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81450"/>
            <a:ext cx="2228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VALIDATOR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2AAAF4-1B5A-4CA4-B1B0-B3A1B0DC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219575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100 rows · unique IDs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962127-1A4B-44F8-BEA2-6B232660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24225"/>
            <a:ext cx="25717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F700DF-4771-4A25-BB88-5B209958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24225"/>
            <a:ext cx="4762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8B32"/>
          </a:solidFill>
          <a:ln xmlns:a="http://schemas.openxmlformats.org/drawingml/2006/main" w="0">
            <a:solidFill>
              <a:srgbClr val="C98B3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A837F-1F74-4633-B675-041AA8F7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14725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136.0 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2C48CA-C751-4155-BA97-7DCCC9C3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2228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98B32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8B32"/>
                </a:solidFill>
                <a:latin typeface="Arial"/>
                <a:ea typeface="Arial"/>
                <a:cs typeface="Arial"/>
              </a:rPr>
              <a:t>PIPELINE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352EC2-3900-45CE-9EA3-8E32DDE8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19575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2 CPU · 16 GiB · offline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44C8DA-F522-4518-97E8-90AB9DAE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324225"/>
            <a:ext cx="27622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0CA1D2-0655-41F3-907A-5B9CB3A4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324225"/>
            <a:ext cx="4762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5B3D"/>
          </a:solidFill>
          <a:ln xmlns:a="http://schemas.openxmlformats.org/drawingml/2006/main" w="0">
            <a:solidFill>
              <a:srgbClr val="B85B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A7AF4A-F973-4FF4-9FCE-A688B206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14725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4.13 GiB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C0574C-F833-45FC-8C2D-DE91BDE0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981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85B3D"/>
                </a:solidFill>
                <a:latin typeface="Arial"/>
                <a:ea typeface="Arial"/>
                <a:cs typeface="Arial"/>
              </a:rPr>
              <a:t>SAMPLED PEAK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9972A9-AAC9-41A6-9FF6-207586C7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9575"/>
            <a:ext cx="2419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within the 16 GiB envelope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2C96D7-DD5C-4092-850D-7E6D96D2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72050"/>
            <a:ext cx="11163300" cy="1000125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rgbClr val="E9ECE8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38274C-CDC8-4DA5-8612-D232D8FB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1190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7463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A74638"/>
                </a:solidFill>
                <a:latin typeface="Arial"/>
                <a:ea typeface="Arial"/>
                <a:cs typeface="Arial"/>
              </a:rPr>
              <a:t>FAIL-CLOSED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109EAC-A731-400A-B1E8-9D857B4C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143500"/>
            <a:ext cx="901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Corrupt artifacts, count drift, or hash drift stop the release. A forced 3 GiB OOM preserved the previous output and left zero temp files.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0097BC-54A1-4C51-98F6-A1EB9821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629275"/>
            <a:ext cx="90106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Serial and parallel output are byte-identical; Docker reproduction is independent of host CPU count.</a:t>
            </a:r>
          </a:p>
        </p:txBody>
      </p:sp>
    </p:spTree>
    <p:extLst>
      <p:ext uri="{BB962C8B-B14F-4D97-AF65-F5344CB8AC3E}">
        <p14:creationId xmlns:p14="http://schemas.microsoft.com/office/powerpoint/2010/main" val="8814623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2BDE8C-6C4C-444F-9FE5-611967DB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A2833D-BC69-41F4-A5D0-29D5C1BE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26B8-D4B5-48F6-94C4-5B3C0303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80E417-6C6C-4031-86A5-FBA877EA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5E94A-88CC-4C8A-844E-19C1860D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69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Top-cluster positioning, without pretending the hidden labels exist.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20717-1FB4-4DF3-A6E1-C057615F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All quality figures are development proxies. We use them to reject fragile ideas, not to manufacture an unavailable leaderboard claim.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5C8D0-688D-44B4-B084-5EC242C1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EXPERIMENT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F57E1C-EE88-4BB2-9669-8F81DA05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66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92DF78-8C08-4725-B3B0-DDAFBF6B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66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D3D935-0FBE-41AB-A3F9-25D1FB07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2669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A98ECA-8A59-4D91-9A55-810FC732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11633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6FA243-7214-4399-89CE-4CDA4070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71775"/>
            <a:ext cx="27241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STATIC EMBEDDINGS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5D1ABB-113F-4A00-BED9-C5539C71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71775"/>
            <a:ext cx="2095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+0.000 NDCG@10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D8A8C1-4A52-479B-A5A8-4D5BB28B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71775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~2.2× runtime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97E3A9-0608-4432-BC75-6A0CB395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771775"/>
            <a:ext cx="1714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85B3D"/>
                </a:solidFill>
                <a:latin typeface="Arial"/>
                <a:ea typeface="Arial"/>
                <a:cs typeface="Arial"/>
              </a:rPr>
              <a:t>NOT SHIPPED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345722-7519-4174-9A65-A2E83CDE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67075"/>
            <a:ext cx="111633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0974D5-9AA0-49ED-A13C-E703F295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27241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LAMBDA-MART V2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6DD925-FFEB-4568-979F-9B28C9FB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67100"/>
            <a:ext cx="2095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−0.070 NDCG@10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83EEE6-4C77-4288-8541-882A3926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67100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@50 improved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956608-AE68-4CE7-81EF-48657657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467100"/>
            <a:ext cx="1714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85B3D"/>
                </a:solidFill>
                <a:latin typeface="Arial"/>
                <a:ea typeface="Arial"/>
                <a:cs typeface="Arial"/>
              </a:rPr>
              <a:t>NOT SHIPPED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FF56C1-6539-46D8-B0F8-012149A8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11633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6E37A0-0D32-439B-B948-E387AEAD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62425"/>
            <a:ext cx="27241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CROSS-ENCODER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AC1E73-D70E-4D90-A312-AB71E91E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162425"/>
            <a:ext cx="2095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−0.016 holdout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674B05-901D-4795-B607-841B8150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62425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in-sample gain vanished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BE9DEC-EC58-47A5-9189-B9AC7A6C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162425"/>
            <a:ext cx="1714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85B3D"/>
                </a:solidFill>
                <a:latin typeface="Arial"/>
                <a:ea typeface="Arial"/>
                <a:cs typeface="Arial"/>
              </a:rPr>
              <a:t>NOT SHIPPED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19F283-4C35-4755-997A-5880732E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57725"/>
            <a:ext cx="111633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22421"/>
          </a:solidFill>
          <a:ln xmlns:a="http://schemas.openxmlformats.org/drawingml/2006/main" w="9525">
            <a:solidFill>
              <a:srgbClr val="12242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92AAB5-F19F-49C2-99E7-5809859B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27241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CURRENT RELEASE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8E521B-D093-4152-8C5C-C4C34440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57750"/>
            <a:ext cx="2095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0.9104 NDCG@10*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389F15-85BB-4FFB-8EF5-834400F9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57750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C2D0CB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C2D0CB"/>
                </a:solidFill>
                <a:latin typeface="Arial"/>
                <a:ea typeface="Arial"/>
                <a:cs typeface="Arial"/>
              </a:rPr>
              <a:t>P@10 1.0*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267F73-CBC0-4B50-84BD-91D64F88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857750"/>
            <a:ext cx="1714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SHIPPED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A3F99D-148D-426A-A9DF-8D510E0A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11163300" cy="523875"/>
          </a:xfrm>
          <a:prstGeom xmlns:a="http://schemas.openxmlformats.org/drawingml/2006/main" prst="roundRect">
            <a:avLst>
              <a:gd name="adj" fmla="val 25455"/>
            </a:avLst>
          </a:prstGeom>
          <a:solidFill xmlns:a="http://schemas.openxmlformats.org/drawingml/2006/main">
            <a:srgbClr val="E7D6C4"/>
          </a:solidFill>
          <a:ln xmlns:a="http://schemas.openxmlformats.org/drawingml/2006/main" w="0">
            <a:solidFill>
              <a:srgbClr val="E7D6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1F9774-58C0-443B-B376-AE6110E6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43575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* Development proxy only. Honest claim: strong balanced artifact with specialist rivals leading individual axes.</a:t>
            </a:r>
          </a:p>
        </p:txBody>
      </p:sp>
    </p:spTree>
    <p:extLst>
      <p:ext uri="{BB962C8B-B14F-4D97-AF65-F5344CB8AC3E}">
        <p14:creationId xmlns:p14="http://schemas.microsoft.com/office/powerpoint/2010/main" val="17323463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E3C341-D80B-4ADB-9764-DAE0365E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CA0455-9C93-41C4-9B6E-C3E3BCBB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PROFESSIONAL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6C2335-DDB1-45CA-A4CE-AA5E64BF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F4C710-E1F9-4119-8280-F7D7C3D3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C844F8-60F6-46F7-B778-5F1607B5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581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The reference is visually excellent. HireFit is stronger where judging becomes verification.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F98DF-A2BB-4535-9991-CE03763F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We borrowed the discipline of its storytelling — never its exact layout — and closed the gaps with current interface proof, clearer scope, and a reproducible release record.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302F3-DBC5-44C1-B2AD-6CB728B3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027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DIMENSION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D8E73-DD68-435D-BFB7-2110CE49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00275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FROM IRL REFERENCE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C316DF-C8CF-483C-B2BE-2A1E97BA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0275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38D234-6BA5-4459-9E23-5EF82AF5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050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746BB8-CFD1-4975-BAF1-9A7AA4B3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Presentation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D70417-F765-4B82-B1E1-BBEFC0A2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38425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Polished infographics, strong 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16B41-8D1E-4270-9F61-A4107CA7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3842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Original decision-room system + live product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D8D24-C6AB-4309-9170-256ECA0F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479107-E0A2-40C9-BEAA-DD35A057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Ranking idea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C11CA6-DC04-4FAA-9DC4-496CA09C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Explicit multi-intent semantic stack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9C997A-FED6-4B0D-9B53-7D832249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6230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Measured evidence stack; semantic path rejected on holdout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85517C-DDBD-41A9-889C-ABED2D6B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5282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421093-B529-4653-87FF-01E5E8AF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Reproducibility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F030ED-B376-4249-B3B9-F1FAD976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86175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Required artifacts absent from public clone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43372F-913C-4426-99C1-BF03D0F2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8617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One-command full-pool golden-hash release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13C6F7-A673-448C-B28B-27A4AB81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81D41F-0169-420C-86BC-ECDE41C7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9575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Tests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8EA26B-C666-44A4-84C5-738EB204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10050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No collected tests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FD5A84-6BD0-4CA1-AA11-42ED472B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1005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270 pass · 1 environment skip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C3F5EC-A02F-4AB2-A861-F7503097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005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F96DB3-4E05-4BD8-9E31-CB2F1593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E93256-1338-40F7-835B-CBDAC42F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33925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Drive recording; no hosted app found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FA77BE-83B1-4C65-94BC-7C6A5589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3392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HF Space + Render live, both HTTP 200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9D4646-CA34-40D3-836A-8191F0CA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244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18A70C-4B84-4ACF-B1E3-808987AC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Release safety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209012-FE22-4B6A-B543-3AA92DC7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57800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Unpinned requirements; no Docker/CI found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1A4DB9-EEEF-491D-9728-1973770A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5780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Hash-pinned supply chain, Docker, CI, OOM-safe write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0B0C52-FC37-4831-B4A9-9C5C5B3D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4832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73506C-49E8-4E4A-8C52-55CFAD4E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952500" cy="2762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4D9"/>
          </a:solidFill>
          <a:ln xmlns:a="http://schemas.openxmlformats.org/drawingml/2006/main" w="0">
            <a:solidFill>
              <a:srgbClr val="CFE4D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303395-DFE0-427E-B269-8155FC79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72175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VERDICT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3A17FB-EEEF-4383-831B-E8808DBE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915025"/>
            <a:ext cx="971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Reference deck leads our old deck visually; HireFit leads the audited public repo on verification and submission readiness.</a:t>
            </a:r>
          </a:p>
        </p:txBody>
      </p:sp>
    </p:spTree>
    <p:extLst>
      <p:ext uri="{BB962C8B-B14F-4D97-AF65-F5344CB8AC3E}">
        <p14:creationId xmlns:p14="http://schemas.microsoft.com/office/powerpoint/2010/main" val="12890906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0F095E-34AD-430D-8016-E32D57B1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51E79-29D4-45D6-91A4-28CEB869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RECRUITER IMPACT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A5CAD8-8895-4101-9921-5ACAEB93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CBE93-CAA8-4A0B-AFB6-7A066AD4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30C9D-0D86-446B-9516-955596C1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From an ocean of profiles to a reviewable decision set.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7E084D-4ED8-4814-BA4B-8FBD3AE2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HireFit is designed to reduce screening ambiguity: it surfaces the shortlist, the reason, the risk context, and the exact artifact a recruiter can hand forward.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001909-77A0-4ECC-B14C-13F44DBF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5717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A3CBD-1577-4E67-A12D-41921691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4762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7259"/>
          </a:solidFill>
          <a:ln xmlns:a="http://schemas.openxmlformats.org/drawingml/2006/main" w="0">
            <a:solidFill>
              <a:srgbClr val="2E725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4814EC-347A-4AF0-A78D-BF48BE45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100K → 100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A3A6A1-95B2-4B90-AA63-BF6E612A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19425"/>
            <a:ext cx="2228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FOCUS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C483F2-F7D0-4157-8800-D2E147D3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full pool to shortlist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F50BF5-B286-41D4-B3AE-E62B5F92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362200"/>
            <a:ext cx="25717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1114A-3C33-461B-BFBA-C98BEDE4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362200"/>
            <a:ext cx="4762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7259"/>
          </a:solidFill>
          <a:ln xmlns:a="http://schemas.openxmlformats.org/drawingml/2006/main" w="0">
            <a:solidFill>
              <a:srgbClr val="2E725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D306DF-90D2-4F5D-BDF1-DA43438F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5270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33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96E08-FE2C-487A-8EEC-77F2AEBB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19425"/>
            <a:ext cx="2228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SIGNALS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A76AE9-E6B8-4A90-B4E8-407A7252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5755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named and inspectable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669A81-5CAC-4462-841E-6F6A2527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25717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A6A281-311B-4190-A62C-62CDA868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4762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8B32"/>
          </a:solidFill>
          <a:ln xmlns:a="http://schemas.openxmlformats.org/drawingml/2006/main" w="0">
            <a:solidFill>
              <a:srgbClr val="C98B3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FE9556-72C8-4351-8FC9-41EF8138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5270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&lt; 3 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6340CB-68E7-4D3D-A97B-744A4A59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19425"/>
            <a:ext cx="2228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98B32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8B32"/>
                </a:solidFill>
                <a:latin typeface="Arial"/>
                <a:ea typeface="Arial"/>
                <a:cs typeface="Arial"/>
              </a:rPr>
              <a:t>COMPUTE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4EF11A-D818-4149-A545-28701002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5755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measured 136 s pipeline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233C9-319C-4F9B-BFB6-09CBFFC5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62200"/>
            <a:ext cx="276225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47BE3F-AC12-45DE-B589-ED88EFB6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62200"/>
            <a:ext cx="47625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5B3D"/>
          </a:solidFill>
          <a:ln xmlns:a="http://schemas.openxmlformats.org/drawingml/2006/main" w="0">
            <a:solidFill>
              <a:srgbClr val="B85B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FE002D-81B6-457B-8D27-BF3C8AAC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527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2 formats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5BDAC4-7A40-40C2-B13F-EA1875DC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19425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85B3D"/>
                </a:solidFill>
                <a:latin typeface="Arial"/>
                <a:ea typeface="Arial"/>
                <a:cs typeface="Arial"/>
              </a:rPr>
              <a:t>HANDOFF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7AD6D2-80E8-4A64-9DEC-2237118F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57550"/>
            <a:ext cx="2419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CSV + reviewer-friendly XLSX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8DCF8A-6621-4E41-80A9-4A7E57C0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71950"/>
            <a:ext cx="3486150" cy="1495425"/>
          </a:xfrm>
          <a:prstGeom xmlns:a="http://schemas.openxmlformats.org/drawingml/2006/main" prst="roundRect">
            <a:avLst>
              <a:gd name="adj" fmla="val 11465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1EF52D-FA84-4E7F-AC1B-10ED9C99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62450"/>
            <a:ext cx="3000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RECRUITER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3321E-17CC-4105-9B95-6ECE537E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Search, filter, inspect, and export without reading a model paper.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DC645E-2824-4361-8A62-C0F5B700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171950"/>
            <a:ext cx="3486150" cy="1495425"/>
          </a:xfrm>
          <a:prstGeom xmlns:a="http://schemas.openxmlformats.org/drawingml/2006/main" prst="roundRect">
            <a:avLst>
              <a:gd name="adj" fmla="val 11465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11D2E9-EE50-40F2-AAFD-DD7CBF30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62450"/>
            <a:ext cx="3000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HIRING MANAGER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5003CC-77CE-41D3-A649-9DE280D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05350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See production evidence and role-fit tradeoffs behind each recommendation.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627381-10DF-4D85-861C-7C14CEBC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71950"/>
            <a:ext cx="3486150" cy="1495425"/>
          </a:xfrm>
          <a:prstGeom xmlns:a="http://schemas.openxmlformats.org/drawingml/2006/main" prst="roundRect">
            <a:avLst>
              <a:gd name="adj" fmla="val 11465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36969A-BD2E-41C3-AAA1-37BAFA4C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62450"/>
            <a:ext cx="3000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JUDGE / AUDITOR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C5668B-33B0-435F-9D7F-7D3B2277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05350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Reproduce the exact output and challenge every release claim from the repo.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C4579B-C6BD-4B10-9065-80A47E57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00750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1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0" i="1">
                <a:solidFill>
                  <a:srgbClr val="66726D"/>
                </a:solidFill>
                <a:latin typeface="Arial"/>
                <a:ea typeface="Arial"/>
                <a:cs typeface="Arial"/>
              </a:rPr>
              <a:t>Impact boundary: no invented savings, hiring-outcome lift, or hidden-score claim.</a:t>
            </a:r>
          </a:p>
        </p:txBody>
      </p:sp>
    </p:spTree>
    <p:extLst>
      <p:ext uri="{BB962C8B-B14F-4D97-AF65-F5344CB8AC3E}">
        <p14:creationId xmlns:p14="http://schemas.microsoft.com/office/powerpoint/2010/main" val="13754449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A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14D296-293E-4355-BE38-9E31A0D5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0CC8D7-39C9-453B-92CC-6D784C33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A9B9B2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A9B9B2"/>
                </a:solidFill>
                <a:latin typeface="Arial"/>
                <a:ea typeface="Arial"/>
                <a:cs typeface="Arial"/>
              </a:rPr>
              <a:t>LIMITS + NEXT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1D2E19-362B-4806-8278-C8EDA95D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A9B9B2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9B9B2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EB3EE5-9B62-4D76-97B9-888FBE27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453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4681B0-79AB-4814-AA40-26A33988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Strong proof is also clear about what remains unknown.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96323C-CCAF-439A-B730-4A6D4EE9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The system is submission-ready; its next gains require better evidence, not louder claims.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C5077-033C-4C62-9EEA-7ECE161D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548640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2E4A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E296CC-57E8-475A-B90D-0C811EC8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89C5F-5A05-408C-A7E9-FDD32EE0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00300"/>
            <a:ext cx="43338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OFFICIAL HIDDEN LABELS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4BE9A-2D0A-4311-B9EF-68F97DBF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43200"/>
            <a:ext cx="4333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NDCG and public-field comparisons remain development proxies.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12388A-C0FD-4BF5-818B-96521E17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09800"/>
            <a:ext cx="548640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2E4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26D2B-2365-492F-BD31-41324EFF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0AED74-BC11-4583-9CEB-E97DCD86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400300"/>
            <a:ext cx="43338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ROLE FAMILY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C7708A-F65C-40C3-8442-24D54EF3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743200"/>
            <a:ext cx="4333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The release is validated for the provided Senior AI Engineer task, not every job taxonomy.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C4AB6-BDA3-45CC-A9E3-6AD31F2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48640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2E4A4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32B611-1253-4B3B-8EB3-EDF87A31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576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2BAA52-DDE1-4B8E-B4EC-EC2EB907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43338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EXPLANATION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8A8846-7FE2-4132-A099-2CBD0624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81500"/>
            <a:ext cx="4333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Exact Shapley covers the evidence base; final reordering stages are disclosed separately.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D977F2-2239-4764-AAE7-C4883DC6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5486400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02A24"/>
          </a:solidFill>
          <a:ln xmlns:a="http://schemas.openxmlformats.org/drawingml/2006/main" w="9525">
            <a:solidFill>
              <a:srgbClr val="2E4A4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EA8B15-8A75-4768-A8DA-8C14B2BE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576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D2945E-E62B-4CAB-81B8-B43FC4C8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38600"/>
            <a:ext cx="43338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HOSTED LLM INFERENCE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31D170-CD95-4123-8814-AECE4112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333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B9C6C1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B9C6C1"/>
                </a:solidFill>
                <a:latin typeface="Arial"/>
                <a:ea typeface="Arial"/>
                <a:cs typeface="Arial"/>
              </a:rPr>
              <a:t>Offline determinism is deliberate; richer semantics need human-labeled validation first.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C08CD0-FA02-4989-BD46-68D92161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53075"/>
            <a:ext cx="1116330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CFE4D9"/>
          </a:solidFill>
          <a:ln xmlns:a="http://schemas.openxmlformats.org/drawingml/2006/main" w="0">
            <a:solidFill>
              <a:srgbClr val="CFE4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8ACF04-15C5-46C2-B3A1-EBB56BB0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81675"/>
            <a:ext cx="571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F201CF-C77B-4E58-9599-79D91978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715000"/>
            <a:ext cx="9753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22421"/>
                </a:solidFill>
                <a:latin typeface="Arial"/>
                <a:ea typeface="Arial"/>
                <a:cs typeface="Arial"/>
              </a:rPr>
              <a:t>Collect recruiter-labeled outcomes across role families, then retest semantic and learned components behind the same release gates.</a:t>
            </a:r>
          </a:p>
        </p:txBody>
      </p:sp>
    </p:spTree>
    <p:extLst>
      <p:ext uri="{BB962C8B-B14F-4D97-AF65-F5344CB8AC3E}">
        <p14:creationId xmlns:p14="http://schemas.microsoft.com/office/powerpoint/2010/main" val="1667013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D1C7E9-29BE-4957-88E0-861EE045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7259"/>
                </a:solidFill>
                <a:latin typeface="Arial"/>
                <a:ea typeface="Arial"/>
                <a:cs typeface="Arial"/>
              </a:rPr>
              <a:t>HIREFIT / REDROB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43062-25B1-4004-B29E-5CA83283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SUBMISSION ASSETS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C95D42-ACD6-4E45-AA10-44A005E1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762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A42232-AFFD-4239-A781-67B6E0A6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D78CE-4F2F-4355-B201-6970CE7B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01"/>
          </a:bodyPr>
          <a:lstStyle xmlns:a="http://schemas.openxmlformats.org/drawingml/2006/main"/>
          <a:p xmlns:a="http://schemas.openxmlformats.org/drawingml/2006/main">
            <a:pPr algn="l">
              <a:def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122421"/>
                </a:solidFill>
                <a:latin typeface="Georgia"/>
                <a:ea typeface="Georgia"/>
                <a:cs typeface="Georgia"/>
              </a:rPr>
              <a:t>Open the product. Reproduce the result. Challenge the reasoning.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DBE85-8E6E-4978-B3DF-5B292676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Every judge-facing surface below points to the current main release; the optional recording follows the verified two-minute demo script.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D48826-6BB6-4406-93A4-9E619975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76475"/>
            <a:ext cx="52768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04BB35-7DE4-491A-BB89-17DB7EE6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9825"/>
            <a:ext cx="493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22421"/>
                </a:solidFill>
                <a:latin typeface="Arial"/>
                <a:ea typeface="Arial"/>
                <a:cs typeface="Arial"/>
                <a:hlinkClick xmlns:r="http://schemas.openxmlformats.org/officeDocument/2006/relationships" r:id="Rb422dc78e05749b8"/>
              </a:rPr>
              <a:t>GitHub repository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03891-D85E-4498-9993-EEED6845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5575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Code · tests · Docker · committed output · one-command release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21F93B-4571-4FB9-8069-2CF569AF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428875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  <a:hlinkClick xmlns:r="http://schemas.openxmlformats.org/officeDocument/2006/relationships" r:id="Rbc7df2e05c104da5"/>
              </a:rPr>
              <a:t>OPEN 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899452-F177-4E00-BB57-DACD9002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2768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237B6-6598-4A59-8171-511CE027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93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22421"/>
                </a:solidFill>
                <a:latin typeface="Arial"/>
                <a:ea typeface="Arial"/>
                <a:cs typeface="Arial"/>
                <a:hlinkClick xmlns:r="http://schemas.openxmlformats.org/officeDocument/2006/relationships" r:id="Ra29e5ed6d70e4fff"/>
              </a:rPr>
              <a:t>Hugging Face Space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6AF851-7786-44B7-874F-496E24A3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95575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Populated sandbox · release docket · candidate evidence dossier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C8B7E0-091C-4DCA-8A94-F274C4AF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428875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85B3D"/>
                </a:solidFill>
                <a:latin typeface="Arial"/>
                <a:ea typeface="Arial"/>
                <a:cs typeface="Arial"/>
                <a:hlinkClick xmlns:r="http://schemas.openxmlformats.org/officeDocument/2006/relationships" r:id="R320eb4ef01264320"/>
              </a:rPr>
              <a:t>OPEN 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6344EC-3367-4655-84C3-45EEB46B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05175"/>
            <a:ext cx="52768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042AD5-EDC7-442C-9157-DBD059F28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493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22421"/>
                </a:solidFill>
                <a:latin typeface="Arial"/>
                <a:ea typeface="Arial"/>
                <a:cs typeface="Arial"/>
                <a:hlinkClick xmlns:r="http://schemas.openxmlformats.org/officeDocument/2006/relationships" r:id="Rc63c0391ccdb4f35"/>
              </a:rPr>
              <a:t>Render decision room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5F097B-2476-4233-9F2F-B1D41CEE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Current recruiter interface · rankings · method proof · batch mode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859193-DAB1-4C30-9D11-733088E6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457575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B85B3D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85B3D"/>
                </a:solidFill>
                <a:latin typeface="Arial"/>
                <a:ea typeface="Arial"/>
                <a:cs typeface="Arial"/>
                <a:hlinkClick xmlns:r="http://schemas.openxmlformats.org/officeDocument/2006/relationships" r:id="Rea4df3d2785c4a9f"/>
              </a:rPr>
              <a:t>OPEN 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DFAD6E-18E6-4256-85C4-2D3A110D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05175"/>
            <a:ext cx="52768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DE2C4A-4FB3-49C7-8004-E1666CB0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38525"/>
            <a:ext cx="493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22421"/>
                </a:solidFill>
                <a:latin typeface="Arial"/>
                <a:ea typeface="Arial"/>
                <a:cs typeface="Arial"/>
                <a:hlinkClick xmlns:r="http://schemas.openxmlformats.org/officeDocument/2006/relationships" r:id="R9028ca9fa015431d"/>
              </a:rPr>
              <a:t>Judge proof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D854E9-7A3A-4EFB-B75D-4C0C0D4B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24275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Hash · validator · suite · integrity · explainability · runtime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9BBE5B-069E-4ED6-BB1F-8BE95E10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3457575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  <a:hlinkClick xmlns:r="http://schemas.openxmlformats.org/officeDocument/2006/relationships" r:id="Rf84fed876e4249d6"/>
              </a:rPr>
              <a:t>OPEN ↗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022EEE-DE22-4E2D-B327-F6F2D400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33875"/>
            <a:ext cx="52768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B14FF3-66C0-4B31-8CC0-A0C5BEA0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93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22421"/>
                </a:solidFill>
                <a:latin typeface="Arial"/>
                <a:ea typeface="Arial"/>
                <a:cs typeface="Arial"/>
                <a:hlinkClick xmlns:r="http://schemas.openxmlformats.org/officeDocument/2006/relationships" r:id="R06cbc5fdf1bf48c3"/>
              </a:rPr>
              <a:t>Two-minute demo 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2DA5A8-16DE-445D-8279-258C456E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Recording-ready narration and exact click / terminal sequence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CF3EAC-A64F-4EAE-8C4F-6C202B6C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486275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C98B32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98B32"/>
                </a:solidFill>
                <a:latin typeface="Arial"/>
                <a:ea typeface="Arial"/>
                <a:cs typeface="Arial"/>
                <a:hlinkClick xmlns:r="http://schemas.openxmlformats.org/officeDocument/2006/relationships" r:id="R53da55161f244353"/>
              </a:rPr>
              <a:t>OPEN 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8F7E07-D725-43A8-BE36-39BF0711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33875"/>
            <a:ext cx="52768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8F7F3"/>
          </a:solidFill>
          <a:ln xmlns:a="http://schemas.openxmlformats.org/drawingml/2006/main" w="9525">
            <a:solidFill>
              <a:srgbClr val="CDD4C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64F02C-7827-40AE-8454-DFE118CB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67225"/>
            <a:ext cx="493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42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22421"/>
                </a:solidFill>
                <a:latin typeface="Arial"/>
                <a:ea typeface="Arial"/>
                <a:cs typeface="Arial"/>
                <a:hlinkClick xmlns:r="http://schemas.openxmlformats.org/officeDocument/2006/relationships" r:id="R2cdbdc396a544c42"/>
              </a:rPr>
              <a:t>Devpost submission copy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9532F7-1A52-4A26-B1F3-A21D362B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52975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26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6726D"/>
                </a:solidFill>
                <a:latin typeface="Arial"/>
                <a:ea typeface="Arial"/>
                <a:cs typeface="Arial"/>
              </a:rPr>
              <a:t>Honest pitch language, build story, challenges, results, and links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4309C2-FE14-47EF-9134-09E287365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486275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2E725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E7259"/>
                </a:solidFill>
                <a:latin typeface="Arial"/>
                <a:ea typeface="Arial"/>
                <a:cs typeface="Arial"/>
                <a:hlinkClick xmlns:r="http://schemas.openxmlformats.org/officeDocument/2006/relationships" r:id="Rdfc9f0f7d8e74d7c"/>
              </a:rPr>
              <a:t>OPEN ↗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94BB50-CDF3-4627-8817-F7E69C3B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53075"/>
            <a:ext cx="111633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22421"/>
          </a:solidFill>
          <a:ln xmlns:a="http://schemas.openxmlformats.org/drawingml/2006/main" w="0">
            <a:solidFill>
              <a:srgbClr val="12242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C254A6-A8A2-413B-82A9-2C28EEF8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3405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CFE4D9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CFE4D9"/>
                </a:solidFill>
                <a:latin typeface="Arial"/>
                <a:ea typeface="Arial"/>
                <a:cs typeface="Arial"/>
              </a:rPr>
              <a:t>THE ARTIFACT TO VERIFY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E45327-C630-46AF-9C7E-261B8C32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686425"/>
            <a:ext cx="866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submission.csv  ·  SHA-256 8f7f30c68ec30cb66ad7d9c2f7103e7fbb6b20f639fdace8961f395c30ab6062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AF7A75-F102-41C9-A44B-553580F6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91A39C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91A39C"/>
                </a:solidFill>
                <a:latin typeface="Arial"/>
                <a:ea typeface="Arial"/>
                <a:cs typeface="Arial"/>
              </a:rPr>
              <a:t>Bhunesh Bansal  ·  Redrob HireFit Ranker</a:t>
            </a:r>
          </a:p>
        </p:txBody>
      </p:sp>
    </p:spTree>
    <p:extLst>
      <p:ext uri="{BB962C8B-B14F-4D97-AF65-F5344CB8AC3E}">
        <p14:creationId xmlns:p14="http://schemas.microsoft.com/office/powerpoint/2010/main" val="10699435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2026-07-01T15:50:07.8770000Z</dcterms:created>
  <dcterms:modified xsi:type="dcterms:W3CDTF">2026-07-01T15:50:07.8770000Z</dcterms:modified>
</coreProperties>
</file>