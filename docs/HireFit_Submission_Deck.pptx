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embeddedFontLst>
    <p:embeddedFont>
      <p:font typeface="Manrope SemiBold"/>
      <p:regular r:id="rId17"/>
      <p:bold r:id="rId18"/>
    </p:embeddedFont>
    <p:embeddedFont>
      <p:font typeface="Manrope ExtraBold"/>
      <p:bold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font" Target="fonts/ManropeSemiBold-regular.fntdata"/><Relationship Id="rId18" Type="http://schemas.openxmlformats.org/officeDocument/2006/relationships/font" Target="fonts/ManropeSemiBold-bold.fntdata"/><Relationship Id="rId19" Type="http://schemas.openxmlformats.org/officeDocument/2006/relationships/font" Target="fonts/ManropeExtra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e5dd6731f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3e5dd6731f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e5dd6731f7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e5dd6731f7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e5dd6731f7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e5dd6731f7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e5dd6731f7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e5dd6731f7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e5dd6731f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e5dd6731f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e5dd6731f7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e5dd6731f7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e5dd6731f7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e5dd6731f7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e5dd6731f7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e5dd6731f7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e5dd6731f7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e5dd6731f7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e5dd6731f7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e5dd6731f7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background redrob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/>
          <p:nvPr/>
        </p:nvSpPr>
        <p:spPr>
          <a:xfrm>
            <a:off x="311700" y="306502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Name :  Pakka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311705" y="3916185"/>
            <a:ext cx="8520600" cy="40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Problem Statement :  HireFit - rank the top 100 of 100,000 candidates for a Senior AI Engineer role; CPU-only, offline, deterministic, and fully explainable.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311688" y="3472483"/>
            <a:ext cx="8520600" cy="44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202729"/>
                </a:solidFill>
                <a:latin typeface="Manrope SemiBold"/>
                <a:ea typeface="Manrope SemiBold"/>
                <a:cs typeface="Manrope SemiBold"/>
                <a:sym typeface="Manrope SemiBold"/>
              </a:rPr>
              <a:t>Team Leader Name :  Bhunesh Bansal</a:t>
            </a:r>
            <a:endParaRPr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14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14"/>
          <p:cNvSpPr txBox="1"/>
          <p:nvPr/>
        </p:nvSpPr>
        <p:spPr>
          <a:xfrm>
            <a:off x="480500" y="812600"/>
            <a:ext cx="24030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Solution Overview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64" name="Google Shape;64;p14"/>
          <p:cNvSpPr txBox="1"/>
          <p:nvPr/>
        </p:nvSpPr>
        <p:spPr>
          <a:xfrm>
            <a:off x="375600" y="1278512"/>
            <a:ext cx="8520600" cy="3256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HireFit is a deterministic, CPU-only recruiter that ranks careers and behaviour - not keywords - and publishes an exact, validated top-100 shortlist with a grounded reason for every rank.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Evidence over keywords: 33 named features computed from profile facts, not skill-word overlap.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Integrity-gated: unsupported claims and impossible timelines are penalised; planted honeypots are blocked (0 reach the shortlist).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Byte-reproducible: one Docker command regenerates the exact output (SHA-256 8f7f30c6...); every rank decomposes into its feature contributions.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Offline &amp; fast: ~136 s on 2 CPUs for the full 100K pool - no GPU, no network, no hosted LLM at rank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2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JD Understanding &amp; Candidate Evaluatio</a:t>
            </a: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JD requirements extracted: Senior AI Engineer, 5-9 yrs, shipped retrieval / ranking / NLP / deep-learning systems, embeddings, PyTorch / TensorFlow, preferred India locations.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Signals that matter most: evidence of production retrieval/ranking work, role &amp; seniority alignment, skill depth (vs. keyword lists), availability &amp; recruiter-responsiveness, and profile integrity.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Beyond keywords: we read the gap between what the JD lists and what the role hires for - keyword overlap is high for stuffers and low for the real engineer, so we score demonstrated evidence of shipping the work, not the presence of the words.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Ranking Methodology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78" name="Google Shape;78;p16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Retrieve: hybrid BM25 (bm25s) over the full 100K pool narrows the credible field, CPU-only.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Score: 33 named features -&gt; universal-v2 relevance (evidence base), blended with a 130 KB NumPy model (seven shallow label-family heads distilled offline), then multiplicative integrity gates (behavioural / honeypot / JD-disqualifier).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Rank (frontier-v5): a conservative RRF lock + a feature-only top-band correction + two clean integrity backfills + two narrow tie-breaks -&gt; a stable, inspectable top-100.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No hosted LLM/API at rank time; reasoning is generated from the candidate's actual 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7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7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Explainability &amp; Data Validation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85" name="Google Shape;85;p17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Explained: every rank decomposes into its 33 feature contributions; for the linear evidence base each feature's exact Shapley value is its additive term (analytic - it reconstructs the score). The frontier-v5 rerank is documented on top.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No hallucinations: reasoning is templated from real candidate facts only (skills, roles, tenure, verbatim quotes) - no free-text LLM generation at rank time, so justifications cannot invent facts.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Suspicious / low-quality profiles: an integrity detector flags unsupported claims and impossible timelines - 53 flagged, 0 reach the shortlist. Flags are surfaced for review, not asserted as fraud.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8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3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8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End-to-End Workflow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2" name="Google Shape;92;p18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candidates.jsonl (100K) -&gt; parse -&gt; BM25 retrieve -&gt; 33-feature evidence scoring -&gt; integrity gates -&gt; frontier-v5 rerank -&gt; top-100 -&gt; grounded reasoning -&gt; submission.csv (+ ranked_top100.xlsx).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One command, fully offline:  PYTHONHASHSEED=0 python rank.py --release --candidates candidates.jsonl --out submission.csv --workers 2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~136 s on 2 CPUs; byte-identical output every run (SHA-256 8f7f30c6...), validated for shape, pool membership, and integrity counts before publish.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9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9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System Architecture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374904" y="1280160"/>
            <a:ext cx="8522208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Six CPU-only stages - no network, no GPU: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1) Parse structured profile text  -&gt;  2) BM25 lexical retrieval  -&gt;  3) deterministic semantic (HyRE) expansion  -&gt;  4) 33-feature recruiter matrix  -&gt;  5) weighted evidence score blended with the 130 KB model  -&gt;  6) integrity guardrails (behaviour / honeypot / JD-disqualifier) + a stable frontier-v5 rerank.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/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Fail-closed release: verifies the model &amp; input hashes, forces the BM25 backend, checks full-pool and integrity counts, writes to a temporary file, then atomically publishes the output - OOM-safe (a container kill exits 137 and preserves the prior output).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03;p20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20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Results &amp; Performance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05" name="Google Shape;105;p20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300">
                <a:solidFill>
                  <a:srgbClr val="202729"/>
                </a:solidFill>
              </a:rPr>
              <a:t>- Ranking quality (development proxies - no official hidden labels were available): top cluster of the public field on a seven-evaluator proxy mean; strongest measured on reproducibility, integrity and test proof; 0 honeypots in the top-100. We make no official hidden-score or leaderboard claim.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Runtime &amp; compute: full 100K in ~136 s pipeline / 149 s wall at --cpus=2 --memory=16g - well under the 300 s limit; peak ~4.2 GB; CPU-only, offline.</a:t>
            </a:r>
          </a:p>
          <a:p>
            <a:pPr>
              <a:spcAft>
                <a:spcPts val="600"/>
              </a:spcAft>
              <a:buNone/>
            </a:pPr>
            <a:r>
              <a:rPr sz="1300">
                <a:solidFill>
                  <a:srgbClr val="202729"/>
                </a:solidFill>
              </a:rPr>
              <a:t>- Reproducibility: frozen SHA-256 8f7f30c6...; 271 automated checks (265 in CI) including a golden-output regression that locks the submission byte-for-byte.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0" name="Google Shape;110;p21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21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Technologies Used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2" name="Google Shape;112;p21"/>
          <p:cNvSpPr txBox="1"/>
          <p:nvPr/>
        </p:nvSpPr>
        <p:spPr>
          <a:xfrm>
            <a:off x="375600" y="1278496"/>
            <a:ext cx="8520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5278" lvl="0" marL="45720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7D45E0"/>
              </a:buClr>
              <a:buSzPts val="1365"/>
              <a:buFont typeface="Manrope SemiBold"/>
              <a:buNone/>
            </a:pPr>
            <a:r>
              <a:rPr sz="1200">
                <a:solidFill>
                  <a:srgbClr val="202729"/>
                </a:solidFill>
              </a:rPr>
              <a:t>- Python 3.11 + NumPy - deterministic, offline, CPU-only numerics.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bm25s (Lucene-BM25) with a rank-bm25 fallback - fast lexical retrieval over 100K profiles.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- 130 KB NumPy model (no PyTorch / GPU) - keeps the pipeline offline and byte-reproducible.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FastAPI + static UI (Render live demo) and Gradio (HuggingFace Space) - live, inspectable demos.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Docker with a digest-pinned base and hash-pinned dependencies - a verified, reproducible environment.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pytest (271 checks) + a golden-hash regression gate - every optimisation proven byte-identical before merge.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2" title="overlay redrob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2"/>
          <p:cNvSpPr txBox="1"/>
          <p:nvPr/>
        </p:nvSpPr>
        <p:spPr>
          <a:xfrm>
            <a:off x="480500" y="812600"/>
            <a:ext cx="8121600" cy="46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935"/>
              <a:buNone/>
            </a:pPr>
            <a:r>
              <a:rPr lang="en-GB">
                <a:solidFill>
                  <a:srgbClr val="202729"/>
                </a:solidFill>
                <a:latin typeface="Manrope ExtraBold"/>
                <a:ea typeface="Manrope ExtraBold"/>
                <a:cs typeface="Manrope ExtraBold"/>
                <a:sym typeface="Manrope ExtraBold"/>
              </a:rPr>
              <a:t>Submission Assets</a:t>
            </a:r>
            <a:endParaRPr>
              <a:solidFill>
                <a:srgbClr val="202729"/>
              </a:solidFill>
              <a:latin typeface="Manrope ExtraBold"/>
              <a:ea typeface="Manrope ExtraBold"/>
              <a:cs typeface="Manrope ExtraBold"/>
              <a:sym typeface="Manrope ExtraBold"/>
            </a:endParaRPr>
          </a:p>
        </p:txBody>
      </p:sp>
      <p:sp>
        <p:nvSpPr>
          <p:cNvPr id="119" name="Google Shape;119;p22"/>
          <p:cNvSpPr txBox="1"/>
          <p:nvPr/>
        </p:nvSpPr>
        <p:spPr>
          <a:xfrm>
            <a:off x="480500" y="1278500"/>
            <a:ext cx="7968600" cy="31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Code:  github.com/bansalbhunesh/redrob-hirefit-ranker</a:t>
            </a:r>
            <a:endParaRPr sz="1365">
              <a:solidFill>
                <a:srgbClr val="202729"/>
              </a:solidFill>
              <a:latin typeface="Manrope SemiBold"/>
              <a:ea typeface="Manrope SemiBold"/>
              <a:cs typeface="Manrope SemiBold"/>
              <a:sym typeface="Manrope SemiBold"/>
            </a:endParaRP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Live decision room (Render):  redrob-hirefit-ranker.onrender.com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Live sandbox (HuggingFace Space):  huggingface.co/spaces/bansal1234/Hirefit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Ranked output:  submission.csv  and  ranked_top100.xlsx  (top-100, grounded reasoning)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Proof:  docs/JUDGE_PROOF.md / one-command reproduction / 271 tests / SHA-256 8f7f30c6...</a:t>
            </a:r>
          </a:p>
          <a:p>
            <a:pPr>
              <a:spcAft>
                <a:spcPts val="600"/>
              </a:spcAft>
              <a:buNone/>
            </a:pPr>
            <a:r>
              <a:rPr sz="1200">
                <a:solidFill>
                  <a:srgbClr val="202729"/>
                </a:solidFill>
              </a:rPr>
              <a:t>- Demo video:  [add link before submitting]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3" title="thank you slide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18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