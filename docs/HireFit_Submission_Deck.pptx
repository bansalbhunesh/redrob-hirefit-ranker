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20a1a773764852" /><Relationship Type="http://schemas.openxmlformats.org/officeDocument/2006/relationships/extended-properties" Target="/docProps/app.xml" Id="Rdbd6fe00aa62436e" /><Relationship Type="http://schemas.openxmlformats.org/officeDocument/2006/relationships/officeDocument" Target="/ppt/presentation.xml" Id="R0a2af489b4604ad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51aecd3a0604ed8"/>
  </p:sldMasterIdLst>
  <p:notesMasterIdLst>
    <p:notesMasterId xmlns:r="http://schemas.openxmlformats.org/officeDocument/2006/relationships" r:id="R10ce241c0f36400d"/>
  </p:notesMasterIdLst>
  <p:sldIdLst>
    <p:sldId xmlns:r="http://schemas.openxmlformats.org/officeDocument/2006/relationships" id="256" r:id="Re8cc5ebdffc14375"/>
    <p:sldId xmlns:r="http://schemas.openxmlformats.org/officeDocument/2006/relationships" id="257" r:id="R3c0de43d48804730"/>
    <p:sldId xmlns:r="http://schemas.openxmlformats.org/officeDocument/2006/relationships" id="258" r:id="R50a73a1a283b4d48"/>
    <p:sldId xmlns:r="http://schemas.openxmlformats.org/officeDocument/2006/relationships" id="259" r:id="R851a83f820f34463"/>
    <p:sldId xmlns:r="http://schemas.openxmlformats.org/officeDocument/2006/relationships" id="260" r:id="Rc3dcd5b476b44144"/>
    <p:sldId xmlns:r="http://schemas.openxmlformats.org/officeDocument/2006/relationships" id="261" r:id="Rd58ccd8df2bf4d31"/>
    <p:sldId xmlns:r="http://schemas.openxmlformats.org/officeDocument/2006/relationships" id="262" r:id="Rb7491e14f82b499e"/>
    <p:sldId xmlns:r="http://schemas.openxmlformats.org/officeDocument/2006/relationships" id="263" r:id="Rbbf72caef323408c"/>
    <p:sldId xmlns:r="http://schemas.openxmlformats.org/officeDocument/2006/relationships" id="264" r:id="R6ab54d0b341c4dcd"/>
    <p:sldId xmlns:r="http://schemas.openxmlformats.org/officeDocument/2006/relationships" id="265" r:id="R02414a58db2243b8"/>
    <p:sldId xmlns:r="http://schemas.openxmlformats.org/officeDocument/2006/relationships" id="266" r:id="Rae0b985e778848cf"/>
  </p:sldIdLst>
  <p:sldSz cx="9144000" cy="5143500"/>
  <p:notesSz cx="6858000" cy="9144000"/>
  <p:embeddedFontLst>
    <p:embeddedFont>
      <p:font typeface="Manrope SemiBold"/>
      <p:regular xmlns:r="http://schemas.openxmlformats.org/officeDocument/2006/relationships" r:id="R2a913fac5fe34290"/>
      <p:bold xmlns:r="http://schemas.openxmlformats.org/officeDocument/2006/relationships" r:id="R05ea512ef03a4d8c"/>
    </p:embeddedFont>
    <p:embeddedFont>
      <p:font typeface="Manrope ExtraBold"/>
      <p:bold xmlns:r="http://schemas.openxmlformats.org/officeDocument/2006/relationships" r:id="R7a280b88cfe6415e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334b1f24df4334" /><Relationship Type="http://schemas.openxmlformats.org/officeDocument/2006/relationships/slideMaster" Target="/ppt/slideMasters/slideMaster1.xml" Id="R551aecd3a0604ed8" /><Relationship Type="http://schemas.openxmlformats.org/officeDocument/2006/relationships/notesMaster" Target="/ppt/notesMasters/notesMaster1.xml" Id="R10ce241c0f36400d" /><Relationship Type="http://schemas.openxmlformats.org/officeDocument/2006/relationships/presProps" Target="/ppt/presProps.xml" Id="R5f41378ea58a477b" /><Relationship Type="http://schemas.openxmlformats.org/officeDocument/2006/relationships/tableStyles" Target="/ppt/tableStyles.xml" Id="R13dfd88672934d15" /><Relationship Type="http://schemas.openxmlformats.org/officeDocument/2006/relationships/font" Target="/ppt/fonts/font.dat" Id="R2a913fac5fe34290" /><Relationship Type="http://schemas.openxmlformats.org/officeDocument/2006/relationships/font" Target="/ppt/fonts/font2.dat" Id="R05ea512ef03a4d8c" /><Relationship Type="http://schemas.openxmlformats.org/officeDocument/2006/relationships/font" Target="/ppt/fonts/font3.dat" Id="R7a280b88cfe6415e" /><Relationship Type="http://schemas.openxmlformats.org/officeDocument/2006/relationships/slide" Target="/ppt/slides/slide1.xml" Id="Re8cc5ebdffc14375" /><Relationship Type="http://schemas.openxmlformats.org/officeDocument/2006/relationships/slide" Target="/ppt/slides/slide2.xml" Id="R3c0de43d48804730" /><Relationship Type="http://schemas.openxmlformats.org/officeDocument/2006/relationships/slide" Target="/ppt/slides/slide3.xml" Id="R50a73a1a283b4d48" /><Relationship Type="http://schemas.openxmlformats.org/officeDocument/2006/relationships/slide" Target="/ppt/slides/slide4.xml" Id="R851a83f820f34463" /><Relationship Type="http://schemas.openxmlformats.org/officeDocument/2006/relationships/slide" Target="/ppt/slides/slide5.xml" Id="Rc3dcd5b476b44144" /><Relationship Type="http://schemas.openxmlformats.org/officeDocument/2006/relationships/slide" Target="/ppt/slides/slide6.xml" Id="Rd58ccd8df2bf4d31" /><Relationship Type="http://schemas.openxmlformats.org/officeDocument/2006/relationships/slide" Target="/ppt/slides/slide7.xml" Id="Rb7491e14f82b499e" /><Relationship Type="http://schemas.openxmlformats.org/officeDocument/2006/relationships/slide" Target="/ppt/slides/slide8.xml" Id="Rbbf72caef323408c" /><Relationship Type="http://schemas.openxmlformats.org/officeDocument/2006/relationships/slide" Target="/ppt/slides/slide9.xml" Id="R6ab54d0b341c4dcd" /><Relationship Type="http://schemas.openxmlformats.org/officeDocument/2006/relationships/slide" Target="/ppt/slides/slide10.xml" Id="R02414a58db2243b8" /><Relationship Type="http://schemas.openxmlformats.org/officeDocument/2006/relationships/slide" Target="/ppt/slides/slide11.xml" Id="Rae0b985e778848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e9c22a66a114d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0c00b33c154b81" /><Relationship Type="http://schemas.openxmlformats.org/officeDocument/2006/relationships/notesMaster" Target="/ppt/notesMasters/notesMaster1.xml" Id="Rafd73569aeb24a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17a7a3b733448e3" /><Relationship Type="http://schemas.openxmlformats.org/officeDocument/2006/relationships/notesMaster" Target="/ppt/notesMasters/notesMaster1.xml" Id="R7e11c8fb30b545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89928999724777" /><Relationship Type="http://schemas.openxmlformats.org/officeDocument/2006/relationships/notesMaster" Target="/ppt/notesMasters/notesMaster1.xml" Id="R853033e039e347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aae37717b4450b" /><Relationship Type="http://schemas.openxmlformats.org/officeDocument/2006/relationships/notesMaster" Target="/ppt/notesMasters/notesMaster1.xml" Id="R151bbdd4e1d748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e9da70aace4a3f" /><Relationship Type="http://schemas.openxmlformats.org/officeDocument/2006/relationships/notesMaster" Target="/ppt/notesMasters/notesMaster1.xml" Id="R147e0a42f27f4a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24ac9afdd640da" /><Relationship Type="http://schemas.openxmlformats.org/officeDocument/2006/relationships/notesMaster" Target="/ppt/notesMasters/notesMaster1.xml" Id="R7617827b834a4f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f1d58dc7a84a10" /><Relationship Type="http://schemas.openxmlformats.org/officeDocument/2006/relationships/notesMaster" Target="/ppt/notesMasters/notesMaster1.xml" Id="R3eafadba0b434d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b769ac95554141" /><Relationship Type="http://schemas.openxmlformats.org/officeDocument/2006/relationships/notesMaster" Target="/ppt/notesMasters/notesMaster1.xml" Id="Rf0afa8fe84734c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2584b6446b4ca6" /><Relationship Type="http://schemas.openxmlformats.org/officeDocument/2006/relationships/notesMaster" Target="/ppt/notesMasters/notesMaster1.xml" Id="R638259b422b04d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2d5c7a3279405f" /><Relationship Type="http://schemas.openxmlformats.org/officeDocument/2006/relationships/notesMaster" Target="/ppt/notesMasters/notesMaster1.xml" Id="R2761d291ad1846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7d15848d3b4c9c" /><Relationship Type="http://schemas.openxmlformats.org/officeDocument/2006/relationships/notesMaster" Target="/ppt/notesMasters/notesMaster1.xml" Id="Rb43cd20cb10845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73b1f41f8c4d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3bbe8bcabe434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041c1b08c843e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dfb1af1436412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ac88e1884443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40eb3e89bd468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2fac0da8c8459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f110d1f7644af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b4ca1f9b6940b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0165fc9b4640f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1b37b40554ba5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A58FFF25-6F9C-407A-92CC-C394178EDD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7C5A472-7A84-4368-8DE6-E1C4300B5E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CF5AA4D7-A959-4CD3-A8BD-953A1924ED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62ECC082-5C19-4514-943D-4BAE8C86A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E8CFC922-39F8-466A-84E8-28DA5FC29D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A851E1D7-8ED5-48A7-87CE-70C0CAEA5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B244BD69-8D8D-45E7-821B-759B8F2F8D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D826A368-186F-4714-89F7-18E3AE0E9A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B30A6418-A59D-451F-B9D9-6B45136DE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D71DACF9-0E6E-4C7C-83A0-51419B89EE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01E0A19-5211-4361-A68F-491E6C4C9B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434DB907-6609-496E-9F5C-01EE9B20D4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6DB4FB66-E0DE-47A9-8562-8E6E89F67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F3B88EA2-485E-42D7-B40B-1F5E6A6637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1966F39B-A79E-4192-B378-ADE686FD82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BBEB3066-2E2C-429F-AE92-BE8604BA8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39A621F3-FEE2-4832-8D37-6588EB9794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1590B9E4-A8F8-47B8-87FF-E8169F595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5C274A19-8F6B-4F2E-9052-BBFEC3730E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39A894A-EB49-4440-B6F7-89272DC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D966089B-32A6-4366-A3AA-8B3C6315BB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949097C0-ADBB-47E8-B371-CF2B588D51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B4B117-0614-4AF8-B100-61C5F6914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ECD9ACD4-B5FF-48CF-9C54-74B694C08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6DD871BA-7677-4956-A907-E36C9C557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95A5AA2-2E78-42D0-89DA-CCC43A668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09AA567-4890-4022-A9C9-CF711B66233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E35BBC99-337A-4EB3-8A4D-176A7C3113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2A99725-C3C4-4C78-AD9F-5FDACBB533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4DA37D5F-589C-49AD-A1F0-CE2FAB8E5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e6d4c9c01d4e7f" /><Relationship Type="http://schemas.openxmlformats.org/officeDocument/2006/relationships/slideLayout" Target="/ppt/slideLayouts/slideLayout1.xml" Id="Rff5b90ed1a0045ec" /><Relationship Type="http://schemas.openxmlformats.org/officeDocument/2006/relationships/slideLayout" Target="/ppt/slideLayouts/slideLayout2.xml" Id="R9367a0b3ebde4310" /><Relationship Type="http://schemas.openxmlformats.org/officeDocument/2006/relationships/slideLayout" Target="/ppt/slideLayouts/slideLayout3.xml" Id="Raf17def46bfc4359" /><Relationship Type="http://schemas.openxmlformats.org/officeDocument/2006/relationships/slideLayout" Target="/ppt/slideLayouts/slideLayout4.xml" Id="R880a032463d54fd4" /><Relationship Type="http://schemas.openxmlformats.org/officeDocument/2006/relationships/slideLayout" Target="/ppt/slideLayouts/slideLayout5.xml" Id="R7a59307ebfae4821" /><Relationship Type="http://schemas.openxmlformats.org/officeDocument/2006/relationships/slideLayout" Target="/ppt/slideLayouts/slideLayout6.xml" Id="R797769af8d894f76" /><Relationship Type="http://schemas.openxmlformats.org/officeDocument/2006/relationships/slideLayout" Target="/ppt/slideLayouts/slideLayout7.xml" Id="Ra154fa20a0294bbb" /><Relationship Type="http://schemas.openxmlformats.org/officeDocument/2006/relationships/slideLayout" Target="/ppt/slideLayouts/slideLayout8.xml" Id="Ra9dbaa3418614d60" /><Relationship Type="http://schemas.openxmlformats.org/officeDocument/2006/relationships/slideLayout" Target="/ppt/slideLayouts/slideLayout9.xml" Id="R79980c1087a34a33" /><Relationship Type="http://schemas.openxmlformats.org/officeDocument/2006/relationships/slideLayout" Target="/ppt/slideLayouts/slideLayout10.xml" Id="Rfd1d9f0003ab41b8" /><Relationship Type="http://schemas.openxmlformats.org/officeDocument/2006/relationships/slideLayout" Target="/ppt/slideLayouts/slideLayout11.xml" Id="Rfe1c0e14f1bc4e80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C37F872-7D28-4D22-9903-4844A2256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112F4832-0157-48C8-BA18-023F30EBC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EAE07C02-D12D-42A3-97E5-EE3F654F5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5b90ed1a0045ec"/>
    <p:sldLayoutId xmlns:r="http://schemas.openxmlformats.org/officeDocument/2006/relationships" id="2147483650" r:id="R9367a0b3ebde4310"/>
    <p:sldLayoutId xmlns:r="http://schemas.openxmlformats.org/officeDocument/2006/relationships" id="2147483651" r:id="Raf17def46bfc4359"/>
    <p:sldLayoutId xmlns:r="http://schemas.openxmlformats.org/officeDocument/2006/relationships" id="2147483652" r:id="R880a032463d54fd4"/>
    <p:sldLayoutId xmlns:r="http://schemas.openxmlformats.org/officeDocument/2006/relationships" id="2147483653" r:id="R7a59307ebfae4821"/>
    <p:sldLayoutId xmlns:r="http://schemas.openxmlformats.org/officeDocument/2006/relationships" id="2147483654" r:id="R797769af8d894f76"/>
    <p:sldLayoutId xmlns:r="http://schemas.openxmlformats.org/officeDocument/2006/relationships" id="2147483655" r:id="Ra154fa20a0294bbb"/>
    <p:sldLayoutId xmlns:r="http://schemas.openxmlformats.org/officeDocument/2006/relationships" id="2147483656" r:id="Ra9dbaa3418614d60"/>
    <p:sldLayoutId xmlns:r="http://schemas.openxmlformats.org/officeDocument/2006/relationships" id="2147483657" r:id="R79980c1087a34a33"/>
    <p:sldLayoutId xmlns:r="http://schemas.openxmlformats.org/officeDocument/2006/relationships" id="2147483658" r:id="Rfd1d9f0003ab41b8"/>
    <p:sldLayoutId xmlns:r="http://schemas.openxmlformats.org/officeDocument/2006/relationships" id="2147483659" r:id="Rfe1c0e14f1bc4e80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72bc932499fd4913" /><Relationship Type="http://schemas.openxmlformats.org/officeDocument/2006/relationships/image" Target="/ppt/media/image.png" Id="R41f8c57850144ae7" /><Relationship Type="http://schemas.openxmlformats.org/officeDocument/2006/relationships/notesSlide" Target="/ppt/notesSlides/notesSlide1.xml" Id="Rfa744839644b48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4845c2453d6b4b40" /><Relationship Type="http://schemas.openxmlformats.org/officeDocument/2006/relationships/image" Target="/ppt/media/image2.png" Id="R6f4ef159d61346ee" /><Relationship Type="http://schemas.openxmlformats.org/officeDocument/2006/relationships/notesSlide" Target="/ppt/notesSlides/notesSlide2.xml" Id="R3315154343c94a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47aa7c1cf7c54ce5" /><Relationship Type="http://schemas.openxmlformats.org/officeDocument/2006/relationships/image" Target="/ppt/media/image2.png" Id="R47bdfdad2bb04058" /><Relationship Type="http://schemas.openxmlformats.org/officeDocument/2006/relationships/notesSlide" Target="/ppt/notesSlides/notesSlide3.xml" Id="R486887408f6b42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ec54f094c5f14197" /><Relationship Type="http://schemas.openxmlformats.org/officeDocument/2006/relationships/image" Target="/ppt/media/image2.png" Id="Rd281f293b1ce4e93" /><Relationship Type="http://schemas.openxmlformats.org/officeDocument/2006/relationships/notesSlide" Target="/ppt/notesSlides/notesSlide4.xml" Id="Rb322b3fc34f543f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83a9561e2174a51" /><Relationship Type="http://schemas.openxmlformats.org/officeDocument/2006/relationships/image" Target="/ppt/media/image2.png" Id="R334f2f7865514423" /><Relationship Type="http://schemas.openxmlformats.org/officeDocument/2006/relationships/notesSlide" Target="/ppt/notesSlides/notesSlide5.xml" Id="R7f5bc45a16654f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9b08e80bfff4cf4" /><Relationship Type="http://schemas.openxmlformats.org/officeDocument/2006/relationships/image" Target="/ppt/media/image2.png" Id="R9822b9aed4db4e88" /><Relationship Type="http://schemas.openxmlformats.org/officeDocument/2006/relationships/notesSlide" Target="/ppt/notesSlides/notesSlide6.xml" Id="Reed047fd27d149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5d2dd79f66bb4de2" /><Relationship Type="http://schemas.openxmlformats.org/officeDocument/2006/relationships/image" Target="/ppt/media/image2.png" Id="R4ec55f77ccda4b2c" /><Relationship Type="http://schemas.openxmlformats.org/officeDocument/2006/relationships/notesSlide" Target="/ppt/notesSlides/notesSlide7.xml" Id="Ra50b9424c14f4b1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e3c98668e2346d6" /><Relationship Type="http://schemas.openxmlformats.org/officeDocument/2006/relationships/image" Target="/ppt/media/image2.png" Id="Reb923459e05c432e" /><Relationship Type="http://schemas.openxmlformats.org/officeDocument/2006/relationships/notesSlide" Target="/ppt/notesSlides/notesSlide8.xml" Id="R71b46247b16642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25ed64cc46404c8e" /><Relationship Type="http://schemas.openxmlformats.org/officeDocument/2006/relationships/image" Target="/ppt/media/image2.png" Id="Rf6a58910b7db4e73" /><Relationship Type="http://schemas.openxmlformats.org/officeDocument/2006/relationships/notesSlide" Target="/ppt/notesSlides/notesSlide9.xml" Id="Re163bf9177e94e6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a3a3ae7a5c884bfa" /><Relationship Type="http://schemas.openxmlformats.org/officeDocument/2006/relationships/image" Target="/ppt/media/image2.png" Id="R71b9aae5d1734583" /><Relationship Type="http://schemas.openxmlformats.org/officeDocument/2006/relationships/hyperlink" Target="https://redrob-hirefit-ranker.onrender.com" TargetMode="External" Id="R92ca3370b0864f70" /><Relationship Type="http://schemas.openxmlformats.org/officeDocument/2006/relationships/hyperlink" Target="https://huggingface.co/spaces/bansal1234/Hirefit" TargetMode="External" Id="Rfeb533165c184bb8" /><Relationship Type="http://schemas.openxmlformats.org/officeDocument/2006/relationships/hyperlink" Target="https://github.com/bansalbhunesh/redrob-hirefit-ranker" TargetMode="External" Id="R934a5b0327124103" /><Relationship Type="http://schemas.openxmlformats.org/officeDocument/2006/relationships/notesSlide" Target="/ppt/notesSlides/notesSlide10.xml" Id="Rdd4cc6bfd5104fd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13284d798a12470d" /><Relationship Type="http://schemas.openxmlformats.org/officeDocument/2006/relationships/image" Target="/ppt/media/image3.png" Id="R32effc1b63af4dec" /><Relationship Type="http://schemas.openxmlformats.org/officeDocument/2006/relationships/hyperlink" Target="https://github.com/bansalbhunesh/redrob-hirefit-ranker" TargetMode="External" Id="R14373f89f0fe45e1" /><Relationship Type="http://schemas.openxmlformats.org/officeDocument/2006/relationships/hyperlink" Target="https://redrob-hirefit-ranker.onrender.com" TargetMode="External" Id="Ra9686fed8aaa4c0f" /><Relationship Type="http://schemas.openxmlformats.org/officeDocument/2006/relationships/hyperlink" Target="https://huggingface.co/spaces/bansal1234/Hirefit" TargetMode="External" Id="R96b3d9a4f7324e30" /><Relationship Type="http://schemas.openxmlformats.org/officeDocument/2006/relationships/notesSlide" Target="/ppt/notesSlides/notesSlide11.xml" Id="Raf885d95a12c4e1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4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8c57850144ae7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07EF7D-F249-4B27-8CBE-190327A7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306502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Project  ·  HireFit    |    Team  ·  Pakka</a:t>
            </a:r>
          </a:p>
        </p:txBody>
      </p:sp>
      <p:sp>
        <p:nvSp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04BF45C7-2C67-483B-91B9-F87E3349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8" y="3829050"/>
            <a:ext cx="852058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5250" tIns="66675" rIns="952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Problem Statement  ·  Rank the best 100 candidates from 100,000 profiles for a Senior AI Engineer role.</a:t>
            </a:r>
          </a:p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The system must remain offline, CPU-only, deterministic, and explainable.</a:t>
            </a:r>
          </a:p>
        </p:txBody>
      </p:sp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86603FAC-6854-4BB0-B20F-C2D1C280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88" y="347248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Team Leader  ·  Bhunesh Bansal</a:t>
            </a:r>
          </a:p>
        </p:txBody>
      </p:sp>
    </p:spTree>
    <p:extLst>
      <p:ext uri="{BB962C8B-B14F-4D97-AF65-F5344CB8AC3E}">
        <p14:creationId xmlns:p14="http://schemas.microsoft.com/office/powerpoint/2010/main" val="3137859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1" name="Google Shape;62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4ef159d61346e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25318EBB-9255-47B1-A6E3-CA0F725E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24030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Solution Overview</a:t>
            </a:r>
          </a:p>
        </p:txBody>
      </p:sp>
      <p:sp>
        <p:nvSp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E2B30FC-02DD-4390-AA4A-B05CAB4F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An evidence-first recruiter that reads careers and behaviour, ranks on proof, and explains every decision.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E626F67C-06CC-4E09-B22F-FEEF7A7C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100K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 pool</a:t>
            </a:r>
          </a:p>
        </p:txBody>
      </p:sp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8681B314-A422-4A55-9222-F9C5623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Top-100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03FA1D8A-757A-4C9F-904F-6D7C235D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~136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on 2 CPU</a:t>
            </a:r>
          </a:p>
        </p:txBody>
      </p:sp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9F2C9519-CC4E-42F0-B764-DB38019F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Traceable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base + rank steps</a:t>
            </a:r>
          </a:p>
        </p:txBody>
      </p:sp>
      <p:graphicFrame>
        <p:nvGraphicFramePr>
          <p:cNvPr id="78" name="Table 68"/>
          <p:cNvGraphicFramePr/>
          <p:nvPr/>
        </p:nvGraphicFramePr>
        <p:xfrm>
          <a:off xmlns:a="http://schemas.openxmlformats.org/drawingml/2006/main" x="457200" y="2880360"/>
          <a:ext xmlns:a="http://schemas.openxmlformats.org/drawingml/2006/main" cx="8229599" cy="192024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11965"/>
                <a:gridCol w="2862469"/>
                <a:gridCol w="4055165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Common public demos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HireFit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Matching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keywords or semantic similarity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evidence of shipped work (33 features)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Evaluation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often one score or a sample demo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career + skill + behaviour + logistics + integrity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varies; frequently undocumented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review flags + hard gates; 0 detector flags in top-100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Explainability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similarity score or generated rationale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exact evidence-base contributions + documented rank steps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Reproducibility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full-pool artifact often absent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byte-identical full-pool output; frozen SHA-256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5464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Google Shape;69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7bdfdad2bb0405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2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DFF39775-8AE9-47BE-98E3-3C0EC3B6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JD Understanding &amp; Candidate Evaluation</a:t>
            </a:r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E141E0C4-44BC-450A-8AD8-E49B10FC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JD lists keywords; the role hires for evidence. We translate requirements into signals that survive scrutiny.</a:t>
            </a:r>
          </a:p>
        </p:txBody>
      </p:sp>
      <p:graphicFrame>
        <p:nvGraphicFramePr>
          <p:cNvPr id="77" name="Table 71"/>
          <p:cNvGraphicFramePr/>
          <p:nvPr/>
        </p:nvGraphicFramePr>
        <p:xfrm>
          <a:off xmlns:a="http://schemas.openxmlformats.org/drawingml/2006/main" x="457200" y="1965960"/>
          <a:ext xmlns:a="http://schemas.openxmlformats.org/drawingml/2006/main" cx="8229599" cy="219456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05083"/>
                <a:gridCol w="4424516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JD says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role actually hires for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5-9 yrs; embeddings, retrieval, ranking, NLP, PyTorch/TensorFlow; India locations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demonstrated evidence of shipping production retrieval/ranking systems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list of AI skill keywords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production depth and verified application—not keyword count alone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candidate profile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role &amp; seniority alignment, availability &amp; recruiter-responsiveness, and profile 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7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6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81f293b1ce4e9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35F62A47-20AA-4F66-92A9-562DC029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Ranking Methodology</a:t>
            </a:r>
          </a:p>
        </p:txBody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CF17B53C-F7CD-47C4-A3D1-ACE9F4A5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Retrieve the credible field, score the evidence, then rank with a stable, inspectable sort.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CC3F49DF-C937-4EE2-BEED-108F2F9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1  RETRIEVE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 narrows 100K profiles to a credible field—fast, local, and CPU-only.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E6B45E45-3551-42AA-98DE-5C54809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2  VERIFY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33 named features measure career evidence, skill depth, behaviour, availability, and integrity.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6835A684-F4E6-4BBE-B9B9-5F9D35D0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3  RANK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A conservative RRF hedge and narrow, feature-only corrections produce a stable final order.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29F01CC-3288-4B58-9084-C33D86B1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114300" bIns="57150" anchor="ctr">
            <a:spAutoFit/>
          </a:bodyPr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base: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33 deterministic features computed from profile facts—not generated text.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Hard guardrails: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integrity-anomaly and JD-disqualifier multipliers act before the final sort.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Stable release: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clean integrity backfills and two narrow tie-breaks survived holdout testing.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output: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no hosted LLM or API at rank time; reasons use observed candidate facts only.</a:t>
            </a:r>
          </a:p>
        </p:txBody>
      </p:sp>
      <p:cxnSp>
        <p:nvCxnSpPr>
          <p:cNvPr id="93" name=""/>
          <p:cNvCxnSpPr>
            <a:stCxn xmlns:a="http://schemas.openxmlformats.org/drawingml/2006/main" id="79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3028950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80" idx="3"/>
            <a:endCxn xmlns:a="http://schemas.openxmlformats.org/drawingml/2006/main" id="81" idx="1"/>
          </p:cNvCxnSpPr>
          <p:nvPr/>
        </p:nvCxnSpPr>
        <p:spPr>
          <a:xfrm xmlns:a="http://schemas.openxmlformats.org/drawingml/2006/main">
            <a:off x="5857875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478329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83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4f2f78655144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F368DA71-5297-446B-981C-1EAC85D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Explainability &amp; Data Validation</a:t>
            </a:r>
          </a:p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AB34922-6F4F-43AF-89BB-C8B0DA4D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judge can trace the evidence score, the grounded reason, and every integrity decision.</a:t>
            </a: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E962992F-E551-4F77-B2FB-40620EF3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t">
            <a:normAutofit fontScale="78721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Verified explanation &amp; release checks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3F81BEFB-A880-4D90-8678-9657E46E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features</a:t>
            </a:r>
          </a:p>
        </p:txBody>
      </p:sp>
      <p:sp>
        <p:nvSpPr>
          <p:cNvPr id="88" name="Rounded Rectangle 87">
            <a:extLst xmlns:a="http://schemas.openxmlformats.org/drawingml/2006/main">
              <a:ext uri="{FF2B5EF4-FFF2-40B4-BE49-F238E27FC236}">
                <a16:creationId xmlns:a16="http://schemas.microsoft.com/office/drawing/2014/main" id="{7340F384-8BA1-42C4-897D-5F22373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4A8BD7E1-EA20-48CA-841B-FFEAD57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FCF6DC62-1352-434F-BA10-FCDB54F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42316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33</a:t>
            </a:r>
          </a:p>
        </p:txBody>
      </p:sp>
      <p:sp>
        <p:nvSpPr>
          <p:cNvPr id="91" name="TextBox 90">
            <a:extLst xmlns:a="http://schemas.openxmlformats.org/drawingml/2006/main">
              <a:ext uri="{FF2B5EF4-FFF2-40B4-BE49-F238E27FC236}">
                <a16:creationId xmlns:a16="http://schemas.microsoft.com/office/drawing/2014/main" id="{2CE68905-A2E7-4C28-A073-F226DCDB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0632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Top-100 reasons</a:t>
            </a:r>
          </a:p>
        </p:txBody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8EFD5D9F-13AA-4C16-91E8-21411D7B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8917F142-D5B6-478F-B9E9-77FCB701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1BF006E6-F319-4099-B5C4-5EC6A37A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770632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100</a:t>
            </a:r>
          </a:p>
        </p:txBody>
      </p:sp>
      <p:sp>
        <p:nvSpPr>
          <p:cNvPr id="95" name="TextBox 94">
            <a:extLst xmlns:a="http://schemas.openxmlformats.org/drawingml/2006/main">
              <a:ext uri="{FF2B5EF4-FFF2-40B4-BE49-F238E27FC236}">
                <a16:creationId xmlns:a16="http://schemas.microsoft.com/office/drawing/2014/main" id="{0B5CBF93-8038-41C2-B5C2-9222FA3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8104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signals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F9BE7332-ED9A-4C2F-B0EC-D9841359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48CB87CC-70E4-444E-939C-9E57DD6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08C8BDD-B347-4FC6-AEE7-9EC4E5F2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118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53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DC4BB006-F85B-4B26-8DA8-327C20C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65576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Flags shortlisted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7B14587C-26A0-4F1A-8C5F-7ADB100E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0A7FF76F-1F36-4BD0-8B09-54A0BFCB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2" name="TextBox 101">
            <a:extLst xmlns:a="http://schemas.openxmlformats.org/drawingml/2006/main">
              <a:ext uri="{FF2B5EF4-FFF2-40B4-BE49-F238E27FC236}">
                <a16:creationId xmlns:a16="http://schemas.microsoft.com/office/drawing/2014/main" id="{D6B764DC-EB60-4D26-ACE1-DE548C4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465576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</p:txBody>
      </p:sp>
      <p:sp>
        <p:nvSpPr>
          <p:cNvPr id="103" name="TextBox 102">
            <a:extLst xmlns:a="http://schemas.openxmlformats.org/drawingml/2006/main">
              <a:ext uri="{FF2B5EF4-FFF2-40B4-BE49-F238E27FC236}">
                <a16:creationId xmlns:a16="http://schemas.microsoft.com/office/drawing/2014/main" id="{236E8E36-E9DE-4DBF-AA35-0C5B1557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3048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output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315B9FDA-259D-40E0-AED4-55ED4433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BEA364B2-4256-4BB4-B527-4646A668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EF5D2C86-343B-441C-8611-4E97D27A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813048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8f7f…</a:t>
            </a:r>
          </a:p>
        </p:txBody>
      </p:sp>
      <p:sp>
        <p:nvSpPr>
          <p:cNvPr id="107" name="TextBox 106">
            <a:extLst xmlns:a="http://schemas.openxmlformats.org/drawingml/2006/main">
              <a:ext uri="{FF2B5EF4-FFF2-40B4-BE49-F238E27FC236}">
                <a16:creationId xmlns:a16="http://schemas.microsoft.com/office/drawing/2014/main" id="{46D0B348-CE93-4461-A13C-C2431525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Faithfulness test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1D663AFF-2A9D-4345-90B5-C96466F4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1462A00F-0E27-4460-8F51-ECD2041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TextBox 109">
            <a:extLst xmlns:a="http://schemas.openxmlformats.org/drawingml/2006/main">
              <a:ext uri="{FF2B5EF4-FFF2-40B4-BE49-F238E27FC236}">
                <a16:creationId xmlns:a16="http://schemas.microsoft.com/office/drawing/2014/main" id="{79B1D93F-B721-4630-BD1F-3AFF475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416052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PASS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BFBE4988-8943-4741-828B-28BA17E3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114550"/>
            <a:ext cx="3474720" cy="2865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57150" rIns="76200" bIns="381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EXACT ATTRIBUTION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Each feature’s additive term is its analytic Shapley value. The terms reconstruct the evidence score exactly.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GROUNDED REASONING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Candidate reasons use deterministic templates populated only from observed profile facts; no text generator runs at rank time.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INTEGRITY REVIEW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53 profiles were flagged for review; 0 entered the top 100. A flag is a review signal—not a fraud accusation.</a:t>
            </a:r>
          </a:p>
        </p:txBody>
      </p:sp>
    </p:spTree>
    <p:extLst>
      <p:ext uri="{BB962C8B-B14F-4D97-AF65-F5344CB8AC3E}">
        <p14:creationId xmlns:p14="http://schemas.microsoft.com/office/powerpoint/2010/main" val="3455737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9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22b9aed4db4e8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1" name="Google Shape;91;p18">
            <a:extLst xmlns:a="http://schemas.openxmlformats.org/drawingml/2006/main">
              <a:ext uri="{FF2B5EF4-FFF2-40B4-BE49-F238E27FC236}">
                <a16:creationId xmlns:a16="http://schemas.microsoft.com/office/drawing/2014/main" id="{2DF3653C-13E9-4F1C-911D-B39388F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End-to-End Workflow</a:t>
            </a:r>
          </a:p>
        </p:txBody>
      </p:sp>
      <p:sp>
        <p:nvSp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D49AA22-5C12-4BB7-931D-E9034DD9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One offline command turns 100,000 profiles into a validated, explained top-100.</a:t>
            </a: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3BFB7660-5E3A-4BEE-9145-05B6702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100K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profiles</a:t>
            </a:r>
          </a:p>
        </p:txBody>
      </p:sp>
      <p:sp>
        <p:nvSpPr>
          <p:cNvPr id="94" name="Rounded Rectangle 93">
            <a:extLst xmlns:a="http://schemas.openxmlformats.org/drawingml/2006/main">
              <a:ext uri="{FF2B5EF4-FFF2-40B4-BE49-F238E27FC236}">
                <a16:creationId xmlns:a16="http://schemas.microsoft.com/office/drawing/2014/main" id="{1AA6018D-F4A5-4994-AF8C-B5833813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credible field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0432A6AF-7DAB-48D3-A0C9-DC4398AE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features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evidence score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5FFF5B25-6690-406B-8582-460BD475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Integrity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hard gates</a:t>
            </a: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583C6ADC-3C15-4FF2-91D9-48AF6A85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RRF + evidence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rerank</a:t>
            </a:r>
          </a:p>
        </p:txBody>
      </p:sp>
      <p:sp>
        <p:nvSpPr>
          <p:cNvPr id="98" name="Rounded Rectangle 97">
            <a:extLst xmlns:a="http://schemas.openxmlformats.org/drawingml/2006/main">
              <a:ext uri="{FF2B5EF4-FFF2-40B4-BE49-F238E27FC236}">
                <a16:creationId xmlns:a16="http://schemas.microsoft.com/office/drawing/2014/main" id="{4D2967AF-6FC2-4509-800D-34106F81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Top 100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+ reasons</a:t>
            </a:r>
          </a:p>
        </p:txBody>
      </p:sp>
      <p:sp>
        <p:nvSpPr>
          <p:cNvPr id="99" name="Rounded Rectangle 98">
            <a:extLst xmlns:a="http://schemas.openxmlformats.org/drawingml/2006/main">
              <a:ext uri="{FF2B5EF4-FFF2-40B4-BE49-F238E27FC236}">
                <a16:creationId xmlns:a16="http://schemas.microsoft.com/office/drawing/2014/main" id="{08C60551-6907-499D-A789-ACE81E03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CSV + XLSX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validated output</a:t>
            </a:r>
          </a:p>
        </p:txBody>
      </p:sp>
      <p:sp>
        <p:nvSpPr>
          <p:cNvPr id="100" name="TextBox 99">
            <a:extLst xmlns:a="http://schemas.openxmlformats.org/drawingml/2006/main">
              <a:ext uri="{FF2B5EF4-FFF2-40B4-BE49-F238E27FC236}">
                <a16:creationId xmlns:a16="http://schemas.microsoft.com/office/drawing/2014/main" id="{7DDF8CEC-8BCD-416E-B47A-E68330F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8229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95250" bIns="5715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COMMAND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PYTHONHASHSEED=0 python rank.py --release --candidates candidates.jsonl --out submission.csv --workers 2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PUBLISH GATE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136 s pipeline • byte-identical SHA-256 8f7f30c6… • format, pool-membership, count, and integrity checks before atomic publish.</a:t>
            </a:r>
          </a:p>
        </p:txBody>
      </p:sp>
      <p:cxnSp>
        <p:nvCxnSpPr>
          <p:cNvPr id="119" name=""/>
          <p:cNvCxnSpPr>
            <a:stCxn xmlns:a="http://schemas.openxmlformats.org/drawingml/2006/main" id="93" idx="3"/>
            <a:endCxn xmlns:a="http://schemas.openxmlformats.org/drawingml/2006/main" id="94" idx="1"/>
          </p:cNvCxnSpPr>
          <p:nvPr/>
        </p:nvCxnSpPr>
        <p:spPr>
          <a:xfrm xmlns:a="http://schemas.openxmlformats.org/drawingml/2006/main">
            <a:off x="14859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94" idx="3"/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26860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95" idx="3"/>
            <a:endCxn xmlns:a="http://schemas.openxmlformats.org/drawingml/2006/main" id="96" idx="1"/>
          </p:cNvCxnSpPr>
          <p:nvPr/>
        </p:nvCxnSpPr>
        <p:spPr>
          <a:xfrm xmlns:a="http://schemas.openxmlformats.org/drawingml/2006/main">
            <a:off x="38862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96" idx="3"/>
            <a:endCxn xmlns:a="http://schemas.openxmlformats.org/drawingml/2006/main" id="97" idx="1"/>
          </p:cNvCxnSpPr>
          <p:nvPr/>
        </p:nvCxnSpPr>
        <p:spPr>
          <a:xfrm xmlns:a="http://schemas.openxmlformats.org/drawingml/2006/main">
            <a:off x="50863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62865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98" idx="3"/>
            <a:endCxn xmlns:a="http://schemas.openxmlformats.org/drawingml/2006/main" id="99" idx="1"/>
          </p:cNvCxnSpPr>
          <p:nvPr/>
        </p:nvCxnSpPr>
        <p:spPr>
          <a:xfrm xmlns:a="http://schemas.openxmlformats.org/drawingml/2006/main">
            <a:off x="74866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613588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9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c55f77ccda4b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8" name="Google Shape;98;p19">
            <a:extLst xmlns:a="http://schemas.openxmlformats.org/drawingml/2006/main">
              <a:ext uri="{FF2B5EF4-FFF2-40B4-BE49-F238E27FC236}">
                <a16:creationId xmlns:a16="http://schemas.microsoft.com/office/drawing/2014/main" id="{ED9F8F45-7B6F-440E-92A5-7CB3934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System Architecture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FF2DD385-742E-4838-84B0-5ECC684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4440"/>
            <a:ext cx="8229600" cy="563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Six CPU-only stages sit inside a fail-closed release envelope; optional ideas ship only when measurement supports them.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CC35721C-E216-4216-9C6D-25743A85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  PARSE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structured facts</a:t>
            </a: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AE9F0CF6-A31A-4301-AB31-0BDF7DB8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8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2  RETRIEVE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</p:txBody>
      </p:sp>
      <p:sp>
        <p:nvSpPr>
          <p:cNvPr id="102" name="Rounded Rectangle 101">
            <a:extLst xmlns:a="http://schemas.openxmlformats.org/drawingml/2006/main">
              <a:ext uri="{FF2B5EF4-FFF2-40B4-BE49-F238E27FC236}">
                <a16:creationId xmlns:a16="http://schemas.microsoft.com/office/drawing/2014/main" id="{8FDF18F4-84D8-4DFB-877D-C9C6874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36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  SEMANTIC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measured; opt-in</a:t>
            </a:r>
          </a:p>
        </p:txBody>
      </p:sp>
      <p:sp>
        <p:nvSpPr>
          <p:cNvPr id="103" name="Rounded Rectangle 102">
            <a:extLst xmlns:a="http://schemas.openxmlformats.org/drawingml/2006/main">
              <a:ext uri="{FF2B5EF4-FFF2-40B4-BE49-F238E27FC236}">
                <a16:creationId xmlns:a16="http://schemas.microsoft.com/office/drawing/2014/main" id="{3A58DE9B-390E-4A91-BA88-1DBDD7C8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4  FEATURES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signals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DE91398C-1864-44C4-8945-ECE0E982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52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5  SCORE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130 KB model</a:t>
            </a: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A9550497-8141-4152-A3B8-3CB1024E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6  GUARD + RANK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output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2C724DAB-C87D-4D96-9C58-FE4C9A2D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66675" rIns="95250" bIns="47625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FAIL-CLOSED RELEASE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Verifies input, model, backend, full-pool counts, integrity counts, and final output hash before atomic publish.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LIMITS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Quality figures are development proxies for one role, not official hidden labels. Human review remains required.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FAILURE SAFETY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A forced container OOM exits 137, preserves the prior output, and leaves no temporary publication file.</a:t>
            </a:r>
          </a:p>
        </p:txBody>
      </p:sp>
      <p:cxnSp>
        <p:nvCxnSpPr>
          <p:cNvPr id="123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167640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307848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102" idx="3"/>
            <a:endCxn xmlns:a="http://schemas.openxmlformats.org/drawingml/2006/main" id="103" idx="1"/>
          </p:cNvCxnSpPr>
          <p:nvPr/>
        </p:nvCxnSpPr>
        <p:spPr>
          <a:xfrm xmlns:a="http://schemas.openxmlformats.org/drawingml/2006/main">
            <a:off x="448056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6" name=""/>
          <p:cNvCxnSpPr>
            <a:stCxn xmlns:a="http://schemas.openxmlformats.org/drawingml/2006/main" id="103" idx="3"/>
            <a:endCxn xmlns:a="http://schemas.openxmlformats.org/drawingml/2006/main" id="104" idx="1"/>
          </p:cNvCxnSpPr>
          <p:nvPr/>
        </p:nvCxnSpPr>
        <p:spPr>
          <a:xfrm xmlns:a="http://schemas.openxmlformats.org/drawingml/2006/main">
            <a:off x="588264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7" name=""/>
          <p:cNvCxnSpPr>
            <a:stCxn xmlns:a="http://schemas.openxmlformats.org/drawingml/2006/main" id="104" idx="3"/>
            <a:endCxn xmlns:a="http://schemas.openxmlformats.org/drawingml/2006/main" id="105" idx="1"/>
          </p:cNvCxnSpPr>
          <p:nvPr/>
        </p:nvCxnSpPr>
        <p:spPr>
          <a:xfrm xmlns:a="http://schemas.openxmlformats.org/drawingml/2006/main">
            <a:off x="728472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4350218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3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923459e05c432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6D3D7E58-CABD-42A6-881B-C4369CBA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Results &amp; Performance</a:t>
            </a:r>
          </a:p>
        </p:txBody>
      </p:sp>
      <p:sp>
        <p:nvSpPr>
          <p:cNvPr id="105" name="Google Shape;105;p20">
            <a:extLst xmlns:a="http://schemas.openxmlformats.org/drawingml/2006/main">
              <a:ext uri="{FF2B5EF4-FFF2-40B4-BE49-F238E27FC236}">
                <a16:creationId xmlns:a16="http://schemas.microsoft.com/office/drawing/2014/main" id="{1EF43E54-3145-4CBD-AA0C-E7C6470A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005840"/>
            <a:ext cx="852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result is useful because quality, runtime, safety, and reproducibility can all be checked independently.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3F7BD72D-A578-485E-8840-A5CE8E6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RANKING QUALITY</a:t>
            </a:r>
          </a:p>
        </p:txBody>
      </p:sp>
      <p:sp>
        <p:nvSpPr>
          <p:cNvPr id="107" name="Rounded Rectangle 106">
            <a:extLst xmlns:a="http://schemas.openxmlformats.org/drawingml/2006/main">
              <a:ext uri="{FF2B5EF4-FFF2-40B4-BE49-F238E27FC236}">
                <a16:creationId xmlns:a16="http://schemas.microsoft.com/office/drawing/2014/main" id="{6600A26D-0F54-491B-A0C9-3FE2E18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100,000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candidates scored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5B358C1C-6A09-4D5F-8A63-0BFF42E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88BB360A-EDFA-470B-BF24-DFECD3D3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detector flags in top-100</a:t>
            </a:r>
          </a:p>
        </p:txBody>
      </p:sp>
      <p:sp>
        <p:nvSpPr>
          <p:cNvPr id="110" name="Rounded Rectangle 109">
            <a:extLst xmlns:a="http://schemas.openxmlformats.org/drawingml/2006/main">
              <a:ext uri="{FF2B5EF4-FFF2-40B4-BE49-F238E27FC236}">
                <a16:creationId xmlns:a16="http://schemas.microsoft.com/office/drawing/2014/main" id="{2A657E97-4C34-4226-A0C6-C05E0D3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1143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275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tests passed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39065B6D-52BD-4758-9B81-CBFB6A5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8036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RUNTIME &amp; COMPUTE</a:t>
            </a:r>
          </a:p>
        </p:txBody>
      </p:sp>
      <p:sp>
        <p:nvSpPr>
          <p:cNvPr id="112" name="Rounded Rectangle 111">
            <a:extLst xmlns:a="http://schemas.openxmlformats.org/drawingml/2006/main">
              <a:ext uri="{FF2B5EF4-FFF2-40B4-BE49-F238E27FC236}">
                <a16:creationId xmlns:a16="http://schemas.microsoft.com/office/drawing/2014/main" id="{27126F22-1E7F-4989-B398-F413B56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136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pipeline</a:t>
            </a:r>
          </a:p>
        </p:txBody>
      </p:sp>
      <p:sp>
        <p:nvSpPr>
          <p:cNvPr id="113" name="Rounded Rectangle 112">
            <a:extLst xmlns:a="http://schemas.openxmlformats.org/drawingml/2006/main">
              <a:ext uri="{FF2B5EF4-FFF2-40B4-BE49-F238E27FC236}">
                <a16:creationId xmlns:a16="http://schemas.microsoft.com/office/drawing/2014/main" id="{42D425CB-D457-4C5D-AD82-4BA90F3B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149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wall @ 2 CPU</a:t>
            </a:r>
          </a:p>
        </p:txBody>
      </p:sp>
      <p:sp>
        <p:nvSpPr>
          <p:cNvPr id="114" name="Rounded Rectangle 113">
            <a:extLst xmlns:a="http://schemas.openxmlformats.org/drawingml/2006/main">
              <a:ext uri="{FF2B5EF4-FFF2-40B4-BE49-F238E27FC236}">
                <a16:creationId xmlns:a16="http://schemas.microsoft.com/office/drawing/2014/main" id="{6DC8DB11-11B6-437D-A49B-C5F4D95E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~4.2 GB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peak memory</a:t>
            </a:r>
          </a:p>
        </p:txBody>
      </p:sp>
      <p:sp>
        <p:nvSpPr>
          <p:cNvPr id="115" name="Rounded Rectangle 114">
            <a:extLst xmlns:a="http://schemas.openxmlformats.org/drawingml/2006/main">
              <a:ext uri="{FF2B5EF4-FFF2-40B4-BE49-F238E27FC236}">
                <a16:creationId xmlns:a16="http://schemas.microsoft.com/office/drawing/2014/main" id="{11E4B2ED-2046-441D-B872-D84E6116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&lt; 300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budget, offline</a:t>
            </a:r>
          </a:p>
        </p:txBody>
      </p:sp>
      <p:sp>
        <p:nvSpPr>
          <p:cNvPr id="116" name="Rounded Rectangle 115">
            <a:extLst xmlns:a="http://schemas.openxmlformats.org/drawingml/2006/main">
              <a:ext uri="{FF2B5EF4-FFF2-40B4-BE49-F238E27FC236}">
                <a16:creationId xmlns:a16="http://schemas.microsoft.com/office/drawing/2014/main" id="{3A4DE8B1-3354-4147-B1A7-9E1F1418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Deterministic</a:t>
            </a:r>
          </a:p>
        </p:txBody>
      </p:sp>
      <p:sp>
        <p:nvSpPr>
          <p:cNvPr id="117" name="Rounded Rectangle 116">
            <a:extLst xmlns:a="http://schemas.openxmlformats.org/drawingml/2006/main">
              <a:ext uri="{FF2B5EF4-FFF2-40B4-BE49-F238E27FC236}">
                <a16:creationId xmlns:a16="http://schemas.microsoft.com/office/drawing/2014/main" id="{5D71E4CA-A4E4-48A2-AC52-AC4E27E1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SHA-256 8f7f30c6</a:t>
            </a:r>
          </a:p>
        </p:txBody>
      </p:sp>
      <p:sp>
        <p:nvSpPr>
          <p:cNvPr id="118" name="Rounded Rectangle 117">
            <a:extLst xmlns:a="http://schemas.openxmlformats.org/drawingml/2006/main">
              <a:ext uri="{FF2B5EF4-FFF2-40B4-BE49-F238E27FC236}">
                <a16:creationId xmlns:a16="http://schemas.microsoft.com/office/drawing/2014/main" id="{AC3F19BD-FDC5-499A-BC5B-A37E8CB0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CPU-only / offline</a:t>
            </a:r>
          </a:p>
        </p:txBody>
      </p:sp>
      <p:sp>
        <p:nvSpPr>
          <p:cNvPr id="119" name="Rounded Rectangle 118">
            <a:extLst xmlns:a="http://schemas.openxmlformats.org/drawingml/2006/main">
              <a:ext uri="{FF2B5EF4-FFF2-40B4-BE49-F238E27FC236}">
                <a16:creationId xmlns:a16="http://schemas.microsoft.com/office/drawing/2014/main" id="{A6463F85-885B-4A21-8A17-92CFC15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Validator passed</a:t>
            </a:r>
          </a:p>
        </p:txBody>
      </p:sp>
      <p:sp>
        <p:nvSpPr>
          <p:cNvPr id="120" name="Rounded Rectangle 119">
            <a:extLst xmlns:a="http://schemas.openxmlformats.org/drawingml/2006/main">
              <a:ext uri="{FF2B5EF4-FFF2-40B4-BE49-F238E27FC236}">
                <a16:creationId xmlns:a16="http://schemas.microsoft.com/office/drawing/2014/main" id="{A5A19D4A-D039-4C5C-8309-E4AF9B4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0 detector flags</a:t>
            </a:r>
          </a:p>
        </p:txBody>
      </p:sp>
      <p:sp>
        <p:nvSpPr>
          <p:cNvPr id="121" name="Rounded Rectangle 120">
            <a:extLst xmlns:a="http://schemas.openxmlformats.org/drawingml/2006/main">
              <a:ext uri="{FF2B5EF4-FFF2-40B4-BE49-F238E27FC236}">
                <a16:creationId xmlns:a16="http://schemas.microsoft.com/office/drawing/2014/main" id="{BDC9FBCE-E21B-405C-A76D-AA651BC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No hidden-score claim</a:t>
            </a:r>
          </a:p>
        </p:txBody>
      </p:sp>
    </p:spTree>
    <p:extLst>
      <p:ext uri="{BB962C8B-B14F-4D97-AF65-F5344CB8AC3E}">
        <p14:creationId xmlns:p14="http://schemas.microsoft.com/office/powerpoint/2010/main" val="12124081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0" name="Google Shape;110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a58910b7db4e7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37A64412-E57D-43C1-9FDC-DD059DC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Technologies Used</a:t>
            </a:r>
          </a:p>
        </p:txBody>
      </p:sp>
      <p:sp>
        <p:nvSpPr>
          <p:cNvPr id="112" name="Google Shape;112;p21">
            <a:extLst xmlns:a="http://schemas.openxmlformats.org/drawingml/2006/main">
              <a:ext uri="{FF2B5EF4-FFF2-40B4-BE49-F238E27FC236}">
                <a16:creationId xmlns:a16="http://schemas.microsoft.com/office/drawing/2014/main" id="{8521B727-A2E5-426D-A3EF-2B0D532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Every dependency earns its place: fast on CPU, offline at rank time, deterministic, and easy to reproduce.</a:t>
            </a: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67EB2090-3895-4102-8D0E-EB2E7C0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524125" cy="490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76200" rIns="133350" bIns="5715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RANKING CORE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3.11 + NumPy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Deterministic CPU numerics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bm25s + fallback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 lexical retrieval over 100K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130 KB NumPy model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No GPU or PyTorch dependency</a:t>
            </a:r>
          </a:p>
        </p:txBody>
      </p:sp>
      <p:sp>
        <p:nvSpPr>
          <p:cNvPr id="115" name="technology-divider-1">
            <a:extLst xmlns:a="http://schemas.openxmlformats.org/drawingml/2006/main">
              <a:ext uri="{FF2B5EF4-FFF2-40B4-BE49-F238E27FC236}">
                <a16:creationId xmlns:a16="http://schemas.microsoft.com/office/drawing/2014/main" id="{944A63CF-23B8-40C4-93F7-7096A3E0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echnology-divider-2">
            <a:extLst xmlns:a="http://schemas.openxmlformats.org/drawingml/2006/main">
              <a:ext uri="{FF2B5EF4-FFF2-40B4-BE49-F238E27FC236}">
                <a16:creationId xmlns:a16="http://schemas.microsoft.com/office/drawing/2014/main" id="{2BE3FA9D-BF24-4278-829F-C459DD089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echnology-live-delivery">
            <a:extLst xmlns:a="http://schemas.openxmlformats.org/drawingml/2006/main">
              <a:ext uri="{FF2B5EF4-FFF2-40B4-BE49-F238E27FC236}">
                <a16:creationId xmlns:a16="http://schemas.microsoft.com/office/drawing/2014/main" id="{29C1A262-6737-4D9D-8178-A28569A5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09750"/>
            <a:ext cx="2524125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333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LIVE DELIVERY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FastAPI + static UI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Recruiter decision room on Render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Gradio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Inspectable Hugging Face sandbox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live surfaces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consistent ranking story</a:t>
            </a:r>
          </a:p>
        </p:txBody>
      </p:sp>
      <p:sp>
        <p:nvSpPr>
          <p:cNvPr id="118" name="technology-release-proof">
            <a:extLst xmlns:a="http://schemas.openxmlformats.org/drawingml/2006/main">
              <a:ext uri="{FF2B5EF4-FFF2-40B4-BE49-F238E27FC236}">
                <a16:creationId xmlns:a16="http://schemas.microsoft.com/office/drawing/2014/main" id="{6073AECD-03BC-43D5-8BC4-9A18A93C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25717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952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RELEASE PROOF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Pinned environment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Docker digest + dependency hashes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275 checks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All collected checks pass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release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Output hash + 2K behaviour gate</a:t>
            </a:r>
          </a:p>
        </p:txBody>
      </p:sp>
      <p:sp>
        <p:nvSpPr>
          <p:cNvPr id="119" name="technology-decision-rule">
            <a:extLst xmlns:a="http://schemas.openxmlformats.org/drawingml/2006/main">
              <a:ext uri="{FF2B5EF4-FFF2-40B4-BE49-F238E27FC236}">
                <a16:creationId xmlns:a16="http://schemas.microsoft.com/office/drawing/2014/main" id="{7D0D0293-A5AE-4867-8A2D-E06056B00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0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deliberately small stack keeps every run fast, reproducible, and easy for judges to inspect.</a:t>
            </a:r>
          </a:p>
        </p:txBody>
      </p:sp>
    </p:spTree>
    <p:extLst>
      <p:ext uri="{BB962C8B-B14F-4D97-AF65-F5344CB8AC3E}">
        <p14:creationId xmlns:p14="http://schemas.microsoft.com/office/powerpoint/2010/main" val="13166084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8" name="Google Shape;117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b9aae5d173458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3E5EBC91-9578-4D9E-99EA-B082AF4E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Submission Assets</a:t>
            </a:r>
          </a:p>
        </p:txBody>
      </p:sp>
      <p:sp>
        <p:nvSpPr>
          <p:cNvPr id="119" name="Google Shape;119;p22">
            <a:extLst xmlns:a="http://schemas.openxmlformats.org/drawingml/2006/main">
              <a:ext uri="{FF2B5EF4-FFF2-40B4-BE49-F238E27FC236}">
                <a16:creationId xmlns:a16="http://schemas.microsoft.com/office/drawing/2014/main" id="{A1D8EB68-7B2A-49EC-A44F-518DFCA8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11430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TRY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92ca3370b0864f70"/>
              </a:rPr>
              <a:t>Render decision room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the ranked shortlist and evidence.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feb533165c184bb8"/>
              </a:rPr>
              <a:t>Hugging Face sandbox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Run the inspectable demo surface.</a:t>
            </a:r>
          </a:p>
        </p:txBody>
      </p:sp>
      <p:sp>
        <p:nvSpPr>
          <p:cNvPr id="121" name="assets-subtitle">
            <a:extLst xmlns:a="http://schemas.openxmlformats.org/drawingml/2006/main">
              <a:ext uri="{FF2B5EF4-FFF2-40B4-BE49-F238E27FC236}">
                <a16:creationId xmlns:a16="http://schemas.microsoft.com/office/drawing/2014/main" id="{A0BBA4E4-23C3-4698-877E-8EC558BA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822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088">
                <a:solidFill>
                  <a:srgbClr val="687078"/>
                </a:solidFill>
                <a:latin typeface="Arial"/>
                <a:ea typeface="Arial"/>
                <a:cs typeface="Arial"/>
              </a:rPr>
              <a:t>A complete judge path: experience the product, inspect the proof, reproduce the output, then present the result.</a:t>
            </a:r>
          </a:p>
        </p:txBody>
      </p:sp>
      <p:sp>
        <p:nvSpPr>
          <p:cNvPr id="122" name="assets-divider-1">
            <a:extLst xmlns:a="http://schemas.openxmlformats.org/drawingml/2006/main">
              <a:ext uri="{FF2B5EF4-FFF2-40B4-BE49-F238E27FC236}">
                <a16:creationId xmlns:a16="http://schemas.microsoft.com/office/drawing/2014/main" id="{D964D9A2-AB5E-4BCA-B3E7-F39E2325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assets-divider-2">
            <a:extLst xmlns:a="http://schemas.openxmlformats.org/drawingml/2006/main">
              <a:ext uri="{FF2B5EF4-FFF2-40B4-BE49-F238E27FC236}">
                <a16:creationId xmlns:a16="http://schemas.microsoft.com/office/drawing/2014/main" id="{D08FDD02-155B-4974-9E89-B5FC6985B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assets-divider-3">
            <a:extLst xmlns:a="http://schemas.openxmlformats.org/drawingml/2006/main">
              <a:ext uri="{FF2B5EF4-FFF2-40B4-BE49-F238E27FC236}">
                <a16:creationId xmlns:a16="http://schemas.microsoft.com/office/drawing/2014/main" id="{753ACB55-DC3B-49AB-BCBE-A9F38E12A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assets-verify">
            <a:extLst xmlns:a="http://schemas.openxmlformats.org/drawingml/2006/main">
              <a:ext uri="{FF2B5EF4-FFF2-40B4-BE49-F238E27FC236}">
                <a16:creationId xmlns:a16="http://schemas.microsoft.com/office/drawing/2014/main" id="{8C486A67-A561-4213-8F14-160AF3D0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VERIFY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934a5b0327124103"/>
              </a:rPr>
              <a:t>Open source repository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Read the code, tests, and README.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Judge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docs/JUDGE_PROOF.md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rank.py --release</a:t>
            </a:r>
          </a:p>
        </p:txBody>
      </p:sp>
      <p:sp>
        <p:nvSpPr>
          <p:cNvPr id="126" name="assets-download">
            <a:extLst xmlns:a="http://schemas.openxmlformats.org/drawingml/2006/main">
              <a:ext uri="{FF2B5EF4-FFF2-40B4-BE49-F238E27FC236}">
                <a16:creationId xmlns:a16="http://schemas.microsoft.com/office/drawing/2014/main" id="{0D86387B-1833-4415-85F3-F38B5FC1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DOWNLOAD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submission.csv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Predefined top-100 format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ranked_top100.xlsx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reasons for review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Validator passed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SHA-256 8f7f30c6…</a:t>
            </a:r>
          </a:p>
        </p:txBody>
      </p:sp>
      <p:sp>
        <p:nvSpPr>
          <p:cNvPr id="127" name="assets-present">
            <a:extLst xmlns:a="http://schemas.openxmlformats.org/drawingml/2006/main">
              <a:ext uri="{FF2B5EF4-FFF2-40B4-BE49-F238E27FC236}">
                <a16:creationId xmlns:a16="http://schemas.microsoft.com/office/drawing/2014/main" id="{83A4C2DE-9A41-4DB0-BC00-E5108153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04 / PRESENT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90-second demo flow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 → validate → rank → explain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Presenter guide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docs/DEMO_SCRIPT.md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Close with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Live links + deterministic result</a:t>
            </a:r>
          </a:p>
        </p:txBody>
      </p:sp>
    </p:spTree>
    <p:extLst>
      <p:ext uri="{BB962C8B-B14F-4D97-AF65-F5344CB8AC3E}">
        <p14:creationId xmlns:p14="http://schemas.microsoft.com/office/powerpoint/2010/main" val="16700758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2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2effc1b63af4d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" name="closing-verification-panel">
            <a:extLst xmlns:a="http://schemas.openxmlformats.org/drawingml/2006/main">
              <a:ext uri="{FF2B5EF4-FFF2-40B4-BE49-F238E27FC236}">
                <a16:creationId xmlns:a16="http://schemas.microsoft.com/office/drawing/2014/main" id="{25B1A0B7-7BE3-45EC-8827-E82537BE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14825"/>
            <a:ext cx="676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D1238"/>
          </a:solidFill>
          <a:ln xmlns:a="http://schemas.openxmlformats.org/drawingml/2006/main" w="9525">
            <a:solidFill>
              <a:srgbClr val="DCCBFF"/>
            </a:solidFill>
            <a:prstDash val="solid"/>
          </a:ln>
        </p:spPr>
        <p:txBody>
          <a:bodyPr xmlns:a="http://schemas.openxmlformats.org/drawingml/2006/main" lIns="95250" tIns="66675" rIns="95250" bIns="47625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VERIFY IT YOURSELF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14373f89f0fe45e1"/>
              </a:rPr>
              <a:t>github.com/bansalbhunesh/redrob-hirefit-ranker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LIVE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a9686fed8aaa4c0f"/>
              </a:rPr>
              <a:t>redrob-hirefit-ranker.onrender.com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</a:rPr>
              <a:t>  •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96b3d9a4f7324e30"/>
              </a:rPr>
              <a:t>huggingface.co/spaces/bansal1234/Hirefit</a:t>
            </a:r>
          </a:p>
        </p:txBody>
      </p:sp>
    </p:spTree>
    <p:extLst>
      <p:ext uri="{BB962C8B-B14F-4D97-AF65-F5344CB8AC3E}">
        <p14:creationId xmlns:p14="http://schemas.microsoft.com/office/powerpoint/2010/main" val="167636853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2026-07-01T21:29:26.9120000Z</dcterms:created>
  <dcterms:modified xsi:type="dcterms:W3CDTF">2026-07-01T21:29:26.9130000Z</dcterms:modified>
</coreProperties>
</file>