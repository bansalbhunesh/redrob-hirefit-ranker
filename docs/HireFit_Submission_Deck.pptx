
<file path=[Content_Types].xml><?xml version="1.0" encoding="utf-8"?>
<Types xmlns="http://schemas.openxmlformats.org/package/2006/content-types">
  <Default Extension="xml" ContentType="application/vnd.openxmlformats-package.core-properties+xml"/>
  <Default Extension="dat" ContentType="application/x-fontdata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d7644a3f22f4e42" /><Relationship Type="http://schemas.openxmlformats.org/officeDocument/2006/relationships/extended-properties" Target="/docProps/app.xml" Id="R8e6fc90cb3e749ab" /><Relationship Type="http://schemas.openxmlformats.org/officeDocument/2006/relationships/officeDocument" Target="/ppt/presentation.xml" Id="R7f415c51618f46ec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bc45022cb6354b71"/>
  </p:sldMasterIdLst>
  <p:notesMasterIdLst>
    <p:notesMasterId xmlns:r="http://schemas.openxmlformats.org/officeDocument/2006/relationships" r:id="R8c2cb91933354cce"/>
  </p:notesMasterIdLst>
  <p:sldIdLst>
    <p:sldId xmlns:r="http://schemas.openxmlformats.org/officeDocument/2006/relationships" id="256" r:id="R06d1b32663c4450a"/>
    <p:sldId xmlns:r="http://schemas.openxmlformats.org/officeDocument/2006/relationships" id="257" r:id="R3ae51a0f5b52422f"/>
    <p:sldId xmlns:r="http://schemas.openxmlformats.org/officeDocument/2006/relationships" id="258" r:id="Rd127832854f24a96"/>
    <p:sldId xmlns:r="http://schemas.openxmlformats.org/officeDocument/2006/relationships" id="259" r:id="R6f794b61bb1f4aad"/>
    <p:sldId xmlns:r="http://schemas.openxmlformats.org/officeDocument/2006/relationships" id="260" r:id="Re8dd09c5c4de4082"/>
    <p:sldId xmlns:r="http://schemas.openxmlformats.org/officeDocument/2006/relationships" id="261" r:id="R0a63bf0a622c4d7c"/>
    <p:sldId xmlns:r="http://schemas.openxmlformats.org/officeDocument/2006/relationships" id="262" r:id="Rda0da0f4b2c943e8"/>
    <p:sldId xmlns:r="http://schemas.openxmlformats.org/officeDocument/2006/relationships" id="263" r:id="R7b0684466e2944fc"/>
    <p:sldId xmlns:r="http://schemas.openxmlformats.org/officeDocument/2006/relationships" id="264" r:id="R2465c2d96c6140f9"/>
    <p:sldId xmlns:r="http://schemas.openxmlformats.org/officeDocument/2006/relationships" id="265" r:id="R6d4ae1b1da7f4d99"/>
    <p:sldId xmlns:r="http://schemas.openxmlformats.org/officeDocument/2006/relationships" id="266" r:id="Rf6736f59657947c5"/>
  </p:sldIdLst>
  <p:sldSz cx="9144000" cy="5143500"/>
  <p:notesSz cx="6858000" cy="9144000"/>
  <p:embeddedFontLst>
    <p:embeddedFont>
      <p:font typeface="Manrope SemiBold"/>
      <p:regular xmlns:r="http://schemas.openxmlformats.org/officeDocument/2006/relationships" r:id="Rd4b45373426a41ac"/>
      <p:bold xmlns:r="http://schemas.openxmlformats.org/officeDocument/2006/relationships" r:id="Rc602ecafd9924122"/>
    </p:embeddedFont>
    <p:embeddedFont>
      <p:font typeface="Manrope ExtraBold"/>
      <p:bold xmlns:r="http://schemas.openxmlformats.org/officeDocument/2006/relationships" r:id="R85e6e53a76aa44fe"/>
    </p:embeddedFont>
  </p:embeddedFontLst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92df04e943d49b6" /><Relationship Type="http://schemas.openxmlformats.org/officeDocument/2006/relationships/slideMaster" Target="/ppt/slideMasters/slideMaster1.xml" Id="Rbc45022cb6354b71" /><Relationship Type="http://schemas.openxmlformats.org/officeDocument/2006/relationships/notesMaster" Target="/ppt/notesMasters/notesMaster1.xml" Id="R8c2cb91933354cce" /><Relationship Type="http://schemas.openxmlformats.org/officeDocument/2006/relationships/presProps" Target="/ppt/presProps.xml" Id="Rccc38a33d4474aa3" /><Relationship Type="http://schemas.openxmlformats.org/officeDocument/2006/relationships/tableStyles" Target="/ppt/tableStyles.xml" Id="Rf4f6c14e1dc04386" /><Relationship Type="http://schemas.openxmlformats.org/officeDocument/2006/relationships/font" Target="/ppt/fonts/font.dat" Id="Rd4b45373426a41ac" /><Relationship Type="http://schemas.openxmlformats.org/officeDocument/2006/relationships/font" Target="/ppt/fonts/font2.dat" Id="Rc602ecafd9924122" /><Relationship Type="http://schemas.openxmlformats.org/officeDocument/2006/relationships/font" Target="/ppt/fonts/font3.dat" Id="R85e6e53a76aa44fe" /><Relationship Type="http://schemas.openxmlformats.org/officeDocument/2006/relationships/slide" Target="/ppt/slides/slide1.xml" Id="R06d1b32663c4450a" /><Relationship Type="http://schemas.openxmlformats.org/officeDocument/2006/relationships/slide" Target="/ppt/slides/slide2.xml" Id="R3ae51a0f5b52422f" /><Relationship Type="http://schemas.openxmlformats.org/officeDocument/2006/relationships/slide" Target="/ppt/slides/slide3.xml" Id="Rd127832854f24a96" /><Relationship Type="http://schemas.openxmlformats.org/officeDocument/2006/relationships/slide" Target="/ppt/slides/slide4.xml" Id="R6f794b61bb1f4aad" /><Relationship Type="http://schemas.openxmlformats.org/officeDocument/2006/relationships/slide" Target="/ppt/slides/slide5.xml" Id="Re8dd09c5c4de4082" /><Relationship Type="http://schemas.openxmlformats.org/officeDocument/2006/relationships/slide" Target="/ppt/slides/slide6.xml" Id="R0a63bf0a622c4d7c" /><Relationship Type="http://schemas.openxmlformats.org/officeDocument/2006/relationships/slide" Target="/ppt/slides/slide7.xml" Id="Rda0da0f4b2c943e8" /><Relationship Type="http://schemas.openxmlformats.org/officeDocument/2006/relationships/slide" Target="/ppt/slides/slide8.xml" Id="R7b0684466e2944fc" /><Relationship Type="http://schemas.openxmlformats.org/officeDocument/2006/relationships/slide" Target="/ppt/slides/slide9.xml" Id="R2465c2d96c6140f9" /><Relationship Type="http://schemas.openxmlformats.org/officeDocument/2006/relationships/slide" Target="/ppt/slides/slide10.xml" Id="R6d4ae1b1da7f4d99" /><Relationship Type="http://schemas.openxmlformats.org/officeDocument/2006/relationships/slide" Target="/ppt/slides/slide11.xml" Id="Rf6736f59657947c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8c170dfd9b242e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2fd7f84678f4e3d" /><Relationship Type="http://schemas.openxmlformats.org/officeDocument/2006/relationships/notesMaster" Target="/ppt/notesMasters/notesMaster1.xml" Id="R1923e2729e984d5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e8407fd97c34deb" /><Relationship Type="http://schemas.openxmlformats.org/officeDocument/2006/relationships/notesMaster" Target="/ppt/notesMasters/notesMaster1.xml" Id="Re4a81a5713e3440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226e920c58e4981" /><Relationship Type="http://schemas.openxmlformats.org/officeDocument/2006/relationships/notesMaster" Target="/ppt/notesMasters/notesMaster1.xml" Id="Rd6e0710ef10d459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7efce42b9eb427c" /><Relationship Type="http://schemas.openxmlformats.org/officeDocument/2006/relationships/notesMaster" Target="/ppt/notesMasters/notesMaster1.xml" Id="Rde8714e006bf440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2e002d6d3c04b86" /><Relationship Type="http://schemas.openxmlformats.org/officeDocument/2006/relationships/notesMaster" Target="/ppt/notesMasters/notesMaster1.xml" Id="R5320b846cf5d4d5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2d8fe4e7d394c68" /><Relationship Type="http://schemas.openxmlformats.org/officeDocument/2006/relationships/notesMaster" Target="/ppt/notesMasters/notesMaster1.xml" Id="Rf2c14fe248a04be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b8fec9ece564656" /><Relationship Type="http://schemas.openxmlformats.org/officeDocument/2006/relationships/notesMaster" Target="/ppt/notesMasters/notesMaster1.xml" Id="Ra9fe88ac104f442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3cd25819dff427a" /><Relationship Type="http://schemas.openxmlformats.org/officeDocument/2006/relationships/notesMaster" Target="/ppt/notesMasters/notesMaster1.xml" Id="Rd8066020277c4a4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58546fb55a84654" /><Relationship Type="http://schemas.openxmlformats.org/officeDocument/2006/relationships/notesMaster" Target="/ppt/notesMasters/notesMaster1.xml" Id="R85448af6fd204ef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fef2d6da9d14cce" /><Relationship Type="http://schemas.openxmlformats.org/officeDocument/2006/relationships/notesMaster" Target="/ppt/notesMasters/notesMaster1.xml" Id="R83743adfb176454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80f254eb962482b" /><Relationship Type="http://schemas.openxmlformats.org/officeDocument/2006/relationships/notesMaster" Target="/ppt/notesMasters/notesMaster1.xml" Id="Rfba378741f574b7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333a0c539f44ac4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845ed5d8b184a4a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f620c4fe0b040d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9dcfa2734b44f52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28b933e7584450e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e8633b022c2458c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3f5b87b5a8440e7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09677d1a20042d3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d648c05f7b140b5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af04294a0b5466e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b051e702a09498e" /></Relationships>
</file>

<file path=ppt/slideLayouts/slideLayout1.xml><?xml version="1.0" encoding="utf-8"?>
<p:sldLayout xmlns:p="http://schemas.openxmlformats.org/presentationml/2006/main" matchingName="Title slide" type="title">
  <p:cSld name="TITL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Google Shape;10;p2">
            <a:extLst xmlns:a="http://schemas.openxmlformats.org/drawingml/2006/main">
              <a:ext uri="{FF2B5EF4-FFF2-40B4-BE49-F238E27FC236}">
                <a16:creationId xmlns:a16="http://schemas.microsoft.com/office/drawing/2014/main" id="{A58FFF25-6F9C-407A-92CC-C394178EDDB4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311708" y="744575"/>
            <a:ext cx="8520600" cy="2052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 sz="5200"/>
            </a:lvl1pPr>
            <a:lvl2pPr algn="ctr">
              <a:spcBef>
                <a:spcPts val="0"/>
              </a:spcBef>
              <a:spcAft>
                <a:spcPts val="0"/>
              </a:spcAft>
              <a:buNone/>
              <a:defRPr sz="5200"/>
            </a:lvl2pPr>
            <a:lvl3pPr algn="ctr">
              <a:spcBef>
                <a:spcPts val="0"/>
              </a:spcBef>
              <a:spcAft>
                <a:spcPts val="0"/>
              </a:spcAft>
              <a:buNone/>
              <a:defRPr sz="5200"/>
            </a:lvl3pPr>
            <a:lvl4pPr algn="ctr">
              <a:spcBef>
                <a:spcPts val="0"/>
              </a:spcBef>
              <a:spcAft>
                <a:spcPts val="0"/>
              </a:spcAft>
              <a:buNone/>
              <a:defRPr sz="5200"/>
            </a:lvl4pPr>
            <a:lvl5pPr algn="ctr">
              <a:spcBef>
                <a:spcPts val="0"/>
              </a:spcBef>
              <a:spcAft>
                <a:spcPts val="0"/>
              </a:spcAft>
              <a:buNone/>
              <a:defRPr sz="5200"/>
            </a:lvl5pPr>
            <a:lvl6pPr algn="ctr">
              <a:spcBef>
                <a:spcPts val="0"/>
              </a:spcBef>
              <a:spcAft>
                <a:spcPts val="0"/>
              </a:spcAft>
              <a:buNone/>
              <a:defRPr sz="5200"/>
            </a:lvl6pPr>
            <a:lvl7pPr algn="ctr">
              <a:spcBef>
                <a:spcPts val="0"/>
              </a:spcBef>
              <a:spcAft>
                <a:spcPts val="0"/>
              </a:spcAft>
              <a:buNone/>
              <a:defRPr sz="5200"/>
            </a:lvl7pPr>
            <a:lvl8pPr algn="ctr">
              <a:spcBef>
                <a:spcPts val="0"/>
              </a:spcBef>
              <a:spcAft>
                <a:spcPts val="0"/>
              </a:spcAft>
              <a:buNone/>
              <a:defRPr sz="5200"/>
            </a:lvl8pPr>
            <a:lvl9pPr algn="ctr">
              <a:spcBef>
                <a:spcPts val="0"/>
              </a:spcBef>
              <a:spcAft>
                <a:spcPts val="0"/>
              </a:spcAft>
              <a:buNone/>
              <a:defRPr sz="5200"/>
            </a:lvl9pPr>
          </a:lstStyle>
          <a:p xmlns:a="http://schemas.openxmlformats.org/drawingml/2006/main"/>
        </p:txBody>
      </p:sp>
      <p:sp>
        <p:nvSpPr>
          <p:cNvPr id="11" name="Google Shape;11;p2">
            <a:extLst xmlns:a="http://schemas.openxmlformats.org/drawingml/2006/main">
              <a:ext uri="{FF2B5EF4-FFF2-40B4-BE49-F238E27FC236}">
                <a16:creationId xmlns:a16="http://schemas.microsoft.com/office/drawing/2014/main" id="{57C5A472-7A84-4368-8DE6-E1C4300B5E30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311700" y="2834125"/>
            <a:ext cx="8520600" cy="792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9pPr>
          </a:lstStyle>
          <a:p xmlns:a="http://schemas.openxmlformats.org/drawingml/2006/main"/>
        </p:txBody>
      </p:sp>
      <p:sp>
        <p:nvSpPr>
          <p:cNvPr id="12" name="Google Shape;12;p2">
            <a:extLst xmlns:a="http://schemas.openxmlformats.org/drawingml/2006/main">
              <a:ext uri="{FF2B5EF4-FFF2-40B4-BE49-F238E27FC236}">
                <a16:creationId xmlns:a16="http://schemas.microsoft.com/office/drawing/2014/main" id="{CF5AA4D7-A959-4CD3-A8BD-953A1924EDF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matchingName="Section header" type="secHead">
  <p:cSld name="SECTION_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Google Shape;14;p3">
            <a:extLst xmlns:a="http://schemas.openxmlformats.org/drawingml/2006/main">
              <a:ext uri="{FF2B5EF4-FFF2-40B4-BE49-F238E27FC236}">
                <a16:creationId xmlns:a16="http://schemas.microsoft.com/office/drawing/2014/main" id="{62ECC082-5C19-4514-943D-4BAE8C86A02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2150850"/>
            <a:ext cx="8520600" cy="841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 sz="3600"/>
            </a:lvl1pPr>
            <a:lvl2pPr algn="ctr">
              <a:spcBef>
                <a:spcPts val="0"/>
              </a:spcBef>
              <a:spcAft>
                <a:spcPts val="0"/>
              </a:spcAft>
              <a:buNone/>
              <a:defRPr sz="3600"/>
            </a:lvl2pPr>
            <a:lvl3pPr algn="ctr">
              <a:spcBef>
                <a:spcPts val="0"/>
              </a:spcBef>
              <a:spcAft>
                <a:spcPts val="0"/>
              </a:spcAft>
              <a:buNone/>
              <a:defRPr sz="3600"/>
            </a:lvl3pPr>
            <a:lvl4pPr algn="ctr">
              <a:spcBef>
                <a:spcPts val="0"/>
              </a:spcBef>
              <a:spcAft>
                <a:spcPts val="0"/>
              </a:spcAft>
              <a:buNone/>
              <a:defRPr sz="3600"/>
            </a:lvl4pPr>
            <a:lvl5pPr algn="ctr">
              <a:spcBef>
                <a:spcPts val="0"/>
              </a:spcBef>
              <a:spcAft>
                <a:spcPts val="0"/>
              </a:spcAft>
              <a:buNone/>
              <a:defRPr sz="3600"/>
            </a:lvl5pPr>
            <a:lvl6pPr algn="ctr">
              <a:spcBef>
                <a:spcPts val="0"/>
              </a:spcBef>
              <a:spcAft>
                <a:spcPts val="0"/>
              </a:spcAft>
              <a:buNone/>
              <a:defRPr sz="3600"/>
            </a:lvl6pPr>
            <a:lvl7pPr algn="ctr">
              <a:spcBef>
                <a:spcPts val="0"/>
              </a:spcBef>
              <a:spcAft>
                <a:spcPts val="0"/>
              </a:spcAft>
              <a:buNone/>
              <a:defRPr sz="3600"/>
            </a:lvl7pPr>
            <a:lvl8pPr algn="ctr">
              <a:spcBef>
                <a:spcPts val="0"/>
              </a:spcBef>
              <a:spcAft>
                <a:spcPts val="0"/>
              </a:spcAft>
              <a:buNone/>
              <a:defRPr sz="3600"/>
            </a:lvl8pPr>
            <a:lvl9pPr algn="ctr">
              <a:spcBef>
                <a:spcPts val="0"/>
              </a:spcBef>
              <a:spcAft>
                <a:spcPts val="0"/>
              </a:spcAft>
              <a:buNone/>
              <a:defRPr sz="3600"/>
            </a:lvl9pPr>
          </a:lstStyle>
          <a:p xmlns:a="http://schemas.openxmlformats.org/drawingml/2006/main"/>
        </p:txBody>
      </p:sp>
      <p:sp>
        <p:nvSpPr>
          <p:cNvPr id="15" name="Google Shape;15;p3">
            <a:extLst xmlns:a="http://schemas.openxmlformats.org/drawingml/2006/main">
              <a:ext uri="{FF2B5EF4-FFF2-40B4-BE49-F238E27FC236}">
                <a16:creationId xmlns:a16="http://schemas.microsoft.com/office/drawing/2014/main" id="{E8CFC922-39F8-466A-84E8-28DA5FC29DA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matchingName="Title and body">
  <p:cSld name="TITLE_AND_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Google Shape;17;p4">
            <a:extLst xmlns:a="http://schemas.openxmlformats.org/drawingml/2006/main">
              <a:ext uri="{FF2B5EF4-FFF2-40B4-BE49-F238E27FC236}">
                <a16:creationId xmlns:a16="http://schemas.microsoft.com/office/drawing/2014/main" id="{A851E1D7-8ED5-48A7-87CE-70C0CAEA5F8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18" name="Google Shape;18;p4">
            <a:extLst xmlns:a="http://schemas.openxmlformats.org/drawingml/2006/main">
              <a:ext uri="{FF2B5EF4-FFF2-40B4-BE49-F238E27FC236}">
                <a16:creationId xmlns:a16="http://schemas.microsoft.com/office/drawing/2014/main" id="{B244BD69-8D8D-45E7-821B-759B8F2F8DA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152475"/>
            <a:ext cx="8520600" cy="341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42900">
              <a:spcBef>
                <a:spcPts val="0"/>
              </a:spcBef>
              <a:spcAft>
                <a:spcPts val="0"/>
              </a:spcAft>
              <a:buChar char="●"/>
              <a:defRPr/>
            </a:lvl1pPr>
            <a:lvl2pPr marL="914400" indent="-317500">
              <a:spcBef>
                <a:spcPts val="0"/>
              </a:spcBef>
              <a:spcAft>
                <a:spcPts val="0"/>
              </a:spcAft>
              <a:buChar char="○"/>
              <a:defRPr/>
            </a:lvl2pPr>
            <a:lvl3pPr marL="1371600" indent="-317500">
              <a:spcBef>
                <a:spcPts val="0"/>
              </a:spcBef>
              <a:spcAft>
                <a:spcPts val="0"/>
              </a:spcAft>
              <a:buChar char="■"/>
              <a:defRPr/>
            </a:lvl3pPr>
            <a:lvl4pPr marL="1828800" indent="-317500">
              <a:spcBef>
                <a:spcPts val="0"/>
              </a:spcBef>
              <a:spcAft>
                <a:spcPts val="0"/>
              </a:spcAft>
              <a:buChar char="●"/>
              <a:defRPr/>
            </a:lvl4pPr>
            <a:lvl5pPr marL="2286000" indent="-317500">
              <a:spcBef>
                <a:spcPts val="0"/>
              </a:spcBef>
              <a:spcAft>
                <a:spcPts val="0"/>
              </a:spcAft>
              <a:buChar char="○"/>
              <a:defRPr/>
            </a:lvl5pPr>
            <a:lvl6pPr marL="2743200" indent="-317500">
              <a:spcBef>
                <a:spcPts val="0"/>
              </a:spcBef>
              <a:spcAft>
                <a:spcPts val="0"/>
              </a:spcAft>
              <a:buChar char="■"/>
              <a:defRPr/>
            </a:lvl6pPr>
            <a:lvl7pPr marL="3200400" indent="-317500">
              <a:spcBef>
                <a:spcPts val="0"/>
              </a:spcBef>
              <a:spcAft>
                <a:spcPts val="0"/>
              </a:spcAft>
              <a:buChar char="●"/>
              <a:defRPr/>
            </a:lvl7pPr>
            <a:lvl8pPr marL="3657600" indent="-317500">
              <a:spcBef>
                <a:spcPts val="0"/>
              </a:spcBef>
              <a:spcAft>
                <a:spcPts val="0"/>
              </a:spcAft>
              <a:buChar char="○"/>
              <a:defRPr/>
            </a:lvl8pPr>
            <a:lvl9pPr marL="4114800" indent="-317500">
              <a:spcBef>
                <a:spcPts val="0"/>
              </a:spcBef>
              <a:spcAft>
                <a:spcPts val="0"/>
              </a:spcAft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19" name="Google Shape;19;p4">
            <a:extLst xmlns:a="http://schemas.openxmlformats.org/drawingml/2006/main">
              <a:ext uri="{FF2B5EF4-FFF2-40B4-BE49-F238E27FC236}">
                <a16:creationId xmlns:a16="http://schemas.microsoft.com/office/drawing/2014/main" id="{D826A368-186F-4714-89F7-18E3AE0E9A9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matchingName="Title and two columns">
  <p:cSld name="TITLE_AND_TWO_COLUMNS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Google Shape;21;p5">
            <a:extLst xmlns:a="http://schemas.openxmlformats.org/drawingml/2006/main">
              <a:ext uri="{FF2B5EF4-FFF2-40B4-BE49-F238E27FC236}">
                <a16:creationId xmlns:a16="http://schemas.microsoft.com/office/drawing/2014/main" id="{B30A6418-A59D-451F-B9D9-6B45136DE33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2" name="Google Shape;22;p5">
            <a:extLst xmlns:a="http://schemas.openxmlformats.org/drawingml/2006/main">
              <a:ext uri="{FF2B5EF4-FFF2-40B4-BE49-F238E27FC236}">
                <a16:creationId xmlns:a16="http://schemas.microsoft.com/office/drawing/2014/main" id="{D71DACF9-0E6E-4C7C-83A0-51419B89EEC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152475"/>
            <a:ext cx="3999900" cy="341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17500">
              <a:spcBef>
                <a:spcPts val="0"/>
              </a:spcBef>
              <a:spcAft>
                <a:spcPts val="0"/>
              </a:spcAft>
              <a:buChar char="●"/>
              <a:defRPr sz="1400"/>
            </a:lvl1pPr>
            <a:lvl2pPr marL="914400" indent="-304800">
              <a:spcBef>
                <a:spcPts val="0"/>
              </a:spcBef>
              <a:spcAft>
                <a:spcPts val="0"/>
              </a:spcAft>
              <a:buChar char="○"/>
              <a:defRPr sz="12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Char char="■"/>
              <a:defRPr sz="12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Char char="●"/>
              <a:defRPr sz="12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Char char="○"/>
              <a:defRPr sz="12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Char char="■"/>
              <a:defRPr sz="12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Char char="●"/>
              <a:defRPr sz="12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Char char="○"/>
              <a:defRPr sz="12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Char char="■"/>
              <a:defRPr sz="1200"/>
            </a:lvl9pPr>
          </a:lstStyle>
          <a:p xmlns:a="http://schemas.openxmlformats.org/drawingml/2006/main"/>
        </p:txBody>
      </p:sp>
      <p:sp>
        <p:nvSpPr>
          <p:cNvPr id="23" name="Google Shape;23;p5">
            <a:extLst xmlns:a="http://schemas.openxmlformats.org/drawingml/2006/main">
              <a:ext uri="{FF2B5EF4-FFF2-40B4-BE49-F238E27FC236}">
                <a16:creationId xmlns:a16="http://schemas.microsoft.com/office/drawing/2014/main" id="{D01E0A19-5211-4361-A68F-491E6C4C9B0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832400" y="1152475"/>
            <a:ext cx="3999900" cy="341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17500">
              <a:spcBef>
                <a:spcPts val="0"/>
              </a:spcBef>
              <a:spcAft>
                <a:spcPts val="0"/>
              </a:spcAft>
              <a:buChar char="●"/>
              <a:defRPr sz="1400"/>
            </a:lvl1pPr>
            <a:lvl2pPr marL="914400" indent="-304800">
              <a:spcBef>
                <a:spcPts val="0"/>
              </a:spcBef>
              <a:spcAft>
                <a:spcPts val="0"/>
              </a:spcAft>
              <a:buChar char="○"/>
              <a:defRPr sz="12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Char char="■"/>
              <a:defRPr sz="12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Char char="●"/>
              <a:defRPr sz="12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Char char="○"/>
              <a:defRPr sz="12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Char char="■"/>
              <a:defRPr sz="12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Char char="●"/>
              <a:defRPr sz="12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Char char="○"/>
              <a:defRPr sz="12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Char char="■"/>
              <a:defRPr sz="1200"/>
            </a:lvl9pPr>
          </a:lstStyle>
          <a:p xmlns:a="http://schemas.openxmlformats.org/drawingml/2006/main"/>
        </p:txBody>
      </p:sp>
      <p:sp>
        <p:nvSpPr>
          <p:cNvPr id="24" name="Google Shape;24;p5">
            <a:extLst xmlns:a="http://schemas.openxmlformats.org/drawingml/2006/main">
              <a:ext uri="{FF2B5EF4-FFF2-40B4-BE49-F238E27FC236}">
                <a16:creationId xmlns:a16="http://schemas.microsoft.com/office/drawing/2014/main" id="{434DB907-6609-496E-9F5C-01EE9B20D4E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matchingName="Title only" type="titleOnly">
  <p:cSld name="TITLE_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Google Shape;26;p6">
            <a:extLst xmlns:a="http://schemas.openxmlformats.org/drawingml/2006/main">
              <a:ext uri="{FF2B5EF4-FFF2-40B4-BE49-F238E27FC236}">
                <a16:creationId xmlns:a16="http://schemas.microsoft.com/office/drawing/2014/main" id="{6DB4FB66-E0DE-47A9-8562-8E6E89F67F0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7" name="Google Shape;27;p6">
            <a:extLst xmlns:a="http://schemas.openxmlformats.org/drawingml/2006/main">
              <a:ext uri="{FF2B5EF4-FFF2-40B4-BE49-F238E27FC236}">
                <a16:creationId xmlns:a16="http://schemas.microsoft.com/office/drawing/2014/main" id="{F3B88EA2-485E-42D7-B40B-1F5E6A66378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matchingName="One column text">
  <p:cSld name="ONE_COLUMN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Google Shape;29;p7">
            <a:extLst xmlns:a="http://schemas.openxmlformats.org/drawingml/2006/main">
              <a:ext uri="{FF2B5EF4-FFF2-40B4-BE49-F238E27FC236}">
                <a16:creationId xmlns:a16="http://schemas.microsoft.com/office/drawing/2014/main" id="{1966F39B-A79E-4192-B378-ADE686FD82F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555600"/>
            <a:ext cx="2808000" cy="75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 sz="2400"/>
            </a:lvl1pPr>
            <a:lvl2pPr>
              <a:spcBef>
                <a:spcPts val="0"/>
              </a:spcBef>
              <a:spcAft>
                <a:spcPts val="0"/>
              </a:spcAft>
              <a:buNone/>
              <a:defRPr sz="2400"/>
            </a:lvl2pPr>
            <a:lvl3pPr>
              <a:spcBef>
                <a:spcPts val="0"/>
              </a:spcBef>
              <a:spcAft>
                <a:spcPts val="0"/>
              </a:spcAft>
              <a:buNone/>
              <a:defRPr sz="2400"/>
            </a:lvl3pPr>
            <a:lvl4pPr>
              <a:spcBef>
                <a:spcPts val="0"/>
              </a:spcBef>
              <a:spcAft>
                <a:spcPts val="0"/>
              </a:spcAft>
              <a:buNone/>
              <a:defRPr sz="2400"/>
            </a:lvl4pPr>
            <a:lvl5pPr>
              <a:spcBef>
                <a:spcPts val="0"/>
              </a:spcBef>
              <a:spcAft>
                <a:spcPts val="0"/>
              </a:spcAft>
              <a:buNone/>
              <a:defRPr sz="2400"/>
            </a:lvl5pPr>
            <a:lvl6pPr>
              <a:spcBef>
                <a:spcPts val="0"/>
              </a:spcBef>
              <a:spcAft>
                <a:spcPts val="0"/>
              </a:spcAft>
              <a:buNone/>
              <a:defRPr sz="2400"/>
            </a:lvl6pPr>
            <a:lvl7pPr>
              <a:spcBef>
                <a:spcPts val="0"/>
              </a:spcBef>
              <a:spcAft>
                <a:spcPts val="0"/>
              </a:spcAft>
              <a:buNone/>
              <a:defRPr sz="2400"/>
            </a:lvl7pPr>
            <a:lvl8pPr>
              <a:spcBef>
                <a:spcPts val="0"/>
              </a:spcBef>
              <a:spcAft>
                <a:spcPts val="0"/>
              </a:spcAft>
              <a:buNone/>
              <a:defRPr sz="2400"/>
            </a:lvl8pPr>
            <a:lvl9pPr>
              <a:spcBef>
                <a:spcPts val="0"/>
              </a:spcBef>
              <a:spcAft>
                <a:spcPts val="0"/>
              </a:spcAft>
              <a:buNone/>
              <a:defRPr sz="2400"/>
            </a:lvl9pPr>
          </a:lstStyle>
          <a:p xmlns:a="http://schemas.openxmlformats.org/drawingml/2006/main"/>
        </p:txBody>
      </p:sp>
      <p:sp>
        <p:nvSpPr>
          <p:cNvPr id="30" name="Google Shape;30;p7">
            <a:extLst xmlns:a="http://schemas.openxmlformats.org/drawingml/2006/main">
              <a:ext uri="{FF2B5EF4-FFF2-40B4-BE49-F238E27FC236}">
                <a16:creationId xmlns:a16="http://schemas.microsoft.com/office/drawing/2014/main" id="{BBEB3066-2E2C-429F-AE92-BE8604BA828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389600"/>
            <a:ext cx="2808000" cy="3179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04800">
              <a:spcBef>
                <a:spcPts val="0"/>
              </a:spcBef>
              <a:spcAft>
                <a:spcPts val="0"/>
              </a:spcAft>
              <a:buChar char="●"/>
              <a:defRPr sz="1200"/>
            </a:lvl1pPr>
            <a:lvl2pPr marL="914400" indent="-304800">
              <a:spcBef>
                <a:spcPts val="0"/>
              </a:spcBef>
              <a:spcAft>
                <a:spcPts val="0"/>
              </a:spcAft>
              <a:buChar char="○"/>
              <a:defRPr sz="12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Char char="■"/>
              <a:defRPr sz="12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Char char="●"/>
              <a:defRPr sz="12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Char char="○"/>
              <a:defRPr sz="12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Char char="■"/>
              <a:defRPr sz="12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Char char="●"/>
              <a:defRPr sz="12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Char char="○"/>
              <a:defRPr sz="12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Char char="■"/>
              <a:defRPr sz="1200"/>
            </a:lvl9pPr>
          </a:lstStyle>
          <a:p xmlns:a="http://schemas.openxmlformats.org/drawingml/2006/main"/>
        </p:txBody>
      </p:sp>
      <p:sp>
        <p:nvSpPr>
          <p:cNvPr id="31" name="Google Shape;31;p7">
            <a:extLst xmlns:a="http://schemas.openxmlformats.org/drawingml/2006/main">
              <a:ext uri="{FF2B5EF4-FFF2-40B4-BE49-F238E27FC236}">
                <a16:creationId xmlns:a16="http://schemas.microsoft.com/office/drawing/2014/main" id="{39A621F3-FEE2-4832-8D37-6588EB97944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matchingName="Main point">
  <p:cSld name="MAIN_POI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Google Shape;33;p8">
            <a:extLst xmlns:a="http://schemas.openxmlformats.org/drawingml/2006/main">
              <a:ext uri="{FF2B5EF4-FFF2-40B4-BE49-F238E27FC236}">
                <a16:creationId xmlns:a16="http://schemas.microsoft.com/office/drawing/2014/main" id="{1590B9E4-A8F8-47B8-87FF-E8169F595A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90250" y="450150"/>
            <a:ext cx="6367800" cy="4090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 sz="4800"/>
            </a:lvl1pPr>
            <a:lvl2pPr>
              <a:spcBef>
                <a:spcPts val="0"/>
              </a:spcBef>
              <a:spcAft>
                <a:spcPts val="0"/>
              </a:spcAft>
              <a:buNone/>
              <a:defRPr sz="4800"/>
            </a:lvl2pPr>
            <a:lvl3pPr>
              <a:spcBef>
                <a:spcPts val="0"/>
              </a:spcBef>
              <a:spcAft>
                <a:spcPts val="0"/>
              </a:spcAft>
              <a:buNone/>
              <a:defRPr sz="4800"/>
            </a:lvl3pPr>
            <a:lvl4pPr>
              <a:spcBef>
                <a:spcPts val="0"/>
              </a:spcBef>
              <a:spcAft>
                <a:spcPts val="0"/>
              </a:spcAft>
              <a:buNone/>
              <a:defRPr sz="4800"/>
            </a:lvl4pPr>
            <a:lvl5pPr>
              <a:spcBef>
                <a:spcPts val="0"/>
              </a:spcBef>
              <a:spcAft>
                <a:spcPts val="0"/>
              </a:spcAft>
              <a:buNone/>
              <a:defRPr sz="4800"/>
            </a:lvl5pPr>
            <a:lvl6pPr>
              <a:spcBef>
                <a:spcPts val="0"/>
              </a:spcBef>
              <a:spcAft>
                <a:spcPts val="0"/>
              </a:spcAft>
              <a:buNone/>
              <a:defRPr sz="4800"/>
            </a:lvl6pPr>
            <a:lvl7pPr>
              <a:spcBef>
                <a:spcPts val="0"/>
              </a:spcBef>
              <a:spcAft>
                <a:spcPts val="0"/>
              </a:spcAft>
              <a:buNone/>
              <a:defRPr sz="4800"/>
            </a:lvl7pPr>
            <a:lvl8pPr>
              <a:spcBef>
                <a:spcPts val="0"/>
              </a:spcBef>
              <a:spcAft>
                <a:spcPts val="0"/>
              </a:spcAft>
              <a:buNone/>
              <a:defRPr sz="4800"/>
            </a:lvl8pPr>
            <a:lvl9pPr>
              <a:spcBef>
                <a:spcPts val="0"/>
              </a:spcBef>
              <a:spcAft>
                <a:spcPts val="0"/>
              </a:spcAft>
              <a:buNone/>
              <a:defRPr sz="4800"/>
            </a:lvl9pPr>
          </a:lstStyle>
          <a:p xmlns:a="http://schemas.openxmlformats.org/drawingml/2006/main"/>
        </p:txBody>
      </p:sp>
      <p:sp>
        <p:nvSpPr>
          <p:cNvPr id="34" name="Google Shape;34;p8">
            <a:extLst xmlns:a="http://schemas.openxmlformats.org/drawingml/2006/main">
              <a:ext uri="{FF2B5EF4-FFF2-40B4-BE49-F238E27FC236}">
                <a16:creationId xmlns:a16="http://schemas.microsoft.com/office/drawing/2014/main" id="{5C274A19-8F6B-4F2E-9052-BBFEC3730EA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matchingName="Section title and description">
  <p:cSld name="SECTION_TITLE_AND_DESCRI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Google Shape;36;p9">
            <a:extLst xmlns:a="http://schemas.openxmlformats.org/drawingml/2006/main">
              <a:ext uri="{FF2B5EF4-FFF2-40B4-BE49-F238E27FC236}">
                <a16:creationId xmlns:a16="http://schemas.microsoft.com/office/drawing/2014/main" id="{B39A894A-EB49-4440-B6F7-89272DC45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-125"/>
            <a:ext cx="4572000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7" name="Google Shape;37;p9">
            <a:extLst xmlns:a="http://schemas.openxmlformats.org/drawingml/2006/main">
              <a:ext uri="{FF2B5EF4-FFF2-40B4-BE49-F238E27FC236}">
                <a16:creationId xmlns:a16="http://schemas.microsoft.com/office/drawing/2014/main" id="{D966089B-32A6-4366-A3AA-8B3C6315BB0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65500" y="1233175"/>
            <a:ext cx="4045200" cy="1482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 sz="4200"/>
            </a:lvl1pPr>
            <a:lvl2pPr algn="ctr">
              <a:spcBef>
                <a:spcPts val="0"/>
              </a:spcBef>
              <a:spcAft>
                <a:spcPts val="0"/>
              </a:spcAft>
              <a:buNone/>
              <a:defRPr sz="4200"/>
            </a:lvl2pPr>
            <a:lvl3pPr algn="ctr">
              <a:spcBef>
                <a:spcPts val="0"/>
              </a:spcBef>
              <a:spcAft>
                <a:spcPts val="0"/>
              </a:spcAft>
              <a:buNone/>
              <a:defRPr sz="4200"/>
            </a:lvl3pPr>
            <a:lvl4pPr algn="ctr">
              <a:spcBef>
                <a:spcPts val="0"/>
              </a:spcBef>
              <a:spcAft>
                <a:spcPts val="0"/>
              </a:spcAft>
              <a:buNone/>
              <a:defRPr sz="4200"/>
            </a:lvl4pPr>
            <a:lvl5pPr algn="ctr">
              <a:spcBef>
                <a:spcPts val="0"/>
              </a:spcBef>
              <a:spcAft>
                <a:spcPts val="0"/>
              </a:spcAft>
              <a:buNone/>
              <a:defRPr sz="4200"/>
            </a:lvl5pPr>
            <a:lvl6pPr algn="ctr">
              <a:spcBef>
                <a:spcPts val="0"/>
              </a:spcBef>
              <a:spcAft>
                <a:spcPts val="0"/>
              </a:spcAft>
              <a:buNone/>
              <a:defRPr sz="4200"/>
            </a:lvl6pPr>
            <a:lvl7pPr algn="ctr">
              <a:spcBef>
                <a:spcPts val="0"/>
              </a:spcBef>
              <a:spcAft>
                <a:spcPts val="0"/>
              </a:spcAft>
              <a:buNone/>
              <a:defRPr sz="4200"/>
            </a:lvl7pPr>
            <a:lvl8pPr algn="ctr">
              <a:spcBef>
                <a:spcPts val="0"/>
              </a:spcBef>
              <a:spcAft>
                <a:spcPts val="0"/>
              </a:spcAft>
              <a:buNone/>
              <a:defRPr sz="4200"/>
            </a:lvl8pPr>
            <a:lvl9pPr algn="ctr">
              <a:spcBef>
                <a:spcPts val="0"/>
              </a:spcBef>
              <a:spcAft>
                <a:spcPts val="0"/>
              </a:spcAft>
              <a:buNone/>
              <a:defRPr sz="4200"/>
            </a:lvl9pPr>
          </a:lstStyle>
          <a:p xmlns:a="http://schemas.openxmlformats.org/drawingml/2006/main"/>
        </p:txBody>
      </p:sp>
      <p:sp>
        <p:nvSpPr>
          <p:cNvPr id="38" name="Google Shape;38;p9">
            <a:extLst xmlns:a="http://schemas.openxmlformats.org/drawingml/2006/main">
              <a:ext uri="{FF2B5EF4-FFF2-40B4-BE49-F238E27FC236}">
                <a16:creationId xmlns:a16="http://schemas.microsoft.com/office/drawing/2014/main" id="{949097C0-ADBB-47E8-B371-CF2B588D514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65500" y="2803075"/>
            <a:ext cx="4045200" cy="1235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9pPr>
          </a:lstStyle>
          <a:p xmlns:a="http://schemas.openxmlformats.org/drawingml/2006/main"/>
        </p:txBody>
      </p:sp>
      <p:sp>
        <p:nvSpPr>
          <p:cNvPr id="39" name="Google Shape;39;p9">
            <a:extLst xmlns:a="http://schemas.openxmlformats.org/drawingml/2006/main">
              <a:ext uri="{FF2B5EF4-FFF2-40B4-BE49-F238E27FC236}">
                <a16:creationId xmlns:a16="http://schemas.microsoft.com/office/drawing/2014/main" id="{FBB4B117-0614-4AF8-B100-61C5F69141E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939500" y="724075"/>
            <a:ext cx="3837000" cy="3695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marL="457200" indent="-342900">
              <a:spcBef>
                <a:spcPts val="0"/>
              </a:spcBef>
              <a:spcAft>
                <a:spcPts val="0"/>
              </a:spcAft>
              <a:buChar char="●"/>
              <a:defRPr/>
            </a:lvl1pPr>
            <a:lvl2pPr marL="914400" indent="-317500">
              <a:spcBef>
                <a:spcPts val="0"/>
              </a:spcBef>
              <a:spcAft>
                <a:spcPts val="0"/>
              </a:spcAft>
              <a:buChar char="○"/>
              <a:defRPr/>
            </a:lvl2pPr>
            <a:lvl3pPr marL="1371600" indent="-317500">
              <a:spcBef>
                <a:spcPts val="0"/>
              </a:spcBef>
              <a:spcAft>
                <a:spcPts val="0"/>
              </a:spcAft>
              <a:buChar char="■"/>
              <a:defRPr/>
            </a:lvl3pPr>
            <a:lvl4pPr marL="1828800" indent="-317500">
              <a:spcBef>
                <a:spcPts val="0"/>
              </a:spcBef>
              <a:spcAft>
                <a:spcPts val="0"/>
              </a:spcAft>
              <a:buChar char="●"/>
              <a:defRPr/>
            </a:lvl4pPr>
            <a:lvl5pPr marL="2286000" indent="-317500">
              <a:spcBef>
                <a:spcPts val="0"/>
              </a:spcBef>
              <a:spcAft>
                <a:spcPts val="0"/>
              </a:spcAft>
              <a:buChar char="○"/>
              <a:defRPr/>
            </a:lvl5pPr>
            <a:lvl6pPr marL="2743200" indent="-317500">
              <a:spcBef>
                <a:spcPts val="0"/>
              </a:spcBef>
              <a:spcAft>
                <a:spcPts val="0"/>
              </a:spcAft>
              <a:buChar char="■"/>
              <a:defRPr/>
            </a:lvl6pPr>
            <a:lvl7pPr marL="3200400" indent="-317500">
              <a:spcBef>
                <a:spcPts val="0"/>
              </a:spcBef>
              <a:spcAft>
                <a:spcPts val="0"/>
              </a:spcAft>
              <a:buChar char="●"/>
              <a:defRPr/>
            </a:lvl7pPr>
            <a:lvl8pPr marL="3657600" indent="-317500">
              <a:spcBef>
                <a:spcPts val="0"/>
              </a:spcBef>
              <a:spcAft>
                <a:spcPts val="0"/>
              </a:spcAft>
              <a:buChar char="○"/>
              <a:defRPr/>
            </a:lvl8pPr>
            <a:lvl9pPr marL="4114800" indent="-317500">
              <a:spcBef>
                <a:spcPts val="0"/>
              </a:spcBef>
              <a:spcAft>
                <a:spcPts val="0"/>
              </a:spcAft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40" name="Google Shape;40;p9">
            <a:extLst xmlns:a="http://schemas.openxmlformats.org/drawingml/2006/main">
              <a:ext uri="{FF2B5EF4-FFF2-40B4-BE49-F238E27FC236}">
                <a16:creationId xmlns:a16="http://schemas.microsoft.com/office/drawing/2014/main" id="{ECD9ACD4-B5FF-48CF-9C54-74B694C08E5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matchingName="Caption">
  <p:cSld name="CAPTION_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Google Shape;42;p10">
            <a:extLst xmlns:a="http://schemas.openxmlformats.org/drawingml/2006/main">
              <a:ext uri="{FF2B5EF4-FFF2-40B4-BE49-F238E27FC236}">
                <a16:creationId xmlns:a16="http://schemas.microsoft.com/office/drawing/2014/main" id="{6DD871BA-7677-4956-A907-E36C9C55743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4230575"/>
            <a:ext cx="5998800" cy="605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marL="45720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</a:lstStyle>
          <a:p xmlns:a="http://schemas.openxmlformats.org/drawingml/2006/main"/>
        </p:txBody>
      </p:sp>
      <p:sp>
        <p:nvSpPr>
          <p:cNvPr id="43" name="Google Shape;43;p10">
            <a:extLst xmlns:a="http://schemas.openxmlformats.org/drawingml/2006/main">
              <a:ext uri="{FF2B5EF4-FFF2-40B4-BE49-F238E27FC236}">
                <a16:creationId xmlns:a16="http://schemas.microsoft.com/office/drawing/2014/main" id="{995A5AA2-2E78-42D0-89DA-CCC43A66871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matchingName="Big number">
  <p:cSld name="BIG_NUMB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Google Shape;45;p11">
            <a:extLst xmlns:a="http://schemas.openxmlformats.org/drawingml/2006/main">
              <a:ext uri="{FF2B5EF4-FFF2-40B4-BE49-F238E27FC236}">
                <a16:creationId xmlns:a16="http://schemas.microsoft.com/office/drawing/2014/main" id="{409AA567-4890-4022-A9C9-CF711B662335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11700" y="1106125"/>
            <a:ext cx="8520600" cy="196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 sz="12000"/>
            </a:lvl1pPr>
            <a:lvl2pPr algn="ctr">
              <a:spcBef>
                <a:spcPts val="0"/>
              </a:spcBef>
              <a:spcAft>
                <a:spcPts val="0"/>
              </a:spcAft>
              <a:buNone/>
              <a:defRPr sz="12000"/>
            </a:lvl2pPr>
            <a:lvl3pPr algn="ctr">
              <a:spcBef>
                <a:spcPts val="0"/>
              </a:spcBef>
              <a:spcAft>
                <a:spcPts val="0"/>
              </a:spcAft>
              <a:buNone/>
              <a:defRPr sz="12000"/>
            </a:lvl3pPr>
            <a:lvl4pPr algn="ctr">
              <a:spcBef>
                <a:spcPts val="0"/>
              </a:spcBef>
              <a:spcAft>
                <a:spcPts val="0"/>
              </a:spcAft>
              <a:buNone/>
              <a:defRPr sz="12000"/>
            </a:lvl4pPr>
            <a:lvl5pPr algn="ctr">
              <a:spcBef>
                <a:spcPts val="0"/>
              </a:spcBef>
              <a:spcAft>
                <a:spcPts val="0"/>
              </a:spcAft>
              <a:buNone/>
              <a:defRPr sz="12000"/>
            </a:lvl5pPr>
            <a:lvl6pPr algn="ctr">
              <a:spcBef>
                <a:spcPts val="0"/>
              </a:spcBef>
              <a:spcAft>
                <a:spcPts val="0"/>
              </a:spcAft>
              <a:buNone/>
              <a:defRPr sz="12000"/>
            </a:lvl6pPr>
            <a:lvl7pPr algn="ctr">
              <a:spcBef>
                <a:spcPts val="0"/>
              </a:spcBef>
              <a:spcAft>
                <a:spcPts val="0"/>
              </a:spcAft>
              <a:buNone/>
              <a:defRPr sz="12000"/>
            </a:lvl7pPr>
            <a:lvl8pPr algn="ctr">
              <a:spcBef>
                <a:spcPts val="0"/>
              </a:spcBef>
              <a:spcAft>
                <a:spcPts val="0"/>
              </a:spcAft>
              <a:buNone/>
              <a:defRPr sz="12000"/>
            </a:lvl8pPr>
            <a:lvl9pPr algn="ctr">
              <a:spcBef>
                <a:spcPts val="0"/>
              </a:spcBef>
              <a:spcAft>
                <a:spcPts val="0"/>
              </a:spcAft>
              <a:buNone/>
              <a:defRPr sz="12000"/>
            </a:lvl9pPr>
          </a:lstStyle>
          <a:p xmlns:a="http://schemas.openxmlformats.org/drawingml/2006/main">
            <a:r>
              <a:t>xx%</a:t>
            </a:r>
          </a:p>
        </p:txBody>
      </p:sp>
      <p:sp>
        <p:nvSpPr>
          <p:cNvPr id="46" name="Google Shape;46;p11">
            <a:extLst xmlns:a="http://schemas.openxmlformats.org/drawingml/2006/main">
              <a:ext uri="{FF2B5EF4-FFF2-40B4-BE49-F238E27FC236}">
                <a16:creationId xmlns:a16="http://schemas.microsoft.com/office/drawing/2014/main" id="{E35BBC99-337A-4EB3-8A4D-176A7C3113E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3152225"/>
            <a:ext cx="8520600" cy="1300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42900" algn="ctr">
              <a:spcBef>
                <a:spcPts val="0"/>
              </a:spcBef>
              <a:spcAft>
                <a:spcPts val="0"/>
              </a:spcAft>
              <a:buChar char="●"/>
              <a:defRPr/>
            </a:lvl1pPr>
            <a:lvl2pPr marL="914400" indent="-317500" algn="ctr">
              <a:spcBef>
                <a:spcPts val="0"/>
              </a:spcBef>
              <a:spcAft>
                <a:spcPts val="0"/>
              </a:spcAft>
              <a:buChar char="○"/>
              <a:defRPr/>
            </a:lvl2pPr>
            <a:lvl3pPr marL="1371600" indent="-317500" algn="ctr">
              <a:spcBef>
                <a:spcPts val="0"/>
              </a:spcBef>
              <a:spcAft>
                <a:spcPts val="0"/>
              </a:spcAft>
              <a:buChar char="■"/>
              <a:defRPr/>
            </a:lvl3pPr>
            <a:lvl4pPr marL="1828800" indent="-317500" algn="ctr">
              <a:spcBef>
                <a:spcPts val="0"/>
              </a:spcBef>
              <a:spcAft>
                <a:spcPts val="0"/>
              </a:spcAft>
              <a:buChar char="●"/>
              <a:defRPr/>
            </a:lvl4pPr>
            <a:lvl5pPr marL="2286000" indent="-317500" algn="ctr">
              <a:spcBef>
                <a:spcPts val="0"/>
              </a:spcBef>
              <a:spcAft>
                <a:spcPts val="0"/>
              </a:spcAft>
              <a:buChar char="○"/>
              <a:defRPr/>
            </a:lvl5pPr>
            <a:lvl6pPr marL="2743200" indent="-317500" algn="ctr">
              <a:spcBef>
                <a:spcPts val="0"/>
              </a:spcBef>
              <a:spcAft>
                <a:spcPts val="0"/>
              </a:spcAft>
              <a:buChar char="■"/>
              <a:defRPr/>
            </a:lvl6pPr>
            <a:lvl7pPr marL="3200400" indent="-317500" algn="ctr">
              <a:spcBef>
                <a:spcPts val="0"/>
              </a:spcBef>
              <a:spcAft>
                <a:spcPts val="0"/>
              </a:spcAft>
              <a:buChar char="●"/>
              <a:defRPr/>
            </a:lvl7pPr>
            <a:lvl8pPr marL="3657600" indent="-317500" algn="ctr">
              <a:spcBef>
                <a:spcPts val="0"/>
              </a:spcBef>
              <a:spcAft>
                <a:spcPts val="0"/>
              </a:spcAft>
              <a:buChar char="○"/>
              <a:defRPr/>
            </a:lvl8pPr>
            <a:lvl9pPr marL="4114800" indent="-317500" algn="ctr">
              <a:spcBef>
                <a:spcPts val="0"/>
              </a:spcBef>
              <a:spcAft>
                <a:spcPts val="0"/>
              </a:spcAft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47" name="Google Shape;47;p11">
            <a:extLst xmlns:a="http://schemas.openxmlformats.org/drawingml/2006/main">
              <a:ext uri="{FF2B5EF4-FFF2-40B4-BE49-F238E27FC236}">
                <a16:creationId xmlns:a16="http://schemas.microsoft.com/office/drawing/2014/main" id="{72A99725-C3C4-4C78-AD9F-5FDACBB5331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matchingName="Blank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9" name="Google Shape;49;p12">
            <a:extLst xmlns:a="http://schemas.openxmlformats.org/drawingml/2006/main">
              <a:ext uri="{FF2B5EF4-FFF2-40B4-BE49-F238E27FC236}">
                <a16:creationId xmlns:a16="http://schemas.microsoft.com/office/drawing/2014/main" id="{4DA37D5F-589C-49AD-A1F0-CE2FAB8E57B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993a5208ac34eb3" /><Relationship Type="http://schemas.openxmlformats.org/officeDocument/2006/relationships/slideLayout" Target="/ppt/slideLayouts/slideLayout1.xml" Id="Re59cb210fb07490a" /><Relationship Type="http://schemas.openxmlformats.org/officeDocument/2006/relationships/slideLayout" Target="/ppt/slideLayouts/slideLayout2.xml" Id="Rca6e896cd806458d" /><Relationship Type="http://schemas.openxmlformats.org/officeDocument/2006/relationships/slideLayout" Target="/ppt/slideLayouts/slideLayout3.xml" Id="R73eccbf2b9e14f2e" /><Relationship Type="http://schemas.openxmlformats.org/officeDocument/2006/relationships/slideLayout" Target="/ppt/slideLayouts/slideLayout4.xml" Id="Ra9c8e0a109004696" /><Relationship Type="http://schemas.openxmlformats.org/officeDocument/2006/relationships/slideLayout" Target="/ppt/slideLayouts/slideLayout5.xml" Id="Rf6c9cebd974a4b3a" /><Relationship Type="http://schemas.openxmlformats.org/officeDocument/2006/relationships/slideLayout" Target="/ppt/slideLayouts/slideLayout6.xml" Id="Rc45486c4ae414256" /><Relationship Type="http://schemas.openxmlformats.org/officeDocument/2006/relationships/slideLayout" Target="/ppt/slideLayouts/slideLayout7.xml" Id="Ra393822925144790" /><Relationship Type="http://schemas.openxmlformats.org/officeDocument/2006/relationships/slideLayout" Target="/ppt/slideLayouts/slideLayout8.xml" Id="R0ef2dda1717b461b" /><Relationship Type="http://schemas.openxmlformats.org/officeDocument/2006/relationships/slideLayout" Target="/ppt/slideLayouts/slideLayout9.xml" Id="R111b0cccc8b6499c" /><Relationship Type="http://schemas.openxmlformats.org/officeDocument/2006/relationships/slideLayout" Target="/ppt/slideLayouts/slideLayout10.xml" Id="R3997af60d02c4d09" /><Relationship Type="http://schemas.openxmlformats.org/officeDocument/2006/relationships/slideLayout" Target="/ppt/slideLayouts/slideLayout11.xml" Id="R3633169da1dc41e6" /></Relationships>
</file>

<file path=ppt/slideMasters/slideMaster1.xml><?xml version="1.0" encoding="utf-8"?>
<p:sldMaster xmlns:p="http://schemas.openxmlformats.org/presentationml/2006/main">
  <p:cSld name="simple-light-2"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Google Shape;6;p1">
            <a:extLst xmlns:a="http://schemas.openxmlformats.org/drawingml/2006/main">
              <a:ext uri="{FF2B5EF4-FFF2-40B4-BE49-F238E27FC236}">
                <a16:creationId xmlns:a16="http://schemas.microsoft.com/office/drawing/2014/main" id="{5C37F872-7D28-4D22-9903-4844A2256BB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dk1"/>
                </a:solidFill>
              </a:defRPr>
            </a:lvl1pPr>
            <a:lvl2pPr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dk1"/>
                </a:solidFill>
              </a:defRPr>
            </a:lvl2pPr>
            <a:lvl3pPr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dk1"/>
                </a:solidFill>
              </a:defRPr>
            </a:lvl3pPr>
            <a:lvl4pPr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dk1"/>
                </a:solidFill>
              </a:defRPr>
            </a:lvl4pPr>
            <a:lvl5pPr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dk1"/>
                </a:solidFill>
              </a:defRPr>
            </a:lvl5pPr>
            <a:lvl6pPr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dk1"/>
                </a:solidFill>
              </a:defRPr>
            </a:lvl6pPr>
            <a:lvl7pPr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dk1"/>
                </a:solidFill>
              </a:defRPr>
            </a:lvl7pPr>
            <a:lvl8pPr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dk1"/>
                </a:solidFill>
              </a:defRPr>
            </a:lvl8pPr>
            <a:lvl9pPr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dk1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7" name="Google Shape;7;p1">
            <a:extLst xmlns:a="http://schemas.openxmlformats.org/drawingml/2006/main">
              <a:ext uri="{FF2B5EF4-FFF2-40B4-BE49-F238E27FC236}">
                <a16:creationId xmlns:a16="http://schemas.microsoft.com/office/drawing/2014/main" id="{112F4832-0157-48C8-BA18-023F30EBCA0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152475"/>
            <a:ext cx="8520600" cy="341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 sz="1800">
                <a:solidFill>
                  <a:schemeClr val="dk2"/>
                </a:solidFill>
              </a:defRPr>
            </a:lvl1pPr>
            <a:lvl2pPr marL="9144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>
                <a:solidFill>
                  <a:schemeClr val="dk2"/>
                </a:solidFill>
              </a:defRPr>
            </a:lvl2pPr>
            <a:lvl3pPr marL="13716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>
                <a:solidFill>
                  <a:schemeClr val="dk2"/>
                </a:solidFill>
              </a:defRPr>
            </a:lvl3pPr>
            <a:lvl4pPr marL="18288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>
                <a:solidFill>
                  <a:schemeClr val="dk2"/>
                </a:solidFill>
              </a:defRPr>
            </a:lvl4pPr>
            <a:lvl5pPr marL="22860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>
                <a:solidFill>
                  <a:schemeClr val="dk2"/>
                </a:solidFill>
              </a:defRPr>
            </a:lvl5pPr>
            <a:lvl6pPr marL="27432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>
                <a:solidFill>
                  <a:schemeClr val="dk2"/>
                </a:solidFill>
              </a:defRPr>
            </a:lvl6pPr>
            <a:lvl7pPr marL="32004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>
                <a:solidFill>
                  <a:schemeClr val="dk2"/>
                </a:solidFill>
              </a:defRPr>
            </a:lvl7pPr>
            <a:lvl8pPr marL="36576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>
                <a:solidFill>
                  <a:schemeClr val="dk2"/>
                </a:solidFill>
              </a:defRPr>
            </a:lvl8pPr>
            <a:lvl9pPr marL="41148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>
                <a:solidFill>
                  <a:schemeClr val="dk2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8" name="Google Shape;8;p1">
            <a:extLst xmlns:a="http://schemas.openxmlformats.org/drawingml/2006/main">
              <a:ext uri="{FF2B5EF4-FFF2-40B4-BE49-F238E27FC236}">
                <a16:creationId xmlns:a16="http://schemas.microsoft.com/office/drawing/2014/main" id="{EAE07C02-D12D-42A3-97E5-EE3F654F5E6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algn="r">
              <a:buNone/>
              <a:defRPr sz="1000">
                <a:solidFill>
                  <a:schemeClr val="dk2"/>
                </a:solidFill>
              </a:defRPr>
            </a:lvl1pPr>
            <a:lvl2pPr algn="r">
              <a:buNone/>
              <a:defRPr sz="1000">
                <a:solidFill>
                  <a:schemeClr val="dk2"/>
                </a:solidFill>
              </a:defRPr>
            </a:lvl2pPr>
            <a:lvl3pPr algn="r">
              <a:buNone/>
              <a:defRPr sz="1000">
                <a:solidFill>
                  <a:schemeClr val="dk2"/>
                </a:solidFill>
              </a:defRPr>
            </a:lvl3pPr>
            <a:lvl4pPr algn="r">
              <a:buNone/>
              <a:defRPr sz="1000">
                <a:solidFill>
                  <a:schemeClr val="dk2"/>
                </a:solidFill>
              </a:defRPr>
            </a:lvl4pPr>
            <a:lvl5pPr algn="r">
              <a:buNone/>
              <a:defRPr sz="1000">
                <a:solidFill>
                  <a:schemeClr val="dk2"/>
                </a:solidFill>
              </a:defRPr>
            </a:lvl5pPr>
            <a:lvl6pPr algn="r">
              <a:buNone/>
              <a:defRPr sz="1000">
                <a:solidFill>
                  <a:schemeClr val="dk2"/>
                </a:solidFill>
              </a:defRPr>
            </a:lvl6pPr>
            <a:lvl7pPr algn="r">
              <a:buNone/>
              <a:defRPr sz="1000">
                <a:solidFill>
                  <a:schemeClr val="dk2"/>
                </a:solidFill>
              </a:defRPr>
            </a:lvl7pPr>
            <a:lvl8pPr algn="r">
              <a:buNone/>
              <a:defRPr sz="1000">
                <a:solidFill>
                  <a:schemeClr val="dk2"/>
                </a:solidFill>
              </a:defRPr>
            </a:lvl8pPr>
            <a:lvl9pPr algn="r">
              <a:buNone/>
              <a:defRPr sz="1000">
                <a:solidFill>
                  <a:schemeClr val="dk2"/>
                </a:solidFill>
              </a:defRPr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59cb210fb07490a"/>
    <p:sldLayoutId xmlns:r="http://schemas.openxmlformats.org/officeDocument/2006/relationships" id="2147483650" r:id="Rca6e896cd806458d"/>
    <p:sldLayoutId xmlns:r="http://schemas.openxmlformats.org/officeDocument/2006/relationships" id="2147483651" r:id="R73eccbf2b9e14f2e"/>
    <p:sldLayoutId xmlns:r="http://schemas.openxmlformats.org/officeDocument/2006/relationships" id="2147483652" r:id="Ra9c8e0a109004696"/>
    <p:sldLayoutId xmlns:r="http://schemas.openxmlformats.org/officeDocument/2006/relationships" id="2147483653" r:id="Rf6c9cebd974a4b3a"/>
    <p:sldLayoutId xmlns:r="http://schemas.openxmlformats.org/officeDocument/2006/relationships" id="2147483654" r:id="Rc45486c4ae414256"/>
    <p:sldLayoutId xmlns:r="http://schemas.openxmlformats.org/officeDocument/2006/relationships" id="2147483655" r:id="Ra393822925144790"/>
    <p:sldLayoutId xmlns:r="http://schemas.openxmlformats.org/officeDocument/2006/relationships" id="2147483656" r:id="R0ef2dda1717b461b"/>
    <p:sldLayoutId xmlns:r="http://schemas.openxmlformats.org/officeDocument/2006/relationships" id="2147483657" r:id="R111b0cccc8b6499c"/>
    <p:sldLayoutId xmlns:r="http://schemas.openxmlformats.org/officeDocument/2006/relationships" id="2147483658" r:id="R3997af60d02c4d09"/>
    <p:sldLayoutId xmlns:r="http://schemas.openxmlformats.org/officeDocument/2006/relationships" id="2147483659" r:id="R3633169da1dc41e6"/>
  </p:sldLayoutIdLst>
  <p:hf sldNum="0" hdr="0" ftr="0" dt="0"/>
  <p:txStyles>
    <p:titleStyle>
      <a:lvl1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theme/theme2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da94e8932c95436a" /><Relationship Type="http://schemas.openxmlformats.org/officeDocument/2006/relationships/image" Target="/ppt/media/image.png" Id="Rc42030595a9b4ca9" /><Relationship Type="http://schemas.openxmlformats.org/officeDocument/2006/relationships/notesSlide" Target="/ppt/notesSlides/notesSlide1.xml" Id="R8fd0510f49e3410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46a8a801e88b43c6" /><Relationship Type="http://schemas.openxmlformats.org/officeDocument/2006/relationships/image" Target="/ppt/media/image2.png" Id="Rf213035adb264eb0" /><Relationship Type="http://schemas.openxmlformats.org/officeDocument/2006/relationships/notesSlide" Target="/ppt/notesSlides/notesSlide2.xml" Id="R7664c66a2e6f429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376bf91c2b664e32" /><Relationship Type="http://schemas.openxmlformats.org/officeDocument/2006/relationships/image" Target="/ppt/media/image2.png" Id="R63520391c012472c" /><Relationship Type="http://schemas.openxmlformats.org/officeDocument/2006/relationships/notesSlide" Target="/ppt/notesSlides/notesSlide3.xml" Id="Rf986385d782b4f2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0db3c1f6b0f54f9b" /><Relationship Type="http://schemas.openxmlformats.org/officeDocument/2006/relationships/image" Target="/ppt/media/image2.png" Id="R8f45bfc90d8546fb" /><Relationship Type="http://schemas.openxmlformats.org/officeDocument/2006/relationships/notesSlide" Target="/ppt/notesSlides/notesSlide4.xml" Id="R95a5082914c148f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8d31a8aa69c4488e" /><Relationship Type="http://schemas.openxmlformats.org/officeDocument/2006/relationships/image" Target="/ppt/media/image2.png" Id="R40d4fd2ecb02448c" /><Relationship Type="http://schemas.openxmlformats.org/officeDocument/2006/relationships/notesSlide" Target="/ppt/notesSlides/notesSlide5.xml" Id="Rc0b281adb7624c1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09f5652c276540f9" /><Relationship Type="http://schemas.openxmlformats.org/officeDocument/2006/relationships/image" Target="/ppt/media/image2.png" Id="R9cd0ef990cc04dec" /><Relationship Type="http://schemas.openxmlformats.org/officeDocument/2006/relationships/notesSlide" Target="/ppt/notesSlides/notesSlide6.xml" Id="Rd6b72e6b205147a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b9bc710f272641d7" /><Relationship Type="http://schemas.openxmlformats.org/officeDocument/2006/relationships/image" Target="/ppt/media/image2.png" Id="R68091623c83f4cd0" /><Relationship Type="http://schemas.openxmlformats.org/officeDocument/2006/relationships/notesSlide" Target="/ppt/notesSlides/notesSlide7.xml" Id="R9c3bb963c4a842b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77503806892f4f6a" /><Relationship Type="http://schemas.openxmlformats.org/officeDocument/2006/relationships/image" Target="/ppt/media/image2.png" Id="Ra90ae1f8225747f2" /><Relationship Type="http://schemas.openxmlformats.org/officeDocument/2006/relationships/notesSlide" Target="/ppt/notesSlides/notesSlide8.xml" Id="R8a5d3931e4f346d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ad6226bebc704a4b" /><Relationship Type="http://schemas.openxmlformats.org/officeDocument/2006/relationships/image" Target="/ppt/media/image2.png" Id="Rf20ba360a16a456c" /><Relationship Type="http://schemas.openxmlformats.org/officeDocument/2006/relationships/notesSlide" Target="/ppt/notesSlides/notesSlide9.xml" Id="R614cede6f01e458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76f3723303cf465b" /><Relationship Type="http://schemas.openxmlformats.org/officeDocument/2006/relationships/image" Target="/ppt/media/image2.png" Id="Ra93da93d1029498f" /><Relationship Type="http://schemas.openxmlformats.org/officeDocument/2006/relationships/hyperlink" Target="https://redrob-hirefit-ranker.onrender.com" TargetMode="External" Id="R683c82b4e3b14071" /><Relationship Type="http://schemas.openxmlformats.org/officeDocument/2006/relationships/hyperlink" Target="https://huggingface.co/spaces/bansal1234/Hirefit" TargetMode="External" Id="R08f8d86d43414e3d" /><Relationship Type="http://schemas.openxmlformats.org/officeDocument/2006/relationships/hyperlink" Target="https://github.com/bansalbhunesh/redrob-hirefit-ranker" TargetMode="External" Id="Rf0d3f1fb05d046e1" /><Relationship Type="http://schemas.openxmlformats.org/officeDocument/2006/relationships/notesSlide" Target="/ppt/notesSlides/notesSlide10.xml" Id="Rfc973b2fbe4a4b1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c97c91079b94410f" /><Relationship Type="http://schemas.openxmlformats.org/officeDocument/2006/relationships/image" Target="/ppt/media/image3.png" Id="Rf1d513c90fce42b3" /><Relationship Type="http://schemas.openxmlformats.org/officeDocument/2006/relationships/hyperlink" Target="https://github.com/bansalbhunesh/redrob-hirefit-ranker" TargetMode="External" Id="R8a0c642ff74748c6" /><Relationship Type="http://schemas.openxmlformats.org/officeDocument/2006/relationships/hyperlink" Target="https://redrob-hirefit-ranker.onrender.com" TargetMode="External" Id="Rf4f5454e4cb04f18" /><Relationship Type="http://schemas.openxmlformats.org/officeDocument/2006/relationships/hyperlink" Target="https://huggingface.co/spaces/bansal1234/Hirefit" TargetMode="External" Id="Rf04c21f6f9b743bf" /><Relationship Type="http://schemas.openxmlformats.org/officeDocument/2006/relationships/notesSlide" Target="/ppt/notesSlides/notesSlide11.xml" Id="Rfce78cbf2e8c4f47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9" name="Google Shape;54;p1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2030595a9b4ca9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144003" cy="514349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55" name="Google Shape;55;p13">
            <a:extLst xmlns:a="http://schemas.openxmlformats.org/drawingml/2006/main">
              <a:ext uri="{FF2B5EF4-FFF2-40B4-BE49-F238E27FC236}">
                <a16:creationId xmlns:a16="http://schemas.microsoft.com/office/drawing/2014/main" id="{7507EF7D-F249-4B27-8CBE-190327A71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700" y="3065023"/>
            <a:ext cx="8520600" cy="44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76200" tIns="66675" rIns="76200" bIns="6667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313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1313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Project  ·  HireFit    |    Team  ·  Pakka</a:t>
            </a:r>
          </a:p>
        </p:txBody>
      </p:sp>
      <p:sp>
        <p:nvSpPr>
          <p:cNvPr id="56" name="Google Shape;56;p13">
            <a:extLst xmlns:a="http://schemas.openxmlformats.org/drawingml/2006/main">
              <a:ext uri="{FF2B5EF4-FFF2-40B4-BE49-F238E27FC236}">
                <a16:creationId xmlns:a16="http://schemas.microsoft.com/office/drawing/2014/main" id="{04BF45C7-2C67-483B-91B9-F87E3349F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658" y="3829050"/>
            <a:ext cx="8520589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5250" tIns="66675" rIns="952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275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1275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Problem Statement  ·  Rank the best 100 candidates from 100,000 profiles for a Senior AI Engineer role.</a:t>
            </a:r>
          </a:p>
          <a:p xmlns:a="http://schemas.openxmlformats.org/drawingml/2006/main">
            <a:pPr marL="0" indent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275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1275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The system must remain offline, CPU-only, deterministic, and explainable.</a:t>
            </a:r>
          </a:p>
        </p:txBody>
      </p:sp>
      <p:sp>
        <p:nvSpPr>
          <p:cNvPr id="57" name="Google Shape;57;p13">
            <a:extLst xmlns:a="http://schemas.openxmlformats.org/drawingml/2006/main">
              <a:ext uri="{FF2B5EF4-FFF2-40B4-BE49-F238E27FC236}">
                <a16:creationId xmlns:a16="http://schemas.microsoft.com/office/drawing/2014/main" id="{86603FAC-6854-4BB0-B20F-C2D1C2803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688" y="3472483"/>
            <a:ext cx="8520600" cy="44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76200" tIns="66675" rIns="76200" bIns="6667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313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1313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Team Leader  ·  Bhunesh Bansal</a:t>
            </a:r>
          </a:p>
        </p:txBody>
      </p:sp>
    </p:spTree>
    <p:extLst>
      <p:ext uri="{BB962C8B-B14F-4D97-AF65-F5344CB8AC3E}">
        <p14:creationId xmlns:p14="http://schemas.microsoft.com/office/powerpoint/2010/main" val="313785986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1" name="Google Shape;62;p1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213035adb264eb0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9143997" cy="514349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63" name="Google Shape;63;p14">
            <a:extLst xmlns:a="http://schemas.openxmlformats.org/drawingml/2006/main">
              <a:ext uri="{FF2B5EF4-FFF2-40B4-BE49-F238E27FC236}">
                <a16:creationId xmlns:a16="http://schemas.microsoft.com/office/drawing/2014/main" id="{25318EBB-9255-47B1-A6E3-CA0F725E6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500" y="812600"/>
            <a:ext cx="2403000" cy="46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76200" tIns="66675" rIns="76200" bIns="66675" anchor="t">
            <a:normAutofit fontScale="78806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500" b="1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1500" b="1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</a:rPr>
              <a:t>Solution Overview</a:t>
            </a:r>
          </a:p>
        </p:txBody>
      </p:sp>
      <p:sp>
        <p:nvSpPr>
          <p:cNvPr id="64" name="Google Shape;64;p14">
            <a:extLst xmlns:a="http://schemas.openxmlformats.org/drawingml/2006/main">
              <a:ext uri="{FF2B5EF4-FFF2-40B4-BE49-F238E27FC236}">
                <a16:creationId xmlns:a16="http://schemas.microsoft.com/office/drawing/2014/main" id="{7E2B30FC-02DD-4390-AA4A-B05CAB4FB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600" y="1234440"/>
            <a:ext cx="852060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76200" tIns="66675" rIns="76200" bIns="66675" anchor="t">
            <a:normAutofit fontScale="100000"/>
          </a:bodyPr>
          <a:lstStyle xmlns:a="http://schemas.openxmlformats.org/drawingml/2006/main"/>
          <a:p xmlns:a="http://schemas.openxmlformats.org/drawingml/2006/main">
            <a:pPr marL="457200" indent="-315278"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  <a:buNone/>
              <a:defRPr sz="1125">
                <a:solidFill>
                  <a:srgbClr val="687078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87078"/>
                </a:solidFill>
                <a:latin typeface="Arial"/>
                <a:ea typeface="Arial"/>
                <a:cs typeface="Arial"/>
              </a:rPr>
              <a:t>An evidence-first recruiter that reads careers and behaviour, ranks on proof, and explains every decision.</a:t>
            </a:r>
          </a:p>
        </p:txBody>
      </p:sp>
      <p:sp>
        <p:nvSpPr>
          <p:cNvPr id="65" name="Rounded Rectangle 64">
            <a:extLst xmlns:a="http://schemas.openxmlformats.org/drawingml/2006/main">
              <a:ext uri="{FF2B5EF4-FFF2-40B4-BE49-F238E27FC236}">
                <a16:creationId xmlns:a16="http://schemas.microsoft.com/office/drawing/2014/main" id="{E626F67C-06CC-4E09-B22F-FEEF7A7C7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828800"/>
            <a:ext cx="1947672" cy="914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tIns="50800" bIns="50800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100" b="1">
                <a:solidFill>
                  <a:srgbClr val="2E39C9"/>
                </a:solidFill>
              </a:rPr>
              <a:t>100K</a:t>
            </a:r>
          </a:p>
          <a:p xmlns:a="http://schemas.openxmlformats.org/drawingml/2006/main">
            <a:pPr algn="ctr">
              <a:buNone/>
            </a:pPr>
            <a:r>
              <a:rPr sz="950">
                <a:solidFill>
                  <a:srgbClr val="6B7078"/>
                </a:solidFill>
              </a:rPr>
              <a:t>candidate pool</a:t>
            </a:r>
          </a:p>
        </p:txBody>
      </p:sp>
      <p:sp>
        <p:nvSpPr>
          <p:cNvPr id="66" name="Rounded Rectangle 65">
            <a:extLst xmlns:a="http://schemas.openxmlformats.org/drawingml/2006/main">
              <a:ext uri="{FF2B5EF4-FFF2-40B4-BE49-F238E27FC236}">
                <a16:creationId xmlns:a16="http://schemas.microsoft.com/office/drawing/2014/main" id="{8681B314-A422-4A55-9222-F9C56233A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1176" y="1828800"/>
            <a:ext cx="1947672" cy="914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tIns="50800" bIns="50800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100" b="1">
                <a:solidFill>
                  <a:srgbClr val="2E39C9"/>
                </a:solidFill>
              </a:rPr>
              <a:t>Top-100</a:t>
            </a:r>
          </a:p>
          <a:p xmlns:a="http://schemas.openxmlformats.org/drawingml/2006/main">
            <a:pPr algn="ctr">
              <a:buNone/>
            </a:pPr>
            <a:r>
              <a:rPr sz="950">
                <a:solidFill>
                  <a:srgbClr val="6B7078"/>
                </a:solidFill>
              </a:rPr>
              <a:t>final shortlist</a:t>
            </a:r>
          </a:p>
        </p:txBody>
      </p:sp>
      <p:sp>
        <p:nvSpPr>
          <p:cNvPr id="67" name="Rounded Rectangle 66">
            <a:extLst xmlns:a="http://schemas.openxmlformats.org/drawingml/2006/main">
              <a:ext uri="{FF2B5EF4-FFF2-40B4-BE49-F238E27FC236}">
                <a16:creationId xmlns:a16="http://schemas.microsoft.com/office/drawing/2014/main" id="{03FA1D8A-757A-4C9F-904F-6D7C235DB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5152" y="1828800"/>
            <a:ext cx="1947672" cy="914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tIns="50800" bIns="50800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100" b="1">
                <a:solidFill>
                  <a:srgbClr val="2E39C9"/>
                </a:solidFill>
              </a:rPr>
              <a:t>~136 s</a:t>
            </a:r>
          </a:p>
          <a:p xmlns:a="http://schemas.openxmlformats.org/drawingml/2006/main">
            <a:pPr algn="ctr">
              <a:buNone/>
            </a:pPr>
            <a:r>
              <a:rPr sz="950">
                <a:solidFill>
                  <a:srgbClr val="6B7078"/>
                </a:solidFill>
              </a:rPr>
              <a:t>100K on 2 CPU</a:t>
            </a:r>
          </a:p>
        </p:txBody>
      </p:sp>
      <p:sp>
        <p:nvSpPr>
          <p:cNvPr id="68" name="Rounded Rectangle 67">
            <a:extLst xmlns:a="http://schemas.openxmlformats.org/drawingml/2006/main">
              <a:ext uri="{FF2B5EF4-FFF2-40B4-BE49-F238E27FC236}">
                <a16:creationId xmlns:a16="http://schemas.microsoft.com/office/drawing/2014/main" id="{9F2C9519-CC4E-42F0-B764-DB38019F2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9128" y="1828800"/>
            <a:ext cx="1947672" cy="914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66675" rIns="7620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1200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rPr>
              <a:t>Traceable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200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1200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rPr>
              <a:t>base + rank steps</a:t>
            </a:r>
          </a:p>
        </p:txBody>
      </p:sp>
      <p:graphicFrame>
        <p:nvGraphicFramePr>
          <p:cNvPr id="78" name="Table 68"/>
          <p:cNvGraphicFramePr/>
          <p:nvPr/>
        </p:nvGraphicFramePr>
        <p:xfrm>
          <a:off xmlns:a="http://schemas.openxmlformats.org/drawingml/2006/main" x="457200" y="2880360"/>
          <a:ext xmlns:a="http://schemas.openxmlformats.org/drawingml/2006/main" cx="8229599" cy="1920240"/>
        </p:xfrm>
        <a:graphic xmlns:a="http://schemas.openxmlformats.org/drawingml/2006/main"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311965"/>
                <a:gridCol w="2862469"/>
                <a:gridCol w="4055165"/>
              </a:tblGrid>
              <a:tr h="3200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Aspect</a:t>
                      </a:r>
                    </a:p>
                  </a:txBody>
                  <a:tcPr marL="88900" marR="91440" marT="38100" marB="38100" anchor="ctr">
                    <a:solidFill>
                      <a:srgbClr val="2E39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Common public demos</a:t>
                      </a:r>
                    </a:p>
                  </a:txBody>
                  <a:tcPr marL="88900" marR="91440" marT="38100" marB="38100" anchor="ctr">
                    <a:solidFill>
                      <a:srgbClr val="2E39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HireFit</a:t>
                      </a:r>
                    </a:p>
                  </a:txBody>
                  <a:tcPr marL="88900" marR="91440" marT="38100" marB="38100" anchor="ctr">
                    <a:solidFill>
                      <a:srgbClr val="2E39C9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729"/>
                          </a:solidFill>
                        </a:rPr>
                        <a:t>Matching</a:t>
                      </a:r>
                    </a:p>
                  </a:txBody>
                  <a:tcPr marL="88900" marR="9144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729"/>
                          </a:solidFill>
                        </a:rPr>
                        <a:t>keywords or semantic similarity</a:t>
                      </a:r>
                    </a:p>
                  </a:txBody>
                  <a:tcPr marL="88900" marR="9144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39C9"/>
                          </a:solidFill>
                        </a:rPr>
                        <a:t>evidence of shipped work (33 features)</a:t>
                      </a:r>
                    </a:p>
                  </a:txBody>
                  <a:tcPr marL="88900" marR="91440" marT="38100" marB="38100"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729"/>
                          </a:solidFill>
                        </a:rPr>
                        <a:t>Evaluation</a:t>
                      </a:r>
                    </a:p>
                  </a:txBody>
                  <a:tcPr marL="88900" marR="91440" marT="38100" marB="38100" anchor="ctr">
                    <a:solidFill>
                      <a:srgbClr val="EE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729"/>
                          </a:solidFill>
                        </a:rPr>
                        <a:t>often one score or a sample demo</a:t>
                      </a:r>
                    </a:p>
                  </a:txBody>
                  <a:tcPr marL="88900" marR="91440" marT="38100" marB="38100" anchor="ctr">
                    <a:solidFill>
                      <a:srgbClr val="EE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39C9"/>
                          </a:solidFill>
                        </a:rPr>
                        <a:t>career + skill + behaviour + logistics + integrity</a:t>
                      </a:r>
                    </a:p>
                  </a:txBody>
                  <a:tcPr marL="88900" marR="91440" marT="38100" marB="38100" anchor="ctr">
                    <a:solidFill>
                      <a:srgbClr val="EEF0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729"/>
                          </a:solidFill>
                        </a:rPr>
                        <a:t>Integrity</a:t>
                      </a:r>
                    </a:p>
                  </a:txBody>
                  <a:tcPr marL="88900" marR="9144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729"/>
                          </a:solidFill>
                        </a:rPr>
                        <a:t>varies; frequently undocumented</a:t>
                      </a:r>
                    </a:p>
                  </a:txBody>
                  <a:tcPr marL="88900" marR="9144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39C9"/>
                          </a:solidFill>
                        </a:rPr>
                        <a:t>review flags + hard gates; 0 detector flags in top-100</a:t>
                      </a:r>
                    </a:p>
                  </a:txBody>
                  <a:tcPr marL="88900" marR="91440" marT="38100" marB="38100"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729"/>
                          </a:solidFill>
                        </a:rPr>
                        <a:t>Explainability</a:t>
                      </a:r>
                    </a:p>
                  </a:txBody>
                  <a:tcPr marL="88900" marR="91440" marT="38100" marB="38100" anchor="ctr">
                    <a:solidFill>
                      <a:srgbClr val="EE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729"/>
                          </a:solidFill>
                        </a:rPr>
                        <a:t>similarity score or generated rationale</a:t>
                      </a:r>
                    </a:p>
                  </a:txBody>
                  <a:tcPr marL="88900" marR="91440" marT="38100" marB="38100" anchor="ctr">
                    <a:solidFill>
                      <a:srgbClr val="EE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39C9"/>
                          </a:solidFill>
                        </a:rPr>
                        <a:t>exact evidence-base contributions + documented rank steps</a:t>
                      </a:r>
                    </a:p>
                  </a:txBody>
                  <a:tcPr marL="88900" marR="91440" marT="38100" marB="38100" anchor="ctr">
                    <a:solidFill>
                      <a:srgbClr val="EEF0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729"/>
                          </a:solidFill>
                        </a:rPr>
                        <a:t>Reproducibility</a:t>
                      </a:r>
                    </a:p>
                  </a:txBody>
                  <a:tcPr marL="88900" marR="9144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729"/>
                          </a:solidFill>
                        </a:rPr>
                        <a:t>full-pool artifact often absent</a:t>
                      </a:r>
                    </a:p>
                  </a:txBody>
                  <a:tcPr marL="88900" marR="9144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39C9"/>
                          </a:solidFill>
                        </a:rPr>
                        <a:t>byte-identical full-pool output; frozen SHA-256</a:t>
                      </a:r>
                    </a:p>
                  </a:txBody>
                  <a:tcPr marL="88900" marR="9144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65464238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4" name="Google Shape;69;p15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3520391c012472c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-12" y="0"/>
            <a:ext cx="9144018" cy="5143501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70" name="Google Shape;70;p15">
            <a:extLst xmlns:a="http://schemas.openxmlformats.org/drawingml/2006/main">
              <a:ext uri="{FF2B5EF4-FFF2-40B4-BE49-F238E27FC236}">
                <a16:creationId xmlns:a16="http://schemas.microsoft.com/office/drawing/2014/main" id="{DFF39775-8AE9-47BE-98E3-3C0EC3B6A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500" y="812600"/>
            <a:ext cx="8121600" cy="46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76200" tIns="66675" rIns="76200" bIns="66675" anchor="t">
            <a:normAutofit fontScale="78806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500" b="1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1500" b="1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</a:rPr>
              <a:t>JD Understanding &amp; Candidate Evaluation</a:t>
            </a:r>
          </a:p>
        </p:txBody>
      </p:sp>
      <p:sp>
        <p:nvSpPr>
          <p:cNvPr id="71" name="Google Shape;71;p15">
            <a:extLst xmlns:a="http://schemas.openxmlformats.org/drawingml/2006/main">
              <a:ext uri="{FF2B5EF4-FFF2-40B4-BE49-F238E27FC236}">
                <a16:creationId xmlns:a16="http://schemas.microsoft.com/office/drawing/2014/main" id="{E141E0C4-44BC-450A-8AD8-E49B10FC1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600" y="1234440"/>
            <a:ext cx="852060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76200" tIns="66675" rIns="76200" bIns="66675" anchor="t">
            <a:normAutofit fontScale="100000"/>
          </a:bodyPr>
          <a:lstStyle xmlns:a="http://schemas.openxmlformats.org/drawingml/2006/main"/>
          <a:p xmlns:a="http://schemas.openxmlformats.org/drawingml/2006/main">
            <a:pPr marL="457200" indent="-315278"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  <a:buNone/>
              <a:defRPr sz="1125">
                <a:solidFill>
                  <a:srgbClr val="687078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87078"/>
                </a:solidFill>
                <a:latin typeface="Arial"/>
                <a:ea typeface="Arial"/>
                <a:cs typeface="Arial"/>
              </a:rPr>
              <a:t>The JD lists keywords; the role hires for evidence. We translate requirements into signals that survive scrutiny.</a:t>
            </a:r>
          </a:p>
        </p:txBody>
      </p:sp>
      <p:graphicFrame>
        <p:nvGraphicFramePr>
          <p:cNvPr id="77" name="Table 71"/>
          <p:cNvGraphicFramePr/>
          <p:nvPr/>
        </p:nvGraphicFramePr>
        <p:xfrm>
          <a:off xmlns:a="http://schemas.openxmlformats.org/drawingml/2006/main" x="457200" y="1965960"/>
          <a:ext xmlns:a="http://schemas.openxmlformats.org/drawingml/2006/main" cx="8229599" cy="2194560"/>
        </p:xfrm>
        <a:graphic xmlns:a="http://schemas.openxmlformats.org/drawingml/2006/main"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805083"/>
                <a:gridCol w="4424516"/>
              </a:tblGrid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What the JD says</a:t>
                      </a:r>
                    </a:p>
                  </a:txBody>
                  <a:tcPr marL="88900" marR="91440" marT="38100" marB="38100" anchor="ctr">
                    <a:solidFill>
                      <a:srgbClr val="2E39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What the role actually hires for</a:t>
                      </a:r>
                    </a:p>
                  </a:txBody>
                  <a:tcPr marL="88900" marR="91440" marT="38100" marB="38100" anchor="ctr">
                    <a:solidFill>
                      <a:srgbClr val="2E39C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729"/>
                          </a:solidFill>
                        </a:rPr>
                        <a:t>5-9 yrs; embeddings, retrieval, ranking, NLP, PyTorch/TensorFlow; India locations</a:t>
                      </a:r>
                    </a:p>
                  </a:txBody>
                  <a:tcPr marL="88900" marR="9144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39C9"/>
                          </a:solidFill>
                        </a:rPr>
                        <a:t>demonstrated evidence of shipping production retrieval/ranking systems</a:t>
                      </a:r>
                    </a:p>
                  </a:txBody>
                  <a:tcPr marL="88900" marR="91440" marT="38100" marB="381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729"/>
                          </a:solidFill>
                        </a:rPr>
                        <a:t>a list of AI skill keywords</a:t>
                      </a:r>
                    </a:p>
                  </a:txBody>
                  <a:tcPr marL="88900" marR="91440" marT="38100" marB="38100" anchor="ctr">
                    <a:solidFill>
                      <a:srgbClr val="EE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39C9"/>
                          </a:solidFill>
                        </a:rPr>
                        <a:t>production depth and verified application—not keyword count alone</a:t>
                      </a:r>
                    </a:p>
                  </a:txBody>
                  <a:tcPr marL="88900" marR="91440" marT="38100" marB="38100" anchor="ctr">
                    <a:solidFill>
                      <a:srgbClr val="EEF0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729"/>
                          </a:solidFill>
                        </a:rPr>
                        <a:t>a candidate profile</a:t>
                      </a:r>
                    </a:p>
                  </a:txBody>
                  <a:tcPr marL="88900" marR="9144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39C9"/>
                          </a:solidFill>
                        </a:rPr>
                        <a:t>role &amp; seniority alignment, availability &amp; recruiter-responsiveness, and profile integrity</a:t>
                      </a:r>
                    </a:p>
                  </a:txBody>
                  <a:tcPr marL="88900" marR="9144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4801791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6" name="Google Shape;76;p1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f45bfc90d8546fb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9144003" cy="514349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77" name="Google Shape;77;p16">
            <a:extLst xmlns:a="http://schemas.openxmlformats.org/drawingml/2006/main">
              <a:ext uri="{FF2B5EF4-FFF2-40B4-BE49-F238E27FC236}">
                <a16:creationId xmlns:a16="http://schemas.microsoft.com/office/drawing/2014/main" id="{35F62A47-20AA-4F66-92A9-562DC029B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500" y="812600"/>
            <a:ext cx="8121600" cy="46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76200" tIns="66675" rIns="76200" bIns="66675" anchor="t">
            <a:normAutofit fontScale="78806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500" b="1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1500" b="1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</a:rPr>
              <a:t>Ranking Methodology</a:t>
            </a:r>
          </a:p>
        </p:txBody>
      </p:sp>
      <p:sp>
        <p:nvSpPr>
          <p:cNvPr id="78" name="Google Shape;78;p16">
            <a:extLst xmlns:a="http://schemas.openxmlformats.org/drawingml/2006/main">
              <a:ext uri="{FF2B5EF4-FFF2-40B4-BE49-F238E27FC236}">
                <a16:creationId xmlns:a16="http://schemas.microsoft.com/office/drawing/2014/main" id="{CF17B53C-F7CD-47C4-A3D1-ACE9F4A59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600" y="1234440"/>
            <a:ext cx="852060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76200" tIns="66675" rIns="76200" bIns="66675" anchor="t">
            <a:normAutofit fontScale="100000"/>
          </a:bodyPr>
          <a:lstStyle xmlns:a="http://schemas.openxmlformats.org/drawingml/2006/main"/>
          <a:p xmlns:a="http://schemas.openxmlformats.org/drawingml/2006/main">
            <a:pPr marL="457200" indent="-315278"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  <a:buNone/>
              <a:defRPr sz="1125">
                <a:solidFill>
                  <a:srgbClr val="687078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87078"/>
                </a:solidFill>
                <a:latin typeface="Arial"/>
                <a:ea typeface="Arial"/>
                <a:cs typeface="Arial"/>
              </a:rPr>
              <a:t>Retrieve the credible field, score the evidence, then rank with a stable, inspectable sort.</a:t>
            </a:r>
          </a:p>
        </p:txBody>
      </p:sp>
      <p:sp>
        <p:nvSpPr>
          <p:cNvPr id="79" name="Rounded Rectangle 78">
            <a:extLst xmlns:a="http://schemas.openxmlformats.org/drawingml/2006/main">
              <a:ext uri="{FF2B5EF4-FFF2-40B4-BE49-F238E27FC236}">
                <a16:creationId xmlns:a16="http://schemas.microsoft.com/office/drawing/2014/main" id="{CC3F49DF-C937-4EE2-BEED-108F2F96D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965960"/>
            <a:ext cx="257175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14300" tIns="9525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65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1065" b="1">
                <a:solidFill>
                  <a:srgbClr val="2F3ED6"/>
                </a:solidFill>
                <a:latin typeface="Arial"/>
                <a:ea typeface="Arial"/>
                <a:cs typeface="Arial"/>
              </a:rPr>
              <a:t>1  RETRIEVE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065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1065">
                <a:solidFill>
                  <a:srgbClr val="202729"/>
                </a:solidFill>
                <a:latin typeface="Arial"/>
                <a:ea typeface="Arial"/>
                <a:cs typeface="Arial"/>
              </a:rPr>
              <a:t>BM25 narrows 100K profiles to a credible field—fast, local, and CPU-only.</a:t>
            </a:r>
          </a:p>
        </p:txBody>
      </p:sp>
      <p:sp>
        <p:nvSpPr>
          <p:cNvPr id="80" name="Rounded Rectangle 79">
            <a:extLst xmlns:a="http://schemas.openxmlformats.org/drawingml/2006/main">
              <a:ext uri="{FF2B5EF4-FFF2-40B4-BE49-F238E27FC236}">
                <a16:creationId xmlns:a16="http://schemas.microsoft.com/office/drawing/2014/main" id="{E6B45E45-3551-42AA-98DE-5C5480962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1965960"/>
            <a:ext cx="257175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14300" tIns="9525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65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1065" b="1">
                <a:solidFill>
                  <a:srgbClr val="2F3ED6"/>
                </a:solidFill>
                <a:latin typeface="Arial"/>
                <a:ea typeface="Arial"/>
                <a:cs typeface="Arial"/>
              </a:rPr>
              <a:t>2  VERIFY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065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1065">
                <a:solidFill>
                  <a:srgbClr val="202729"/>
                </a:solidFill>
                <a:latin typeface="Arial"/>
                <a:ea typeface="Arial"/>
                <a:cs typeface="Arial"/>
              </a:rPr>
              <a:t>33 named features measure career evidence, skill depth, behaviour, availability, and integrity.</a:t>
            </a:r>
          </a:p>
        </p:txBody>
      </p:sp>
      <p:sp>
        <p:nvSpPr>
          <p:cNvPr id="81" name="Rounded Rectangle 80">
            <a:extLst xmlns:a="http://schemas.openxmlformats.org/drawingml/2006/main">
              <a:ext uri="{FF2B5EF4-FFF2-40B4-BE49-F238E27FC236}">
                <a16:creationId xmlns:a16="http://schemas.microsoft.com/office/drawing/2014/main" id="{6835A684-F4E6-4BBE-B9B9-5F9D35D07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965960"/>
            <a:ext cx="257175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14300" tIns="9525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65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1065" b="1">
                <a:solidFill>
                  <a:srgbClr val="2F3ED6"/>
                </a:solidFill>
                <a:latin typeface="Arial"/>
                <a:ea typeface="Arial"/>
                <a:cs typeface="Arial"/>
              </a:rPr>
              <a:t>3  RANK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065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1065">
                <a:solidFill>
                  <a:srgbClr val="202729"/>
                </a:solidFill>
                <a:latin typeface="Arial"/>
                <a:ea typeface="Arial"/>
                <a:cs typeface="Arial"/>
              </a:rPr>
              <a:t>A conservative RRF hedge and narrow, feature-only corrections produce a stable final order.</a:t>
            </a:r>
          </a:p>
        </p:txBody>
      </p:sp>
      <p:sp>
        <p:nvSpPr>
          <p:cNvPr id="82" name="TextBox 81">
            <a:extLst xmlns:a="http://schemas.openxmlformats.org/drawingml/2006/main">
              <a:ext uri="{FF2B5EF4-FFF2-40B4-BE49-F238E27FC236}">
                <a16:creationId xmlns:a16="http://schemas.microsoft.com/office/drawing/2014/main" id="{B29F01CC-3288-4B58-9084-C33D86B18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91840"/>
            <a:ext cx="822960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95250" tIns="76200" rIns="114300" bIns="57150" anchor="ctr">
            <a:spAutoFit/>
          </a:bodyPr>
          <a:lstStyle xmlns:a="http://schemas.openxmlformats.org/drawingml/2006/main"/>
          <a:p xmlns:a="http://schemas.openxmlformats.org/drawingml/2006/main">
            <a:pPr marL="18" indent="-10">
              <a:lnSpc>
                <a:spcPct val="112000"/>
              </a:lnSpc>
              <a:buNone/>
              <a:defRPr sz="1013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Evidence base: </a:t>
            </a:r>
            <a:r>
              <a:rPr sz="1013">
                <a:solidFill>
                  <a:srgbClr val="202729"/>
                </a:solidFill>
                <a:latin typeface="Arial"/>
                <a:ea typeface="Arial"/>
                <a:cs typeface="Arial"/>
              </a:rPr>
              <a:t>33 deterministic features computed from profile facts—not generated text.</a:t>
            </a:r>
          </a:p>
          <a:p xmlns:a="http://schemas.openxmlformats.org/drawingml/2006/main">
            <a:pPr marL="18" indent="-10">
              <a:lnSpc>
                <a:spcPct val="112000"/>
              </a:lnSpc>
              <a:buNone/>
              <a:defRPr sz="1013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Hard guardrails: </a:t>
            </a:r>
            <a:r>
              <a:rPr sz="1013">
                <a:solidFill>
                  <a:srgbClr val="202729"/>
                </a:solidFill>
                <a:latin typeface="Arial"/>
                <a:ea typeface="Arial"/>
                <a:cs typeface="Arial"/>
              </a:rPr>
              <a:t>integrity-anomaly and JD-disqualifier multipliers act before the final sort.</a:t>
            </a:r>
          </a:p>
          <a:p xmlns:a="http://schemas.openxmlformats.org/drawingml/2006/main">
            <a:pPr marL="18" indent="-10">
              <a:lnSpc>
                <a:spcPct val="112000"/>
              </a:lnSpc>
              <a:buNone/>
              <a:defRPr sz="1013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Stable release: </a:t>
            </a:r>
            <a:r>
              <a:rPr sz="1013">
                <a:solidFill>
                  <a:srgbClr val="202729"/>
                </a:solidFill>
                <a:latin typeface="Arial"/>
                <a:ea typeface="Arial"/>
                <a:cs typeface="Arial"/>
              </a:rPr>
              <a:t>two clean integrity backfills and two narrow tie-breaks survived holdout testing.</a:t>
            </a:r>
          </a:p>
          <a:p xmlns:a="http://schemas.openxmlformats.org/drawingml/2006/main">
            <a:pPr marL="18" indent="-10">
              <a:lnSpc>
                <a:spcPct val="112000"/>
              </a:lnSpc>
              <a:buNone/>
              <a:defRPr sz="1013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Grounded output: </a:t>
            </a:r>
            <a:r>
              <a:rPr sz="1013">
                <a:solidFill>
                  <a:srgbClr val="202729"/>
                </a:solidFill>
                <a:latin typeface="Arial"/>
                <a:ea typeface="Arial"/>
                <a:cs typeface="Arial"/>
              </a:rPr>
              <a:t>no hosted LLM or API at rank time; reasons use observed candidate facts only.</a:t>
            </a:r>
          </a:p>
        </p:txBody>
      </p:sp>
      <p:cxnSp>
        <p:nvCxnSpPr>
          <p:cNvPr id="93" name=""/>
          <p:cNvCxnSpPr>
            <a:stCxn xmlns:a="http://schemas.openxmlformats.org/drawingml/2006/main" id="79" idx="3"/>
            <a:endCxn xmlns:a="http://schemas.openxmlformats.org/drawingml/2006/main" id="80" idx="1"/>
          </p:cNvCxnSpPr>
          <p:nvPr/>
        </p:nvCxnSpPr>
        <p:spPr>
          <a:xfrm xmlns:a="http://schemas.openxmlformats.org/drawingml/2006/main">
            <a:off x="3028950" y="2491740"/>
            <a:ext cx="257175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 cap="rnd">
            <a:solidFill>
              <a:srgbClr val="2F3ED6"/>
            </a:solidFill>
            <a:prstDash val="solid"/>
            <a:tailEnd type="triangle" w="sm" len="sm"/>
          </a:ln>
        </p:spPr>
      </p:cxnSp>
      <p:cxnSp>
        <p:nvCxnSpPr>
          <p:cNvPr id="94" name=""/>
          <p:cNvCxnSpPr>
            <a:stCxn xmlns:a="http://schemas.openxmlformats.org/drawingml/2006/main" id="80" idx="3"/>
            <a:endCxn xmlns:a="http://schemas.openxmlformats.org/drawingml/2006/main" id="81" idx="1"/>
          </p:cNvCxnSpPr>
          <p:nvPr/>
        </p:nvCxnSpPr>
        <p:spPr>
          <a:xfrm xmlns:a="http://schemas.openxmlformats.org/drawingml/2006/main">
            <a:off x="5857875" y="2491740"/>
            <a:ext cx="257175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 cap="rnd">
            <a:solidFill>
              <a:srgbClr val="2F3ED6"/>
            </a:solidFill>
            <a:prstDash val="solid"/>
            <a:tailEnd type="triangle" w="sm" len="sm"/>
          </a:ln>
        </p:spPr>
      </p:cxnSp>
    </p:spTree>
    <p:extLst>
      <p:ext uri="{BB962C8B-B14F-4D97-AF65-F5344CB8AC3E}">
        <p14:creationId xmlns:p14="http://schemas.microsoft.com/office/powerpoint/2010/main" val="747832966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3" name="Google Shape;83;p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0d4fd2ecb02448c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9144003" cy="514349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84" name="Google Shape;84;p17">
            <a:extLst xmlns:a="http://schemas.openxmlformats.org/drawingml/2006/main">
              <a:ext uri="{FF2B5EF4-FFF2-40B4-BE49-F238E27FC236}">
                <a16:creationId xmlns:a16="http://schemas.microsoft.com/office/drawing/2014/main" id="{F368DA71-5297-446B-981C-1EAC85D36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500" y="812600"/>
            <a:ext cx="8121600" cy="46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76200" tIns="66675" rIns="76200" bIns="66675" anchor="t">
            <a:normAutofit fontScale="78806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500" b="1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1500" b="1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</a:rPr>
              <a:t>Explainability &amp; Data Validation</a:t>
            </a:r>
          </a:p>
        </p:txBody>
      </p:sp>
      <p:sp>
        <p:nvSpPr>
          <p:cNvPr id="85" name="Google Shape;85;p17">
            <a:extLst xmlns:a="http://schemas.openxmlformats.org/drawingml/2006/main">
              <a:ext uri="{FF2B5EF4-FFF2-40B4-BE49-F238E27FC236}">
                <a16:creationId xmlns:a16="http://schemas.microsoft.com/office/drawing/2014/main" id="{7AB34922-6F4F-43AF-89BB-C8B0DA4D2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600" y="1234440"/>
            <a:ext cx="852060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76200" tIns="66675" rIns="76200" bIns="66675" anchor="t">
            <a:normAutofit fontScale="100000"/>
          </a:bodyPr>
          <a:lstStyle xmlns:a="http://schemas.openxmlformats.org/drawingml/2006/main"/>
          <a:p xmlns:a="http://schemas.openxmlformats.org/drawingml/2006/main">
            <a:pPr marL="457200" indent="-315278"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  <a:buNone/>
              <a:defRPr sz="1125">
                <a:solidFill>
                  <a:srgbClr val="687078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87078"/>
                </a:solidFill>
                <a:latin typeface="Arial"/>
                <a:ea typeface="Arial"/>
                <a:cs typeface="Arial"/>
              </a:rPr>
              <a:t>A judge can trace the evidence score, the grounded reason, and every integrity decision.</a:t>
            </a:r>
          </a:p>
        </p:txBody>
      </p:sp>
      <p:sp>
        <p:nvSpPr>
          <p:cNvPr id="86" name="TextBox 85">
            <a:extLst xmlns:a="http://schemas.openxmlformats.org/drawingml/2006/main">
              <a:ext uri="{FF2B5EF4-FFF2-40B4-BE49-F238E27FC236}">
                <a16:creationId xmlns:a16="http://schemas.microsoft.com/office/drawing/2014/main" id="{E962992F-E551-4F77-B2FB-40620EF3E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57400"/>
            <a:ext cx="38404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76200" tIns="66675" rIns="76200" bIns="66675" anchor="t">
            <a:normAutofit fontScale="78721"/>
          </a:bodyPr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08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108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Verified explanation &amp; release checks</a:t>
            </a:r>
          </a:p>
        </p:txBody>
      </p:sp>
      <p:sp>
        <p:nvSpPr>
          <p:cNvPr id="87" name="TextBox 86">
            <a:extLst xmlns:a="http://schemas.openxmlformats.org/drawingml/2006/main">
              <a:ext uri="{FF2B5EF4-FFF2-40B4-BE49-F238E27FC236}">
                <a16:creationId xmlns:a16="http://schemas.microsoft.com/office/drawing/2014/main" id="{3F81BEFB-A880-4D90-8678-9657E46EA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23160"/>
            <a:ext cx="15544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76200" tIns="66675" rIns="76200" bIns="66675" anchor="ctr">
            <a:normAutofit fontScale="9773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90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990">
                <a:solidFill>
                  <a:srgbClr val="202729"/>
                </a:solidFill>
                <a:latin typeface="Arial"/>
                <a:ea typeface="Arial"/>
                <a:cs typeface="Arial"/>
              </a:rPr>
              <a:t>Evidence features</a:t>
            </a:r>
          </a:p>
        </p:txBody>
      </p:sp>
      <p:sp>
        <p:nvSpPr>
          <p:cNvPr id="88" name="Rounded Rectangle 87">
            <a:extLst xmlns:a="http://schemas.openxmlformats.org/drawingml/2006/main">
              <a:ext uri="{FF2B5EF4-FFF2-40B4-BE49-F238E27FC236}">
                <a16:creationId xmlns:a16="http://schemas.microsoft.com/office/drawing/2014/main" id="{7340F384-8BA1-42C4-897D-5F2237368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2468879"/>
            <a:ext cx="2194560" cy="2011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CEEF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9" name="Rounded Rectangle 88">
            <a:extLst xmlns:a="http://schemas.openxmlformats.org/drawingml/2006/main">
              <a:ext uri="{FF2B5EF4-FFF2-40B4-BE49-F238E27FC236}">
                <a16:creationId xmlns:a16="http://schemas.microsoft.com/office/drawing/2014/main" id="{4A8BD7E1-EA20-48CA-841B-FFEAD57CD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2468879"/>
            <a:ext cx="2194560" cy="2011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E39C9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0" name="TextBox 89">
            <a:extLst xmlns:a="http://schemas.openxmlformats.org/drawingml/2006/main">
              <a:ext uri="{FF2B5EF4-FFF2-40B4-BE49-F238E27FC236}">
                <a16:creationId xmlns:a16="http://schemas.microsoft.com/office/drawing/2014/main" id="{FCF6DC62-1352-434F-BA10-FCDB54F3B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2423160"/>
            <a:ext cx="7315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76200" tIns="66675" rIns="76200" bIns="66675" anchor="ctr">
            <a:normAutofit fontScale="9773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90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990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rPr>
              <a:t>33</a:t>
            </a:r>
          </a:p>
        </p:txBody>
      </p:sp>
      <p:sp>
        <p:nvSpPr>
          <p:cNvPr id="91" name="TextBox 90">
            <a:extLst xmlns:a="http://schemas.openxmlformats.org/drawingml/2006/main">
              <a:ext uri="{FF2B5EF4-FFF2-40B4-BE49-F238E27FC236}">
                <a16:creationId xmlns:a16="http://schemas.microsoft.com/office/drawing/2014/main" id="{2CE68905-A2E7-4C28-A073-F226DCDB6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70632"/>
            <a:ext cx="15544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76200" tIns="66675" rIns="76200" bIns="66675" anchor="ctr">
            <a:normAutofit fontScale="9773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90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990">
                <a:solidFill>
                  <a:srgbClr val="202729"/>
                </a:solidFill>
                <a:latin typeface="Arial"/>
                <a:ea typeface="Arial"/>
                <a:cs typeface="Arial"/>
              </a:rPr>
              <a:t>Top-100 reasons</a:t>
            </a:r>
          </a:p>
        </p:txBody>
      </p:sp>
      <p:sp>
        <p:nvSpPr>
          <p:cNvPr id="92" name="Rounded Rectangle 91">
            <a:extLst xmlns:a="http://schemas.openxmlformats.org/drawingml/2006/main">
              <a:ext uri="{FF2B5EF4-FFF2-40B4-BE49-F238E27FC236}">
                <a16:creationId xmlns:a16="http://schemas.microsoft.com/office/drawing/2014/main" id="{8EFD5D9F-13AA-4C16-91E8-21411D7BC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2816351"/>
            <a:ext cx="2194560" cy="2011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CEEF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3" name="Rounded Rectangle 92">
            <a:extLst xmlns:a="http://schemas.openxmlformats.org/drawingml/2006/main">
              <a:ext uri="{FF2B5EF4-FFF2-40B4-BE49-F238E27FC236}">
                <a16:creationId xmlns:a16="http://schemas.microsoft.com/office/drawing/2014/main" id="{8917F142-D5B6-478F-B9E9-77FCB7014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2816351"/>
            <a:ext cx="2194560" cy="2011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E39C9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4" name="TextBox 93">
            <a:extLst xmlns:a="http://schemas.openxmlformats.org/drawingml/2006/main">
              <a:ext uri="{FF2B5EF4-FFF2-40B4-BE49-F238E27FC236}">
                <a16:creationId xmlns:a16="http://schemas.microsoft.com/office/drawing/2014/main" id="{1BF006E6-F319-4099-B5C4-5EC6A37A7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2770632"/>
            <a:ext cx="7315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76200" tIns="66675" rIns="76200" bIns="66675" anchor="ctr">
            <a:normAutofit fontScale="9773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90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990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rPr>
              <a:t>100</a:t>
            </a:r>
          </a:p>
        </p:txBody>
      </p:sp>
      <p:sp>
        <p:nvSpPr>
          <p:cNvPr id="95" name="TextBox 94">
            <a:extLst xmlns:a="http://schemas.openxmlformats.org/drawingml/2006/main">
              <a:ext uri="{FF2B5EF4-FFF2-40B4-BE49-F238E27FC236}">
                <a16:creationId xmlns:a16="http://schemas.microsoft.com/office/drawing/2014/main" id="{0B5CBF93-8038-41C2-B5C2-9222FA394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118104"/>
            <a:ext cx="15544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76200" tIns="66675" rIns="76200" bIns="66675" anchor="ctr">
            <a:normAutofit fontScale="9773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90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990">
                <a:solidFill>
                  <a:srgbClr val="202729"/>
                </a:solidFill>
                <a:latin typeface="Arial"/>
                <a:ea typeface="Arial"/>
                <a:cs typeface="Arial"/>
              </a:rPr>
              <a:t>Review signals</a:t>
            </a:r>
          </a:p>
        </p:txBody>
      </p:sp>
      <p:sp>
        <p:nvSpPr>
          <p:cNvPr id="96" name="Rounded Rectangle 95">
            <a:extLst xmlns:a="http://schemas.openxmlformats.org/drawingml/2006/main">
              <a:ext uri="{FF2B5EF4-FFF2-40B4-BE49-F238E27FC236}">
                <a16:creationId xmlns:a16="http://schemas.microsoft.com/office/drawing/2014/main" id="{F9BE7332-ED9A-4C2F-B0EC-D9841359E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3163824"/>
            <a:ext cx="2194560" cy="2011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CEEF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7" name="Rounded Rectangle 96">
            <a:extLst xmlns:a="http://schemas.openxmlformats.org/drawingml/2006/main">
              <a:ext uri="{FF2B5EF4-FFF2-40B4-BE49-F238E27FC236}">
                <a16:creationId xmlns:a16="http://schemas.microsoft.com/office/drawing/2014/main" id="{48CB87CC-70E4-444E-939C-9E57DD630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3163824"/>
            <a:ext cx="2194560" cy="2011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E39C9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8" name="TextBox 97">
            <a:extLst xmlns:a="http://schemas.openxmlformats.org/drawingml/2006/main">
              <a:ext uri="{FF2B5EF4-FFF2-40B4-BE49-F238E27FC236}">
                <a16:creationId xmlns:a16="http://schemas.microsoft.com/office/drawing/2014/main" id="{708C8BDD-B347-4FC6-AEE7-9EC4E5F27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3118104"/>
            <a:ext cx="7315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76200" tIns="66675" rIns="76200" bIns="66675" anchor="ctr">
            <a:normAutofit fontScale="9773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90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990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rPr>
              <a:t>55</a:t>
            </a:r>
          </a:p>
        </p:txBody>
      </p:sp>
      <p:sp>
        <p:nvSpPr>
          <p:cNvPr id="99" name="TextBox 98">
            <a:extLst xmlns:a="http://schemas.openxmlformats.org/drawingml/2006/main">
              <a:ext uri="{FF2B5EF4-FFF2-40B4-BE49-F238E27FC236}">
                <a16:creationId xmlns:a16="http://schemas.microsoft.com/office/drawing/2014/main" id="{DC4BB006-F85B-4B26-8DA8-327C20CEE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65576"/>
            <a:ext cx="15544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76200" tIns="66675" rIns="76200" bIns="66675" anchor="ctr">
            <a:normAutofit fontScale="9773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90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990">
                <a:solidFill>
                  <a:srgbClr val="202729"/>
                </a:solidFill>
                <a:latin typeface="Arial"/>
                <a:ea typeface="Arial"/>
                <a:cs typeface="Arial"/>
              </a:rPr>
              <a:t>Flags shortlisted</a:t>
            </a:r>
          </a:p>
        </p:txBody>
      </p:sp>
      <p:sp>
        <p:nvSpPr>
          <p:cNvPr id="100" name="Rounded Rectangle 99">
            <a:extLst xmlns:a="http://schemas.openxmlformats.org/drawingml/2006/main">
              <a:ext uri="{FF2B5EF4-FFF2-40B4-BE49-F238E27FC236}">
                <a16:creationId xmlns:a16="http://schemas.microsoft.com/office/drawing/2014/main" id="{7B14587C-26A0-4F1A-8C5F-7ADB100E4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3511296"/>
            <a:ext cx="2194560" cy="2011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CEEF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1" name="Rounded Rectangle 100">
            <a:extLst xmlns:a="http://schemas.openxmlformats.org/drawingml/2006/main">
              <a:ext uri="{FF2B5EF4-FFF2-40B4-BE49-F238E27FC236}">
                <a16:creationId xmlns:a16="http://schemas.microsoft.com/office/drawing/2014/main" id="{0A7FF76F-1F36-4BD0-8B09-54A0BFCBB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3511296"/>
            <a:ext cx="2194560" cy="2011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E39C9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2" name="TextBox 101">
            <a:extLst xmlns:a="http://schemas.openxmlformats.org/drawingml/2006/main">
              <a:ext uri="{FF2B5EF4-FFF2-40B4-BE49-F238E27FC236}">
                <a16:creationId xmlns:a16="http://schemas.microsoft.com/office/drawing/2014/main" id="{D6B764DC-EB60-4D26-ACE1-DE548C453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3465576"/>
            <a:ext cx="7315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76200" tIns="66675" rIns="76200" bIns="66675" anchor="ctr">
            <a:normAutofit fontScale="9773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90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990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rPr>
              <a:t>0</a:t>
            </a:r>
          </a:p>
        </p:txBody>
      </p:sp>
      <p:sp>
        <p:nvSpPr>
          <p:cNvPr id="103" name="TextBox 102">
            <a:extLst xmlns:a="http://schemas.openxmlformats.org/drawingml/2006/main">
              <a:ext uri="{FF2B5EF4-FFF2-40B4-BE49-F238E27FC236}">
                <a16:creationId xmlns:a16="http://schemas.microsoft.com/office/drawing/2014/main" id="{236E8E36-E9DE-4DBF-AA35-0C5B15572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13048"/>
            <a:ext cx="15544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76200" tIns="66675" rIns="76200" bIns="66675" anchor="ctr">
            <a:normAutofit fontScale="9773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90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990">
                <a:solidFill>
                  <a:srgbClr val="202729"/>
                </a:solidFill>
                <a:latin typeface="Arial"/>
                <a:ea typeface="Arial"/>
                <a:cs typeface="Arial"/>
              </a:rPr>
              <a:t>Golden output</a:t>
            </a:r>
          </a:p>
        </p:txBody>
      </p:sp>
      <p:sp>
        <p:nvSpPr>
          <p:cNvPr id="104" name="Rounded Rectangle 103">
            <a:extLst xmlns:a="http://schemas.openxmlformats.org/drawingml/2006/main">
              <a:ext uri="{FF2B5EF4-FFF2-40B4-BE49-F238E27FC236}">
                <a16:creationId xmlns:a16="http://schemas.microsoft.com/office/drawing/2014/main" id="{315B9FDA-259D-40E0-AED4-55ED4433E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3858768"/>
            <a:ext cx="2194560" cy="2011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CEEF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5" name="Rounded Rectangle 104">
            <a:extLst xmlns:a="http://schemas.openxmlformats.org/drawingml/2006/main">
              <a:ext uri="{FF2B5EF4-FFF2-40B4-BE49-F238E27FC236}">
                <a16:creationId xmlns:a16="http://schemas.microsoft.com/office/drawing/2014/main" id="{BEA364B2-4256-4BB4-B527-4646A6683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3858768"/>
            <a:ext cx="2194560" cy="2011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E39C9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6" name="TextBox 105">
            <a:extLst xmlns:a="http://schemas.openxmlformats.org/drawingml/2006/main">
              <a:ext uri="{FF2B5EF4-FFF2-40B4-BE49-F238E27FC236}">
                <a16:creationId xmlns:a16="http://schemas.microsoft.com/office/drawing/2014/main" id="{EF5D2C86-343B-441C-8611-4E97D27AB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3813048"/>
            <a:ext cx="7315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76200" tIns="66675" rIns="76200" bIns="66675" anchor="ctr">
            <a:normAutofit fontScale="9773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90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990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rPr>
              <a:t>3d2d…</a:t>
            </a:r>
          </a:p>
        </p:txBody>
      </p:sp>
      <p:sp>
        <p:nvSpPr>
          <p:cNvPr id="107" name="TextBox 106">
            <a:extLst xmlns:a="http://schemas.openxmlformats.org/drawingml/2006/main">
              <a:ext uri="{FF2B5EF4-FFF2-40B4-BE49-F238E27FC236}">
                <a16:creationId xmlns:a16="http://schemas.microsoft.com/office/drawing/2014/main" id="{46D0B348-CE93-4461-A13C-C2431525C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60520"/>
            <a:ext cx="15544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76200" tIns="66675" rIns="76200" bIns="66675" anchor="ctr">
            <a:normAutofit fontScale="9773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90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990">
                <a:solidFill>
                  <a:srgbClr val="202729"/>
                </a:solidFill>
                <a:latin typeface="Arial"/>
                <a:ea typeface="Arial"/>
                <a:cs typeface="Arial"/>
              </a:rPr>
              <a:t>Faithfulness test</a:t>
            </a:r>
          </a:p>
        </p:txBody>
      </p:sp>
      <p:sp>
        <p:nvSpPr>
          <p:cNvPr id="108" name="Rounded Rectangle 107">
            <a:extLst xmlns:a="http://schemas.openxmlformats.org/drawingml/2006/main">
              <a:ext uri="{FF2B5EF4-FFF2-40B4-BE49-F238E27FC236}">
                <a16:creationId xmlns:a16="http://schemas.microsoft.com/office/drawing/2014/main" id="{1D663AFF-2A9D-4345-90B5-C96466F41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4206240"/>
            <a:ext cx="2194560" cy="2011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CEEF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9" name="Rounded Rectangle 108">
            <a:extLst xmlns:a="http://schemas.openxmlformats.org/drawingml/2006/main">
              <a:ext uri="{FF2B5EF4-FFF2-40B4-BE49-F238E27FC236}">
                <a16:creationId xmlns:a16="http://schemas.microsoft.com/office/drawing/2014/main" id="{1462A00F-0E27-4460-8F51-ECD204165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4206240"/>
            <a:ext cx="2194560" cy="2011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E39C9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0" name="TextBox 109">
            <a:extLst xmlns:a="http://schemas.openxmlformats.org/drawingml/2006/main">
              <a:ext uri="{FF2B5EF4-FFF2-40B4-BE49-F238E27FC236}">
                <a16:creationId xmlns:a16="http://schemas.microsoft.com/office/drawing/2014/main" id="{79B1D93F-B721-4630-BD1F-3AFF4750A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4160520"/>
            <a:ext cx="7315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76200" tIns="66675" rIns="76200" bIns="66675" anchor="ctr">
            <a:normAutofit fontScale="9773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90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990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rPr>
              <a:t>PASS</a:t>
            </a:r>
          </a:p>
        </p:txBody>
      </p:sp>
      <p:sp>
        <p:nvSpPr>
          <p:cNvPr id="111" name="TextBox 110">
            <a:extLst xmlns:a="http://schemas.openxmlformats.org/drawingml/2006/main">
              <a:ext uri="{FF2B5EF4-FFF2-40B4-BE49-F238E27FC236}">
                <a16:creationId xmlns:a16="http://schemas.microsoft.com/office/drawing/2014/main" id="{BFBE4988-8943-4741-828B-28BA17E36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0" y="2114550"/>
            <a:ext cx="3474720" cy="3291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57150" rIns="76200" bIns="381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020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1020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01 / EXACT ATTRIBUTION
</a:t>
            </a:r>
            <a:r>
              <a:rPr sz="1020">
                <a:solidFill>
                  <a:srgbClr val="202729"/>
                </a:solidFill>
                <a:latin typeface="Arial"/>
                <a:ea typeface="Arial"/>
                <a:cs typeface="Arial"/>
              </a:rPr>
              <a:t>Each feature’s additive term is its analytic Shapley value. The terms reconstruct the evidence score exactly.</a:t>
            </a:r>
          </a:p>
          <a:p xmlns:a="http://schemas.openxmlformats.org/drawingml/2006/main">
            <a:pPr>
              <a:lnSpc>
                <a:spcPct val="108000"/>
              </a:lnSpc>
              <a:buNone/>
              <a:defRPr sz="1020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1020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02 / GROUNDED REASONING
</a:t>
            </a:r>
            <a:r>
              <a:rPr sz="1020">
                <a:solidFill>
                  <a:srgbClr val="202729"/>
                </a:solidFill>
                <a:latin typeface="Arial"/>
                <a:ea typeface="Arial"/>
                <a:cs typeface="Arial"/>
              </a:rPr>
              <a:t>Candidate reasons use deterministic templates populated only from observed profile facts; no text generator runs at rank time.</a:t>
            </a:r>
          </a:p>
          <a:p xmlns:a="http://schemas.openxmlformats.org/drawingml/2006/main">
            <a:pPr>
              <a:lnSpc>
                <a:spcPct val="108000"/>
              </a:lnSpc>
              <a:buNone/>
              <a:defRPr sz="1020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1020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03 / INTEGRITY REVIEW
</a:t>
            </a:r>
            <a:r>
              <a:rPr sz="1020">
                <a:solidFill>
                  <a:srgbClr val="202729"/>
                </a:solidFill>
                <a:latin typeface="Arial"/>
                <a:ea typeface="Arial"/>
                <a:cs typeface="Arial"/>
              </a:rPr>
              <a:t>55 profiles were flagged for review; 0 entered the top 100. The new three-way YoE check closes two previously missed contradictions without using candidate IDs.</a:t>
            </a:r>
          </a:p>
        </p:txBody>
      </p:sp>
    </p:spTree>
    <p:extLst>
      <p:ext uri="{BB962C8B-B14F-4D97-AF65-F5344CB8AC3E}">
        <p14:creationId xmlns:p14="http://schemas.microsoft.com/office/powerpoint/2010/main" val="345573784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8" name="Google Shape;90;p1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cd0ef990cc04dec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9144003" cy="514349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91" name="Google Shape;91;p18">
            <a:extLst xmlns:a="http://schemas.openxmlformats.org/drawingml/2006/main">
              <a:ext uri="{FF2B5EF4-FFF2-40B4-BE49-F238E27FC236}">
                <a16:creationId xmlns:a16="http://schemas.microsoft.com/office/drawing/2014/main" id="{2DF3653C-13E9-4F1C-911D-B39388F14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500" y="812600"/>
            <a:ext cx="8121600" cy="46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76200" tIns="66675" rIns="76200" bIns="66675" anchor="t">
            <a:normAutofit fontScale="78806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500" b="1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1500" b="1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</a:rPr>
              <a:t>End-to-End Workflow</a:t>
            </a:r>
          </a:p>
        </p:txBody>
      </p:sp>
      <p:sp>
        <p:nvSpPr>
          <p:cNvPr id="92" name="Google Shape;92;p18">
            <a:extLst xmlns:a="http://schemas.openxmlformats.org/drawingml/2006/main">
              <a:ext uri="{FF2B5EF4-FFF2-40B4-BE49-F238E27FC236}">
                <a16:creationId xmlns:a16="http://schemas.microsoft.com/office/drawing/2014/main" id="{FD49AA22-5C12-4BB7-931D-E9034DD94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600" y="1234440"/>
            <a:ext cx="852060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76200" tIns="66675" rIns="76200" bIns="66675" anchor="t">
            <a:normAutofit fontScale="100000"/>
          </a:bodyPr>
          <a:lstStyle xmlns:a="http://schemas.openxmlformats.org/drawingml/2006/main"/>
          <a:p xmlns:a="http://schemas.openxmlformats.org/drawingml/2006/main">
            <a:pPr marL="457200" indent="-315278"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  <a:buNone/>
              <a:defRPr sz="1125">
                <a:solidFill>
                  <a:srgbClr val="687078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87078"/>
                </a:solidFill>
                <a:latin typeface="Arial"/>
                <a:ea typeface="Arial"/>
                <a:cs typeface="Arial"/>
              </a:rPr>
              <a:t>One offline command turns 100,000 profiles into a validated, explained top-100.</a:t>
            </a:r>
          </a:p>
        </p:txBody>
      </p:sp>
      <p:sp>
        <p:nvSpPr>
          <p:cNvPr id="93" name="Rounded Rectangle 92">
            <a:extLst xmlns:a="http://schemas.openxmlformats.org/drawingml/2006/main">
              <a:ext uri="{FF2B5EF4-FFF2-40B4-BE49-F238E27FC236}">
                <a16:creationId xmlns:a16="http://schemas.microsoft.com/office/drawing/2014/main" id="{3BFB7660-5E3A-4BEE-9145-05B670216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94560"/>
            <a:ext cx="1028700" cy="914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2E39C9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7150" tIns="76200" rIns="5715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100K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profiles</a:t>
            </a:r>
          </a:p>
        </p:txBody>
      </p:sp>
      <p:sp>
        <p:nvSpPr>
          <p:cNvPr id="94" name="Rounded Rectangle 93">
            <a:extLst xmlns:a="http://schemas.openxmlformats.org/drawingml/2006/main">
              <a:ext uri="{FF2B5EF4-FFF2-40B4-BE49-F238E27FC236}">
                <a16:creationId xmlns:a16="http://schemas.microsoft.com/office/drawing/2014/main" id="{1AA6018D-F4A5-4994-AF8C-B58338137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194560"/>
            <a:ext cx="1028700" cy="914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2E39C9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7150" tIns="76200" rIns="5715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BM25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credible field</a:t>
            </a:r>
          </a:p>
        </p:txBody>
      </p:sp>
      <p:sp>
        <p:nvSpPr>
          <p:cNvPr id="95" name="Rounded Rectangle 94">
            <a:extLst xmlns:a="http://schemas.openxmlformats.org/drawingml/2006/main">
              <a:ext uri="{FF2B5EF4-FFF2-40B4-BE49-F238E27FC236}">
                <a16:creationId xmlns:a16="http://schemas.microsoft.com/office/drawing/2014/main" id="{0432A6AF-7DAB-48D3-A0C9-DC4398AED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194560"/>
            <a:ext cx="1028700" cy="914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2E39C9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7150" tIns="76200" rIns="5715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33 features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evidence score</a:t>
            </a:r>
          </a:p>
        </p:txBody>
      </p:sp>
      <p:sp>
        <p:nvSpPr>
          <p:cNvPr id="96" name="Rounded Rectangle 95">
            <a:extLst xmlns:a="http://schemas.openxmlformats.org/drawingml/2006/main">
              <a:ext uri="{FF2B5EF4-FFF2-40B4-BE49-F238E27FC236}">
                <a16:creationId xmlns:a16="http://schemas.microsoft.com/office/drawing/2014/main" id="{5FFF5B25-6690-406B-8582-460BD4756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2194560"/>
            <a:ext cx="1028700" cy="914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2E39C9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7150" tIns="76200" rIns="5715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Integrity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hard gates</a:t>
            </a:r>
          </a:p>
        </p:txBody>
      </p:sp>
      <p:sp>
        <p:nvSpPr>
          <p:cNvPr id="97" name="Rounded Rectangle 96">
            <a:extLst xmlns:a="http://schemas.openxmlformats.org/drawingml/2006/main">
              <a:ext uri="{FF2B5EF4-FFF2-40B4-BE49-F238E27FC236}">
                <a16:creationId xmlns:a16="http://schemas.microsoft.com/office/drawing/2014/main" id="{583C6ADC-3C15-4FF2-91D9-48AF6A853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194560"/>
            <a:ext cx="1028700" cy="914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2E39C9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7150" tIns="76200" rIns="5715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RRF + evidence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stable rerank</a:t>
            </a:r>
          </a:p>
        </p:txBody>
      </p:sp>
      <p:sp>
        <p:nvSpPr>
          <p:cNvPr id="98" name="Rounded Rectangle 97">
            <a:extLst xmlns:a="http://schemas.openxmlformats.org/drawingml/2006/main">
              <a:ext uri="{FF2B5EF4-FFF2-40B4-BE49-F238E27FC236}">
                <a16:creationId xmlns:a16="http://schemas.microsoft.com/office/drawing/2014/main" id="{4D2967AF-6FC2-4509-800D-34106F812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194560"/>
            <a:ext cx="1028700" cy="914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2E39C9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7150" tIns="76200" rIns="5715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Top 100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+ reasons</a:t>
            </a:r>
          </a:p>
        </p:txBody>
      </p:sp>
      <p:sp>
        <p:nvSpPr>
          <p:cNvPr id="99" name="Rounded Rectangle 98">
            <a:extLst xmlns:a="http://schemas.openxmlformats.org/drawingml/2006/main">
              <a:ext uri="{FF2B5EF4-FFF2-40B4-BE49-F238E27FC236}">
                <a16:creationId xmlns:a16="http://schemas.microsoft.com/office/drawing/2014/main" id="{08C60551-6907-499D-A789-ACE81E036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194560"/>
            <a:ext cx="1028700" cy="914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2E39C9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7150" tIns="76200" rIns="5715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CSV + XLSX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validated output</a:t>
            </a:r>
          </a:p>
        </p:txBody>
      </p:sp>
      <p:sp>
        <p:nvSpPr>
          <p:cNvPr id="100" name="TextBox 99">
            <a:extLst xmlns:a="http://schemas.openxmlformats.org/drawingml/2006/main">
              <a:ext uri="{FF2B5EF4-FFF2-40B4-BE49-F238E27FC236}">
                <a16:creationId xmlns:a16="http://schemas.microsoft.com/office/drawing/2014/main" id="{7DDF8CEC-8BCD-416E-B47A-E68330FA8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0"/>
            <a:ext cx="822960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95250" tIns="76200" rIns="95250" bIns="57150" anchor="ctr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  <a:defRPr sz="990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990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ONE COMMAND  </a:t>
            </a:r>
            <a:r>
              <a:rPr sz="990">
                <a:solidFill>
                  <a:srgbClr val="202729"/>
                </a:solidFill>
                <a:latin typeface="Arial"/>
                <a:ea typeface="Arial"/>
                <a:cs typeface="Arial"/>
              </a:rPr>
              <a:t>PYTHONHASHSEED=0 python rank.py --release --candidates candidates.jsonl --out submission.csv --workers 2</a:t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990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990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PUBLISH GATE  </a:t>
            </a:r>
            <a:r>
              <a:rPr sz="990">
                <a:solidFill>
                  <a:srgbClr val="202729"/>
                </a:solidFill>
                <a:latin typeface="Arial"/>
                <a:ea typeface="Arial"/>
                <a:cs typeface="Arial"/>
              </a:rPr>
              <a:t>105.3 s pipeline / 117.2 s wall • byte-identical SHA-256 3d2dbd8a… • membership, count, integrity, and hash checks before atomic publish.</a:t>
            </a:r>
          </a:p>
        </p:txBody>
      </p:sp>
      <p:cxnSp>
        <p:nvCxnSpPr>
          <p:cNvPr id="119" name=""/>
          <p:cNvCxnSpPr>
            <a:stCxn xmlns:a="http://schemas.openxmlformats.org/drawingml/2006/main" id="93" idx="3"/>
            <a:endCxn xmlns:a="http://schemas.openxmlformats.org/drawingml/2006/main" id="94" idx="1"/>
          </p:cNvCxnSpPr>
          <p:nvPr/>
        </p:nvCxnSpPr>
        <p:spPr>
          <a:xfrm xmlns:a="http://schemas.openxmlformats.org/drawingml/2006/main">
            <a:off x="1485900" y="2651760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2859" cap="rnd">
            <a:solidFill>
              <a:srgbClr val="2F3ED6"/>
            </a:solidFill>
            <a:prstDash val="solid"/>
            <a:tailEnd type="triangle" w="sm" len="sm"/>
          </a:ln>
        </p:spPr>
      </p:cxnSp>
      <p:cxnSp>
        <p:nvCxnSpPr>
          <p:cNvPr id="120" name=""/>
          <p:cNvCxnSpPr>
            <a:stCxn xmlns:a="http://schemas.openxmlformats.org/drawingml/2006/main" id="94" idx="3"/>
            <a:endCxn xmlns:a="http://schemas.openxmlformats.org/drawingml/2006/main" id="95" idx="1"/>
          </p:cNvCxnSpPr>
          <p:nvPr/>
        </p:nvCxnSpPr>
        <p:spPr>
          <a:xfrm xmlns:a="http://schemas.openxmlformats.org/drawingml/2006/main">
            <a:off x="2686050" y="2651760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2859" cap="rnd">
            <a:solidFill>
              <a:srgbClr val="2F3ED6"/>
            </a:solidFill>
            <a:prstDash val="solid"/>
            <a:tailEnd type="triangle" w="sm" len="sm"/>
          </a:ln>
        </p:spPr>
      </p:cxnSp>
      <p:cxnSp>
        <p:nvCxnSpPr>
          <p:cNvPr id="121" name=""/>
          <p:cNvCxnSpPr>
            <a:stCxn xmlns:a="http://schemas.openxmlformats.org/drawingml/2006/main" id="95" idx="3"/>
            <a:endCxn xmlns:a="http://schemas.openxmlformats.org/drawingml/2006/main" id="96" idx="1"/>
          </p:cNvCxnSpPr>
          <p:nvPr/>
        </p:nvCxnSpPr>
        <p:spPr>
          <a:xfrm xmlns:a="http://schemas.openxmlformats.org/drawingml/2006/main">
            <a:off x="3886200" y="2651760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2859" cap="rnd">
            <a:solidFill>
              <a:srgbClr val="2F3ED6"/>
            </a:solidFill>
            <a:prstDash val="solid"/>
            <a:tailEnd type="triangle" w="sm" len="sm"/>
          </a:ln>
        </p:spPr>
      </p:cxnSp>
      <p:cxnSp>
        <p:nvCxnSpPr>
          <p:cNvPr id="122" name=""/>
          <p:cNvCxnSpPr>
            <a:stCxn xmlns:a="http://schemas.openxmlformats.org/drawingml/2006/main" id="96" idx="3"/>
            <a:endCxn xmlns:a="http://schemas.openxmlformats.org/drawingml/2006/main" id="97" idx="1"/>
          </p:cNvCxnSpPr>
          <p:nvPr/>
        </p:nvCxnSpPr>
        <p:spPr>
          <a:xfrm xmlns:a="http://schemas.openxmlformats.org/drawingml/2006/main">
            <a:off x="5086350" y="2651760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2859" cap="rnd">
            <a:solidFill>
              <a:srgbClr val="2F3ED6"/>
            </a:solidFill>
            <a:prstDash val="solid"/>
            <a:tailEnd type="triangle" w="sm" len="sm"/>
          </a:ln>
        </p:spPr>
      </p:cxnSp>
      <p:cxnSp>
        <p:nvCxnSpPr>
          <p:cNvPr id="123" name=""/>
          <p:cNvCxnSpPr>
            <a:stCxn xmlns:a="http://schemas.openxmlformats.org/drawingml/2006/main" id="97" idx="3"/>
            <a:endCxn xmlns:a="http://schemas.openxmlformats.org/drawingml/2006/main" id="98" idx="1"/>
          </p:cNvCxnSpPr>
          <p:nvPr/>
        </p:nvCxnSpPr>
        <p:spPr>
          <a:xfrm xmlns:a="http://schemas.openxmlformats.org/drawingml/2006/main">
            <a:off x="6286500" y="2651760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2859" cap="rnd">
            <a:solidFill>
              <a:srgbClr val="2F3ED6"/>
            </a:solidFill>
            <a:prstDash val="solid"/>
            <a:tailEnd type="triangle" w="sm" len="sm"/>
          </a:ln>
        </p:spPr>
      </p:cxnSp>
      <p:cxnSp>
        <p:nvCxnSpPr>
          <p:cNvPr id="124" name=""/>
          <p:cNvCxnSpPr>
            <a:stCxn xmlns:a="http://schemas.openxmlformats.org/drawingml/2006/main" id="98" idx="3"/>
            <a:endCxn xmlns:a="http://schemas.openxmlformats.org/drawingml/2006/main" id="99" idx="1"/>
          </p:cNvCxnSpPr>
          <p:nvPr/>
        </p:nvCxnSpPr>
        <p:spPr>
          <a:xfrm xmlns:a="http://schemas.openxmlformats.org/drawingml/2006/main">
            <a:off x="7486650" y="2651760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2859" cap="rnd">
            <a:solidFill>
              <a:srgbClr val="2F3ED6"/>
            </a:solidFill>
            <a:prstDash val="solid"/>
            <a:tailEnd type="triangle" w="sm" len="sm"/>
          </a:ln>
        </p:spPr>
      </p:cxnSp>
    </p:spTree>
    <p:extLst>
      <p:ext uri="{BB962C8B-B14F-4D97-AF65-F5344CB8AC3E}">
        <p14:creationId xmlns:p14="http://schemas.microsoft.com/office/powerpoint/2010/main" val="96135885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3" name="Google Shape;97;p19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8091623c83f4cd0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9144018" cy="5143501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98" name="Google Shape;98;p19">
            <a:extLst xmlns:a="http://schemas.openxmlformats.org/drawingml/2006/main">
              <a:ext uri="{FF2B5EF4-FFF2-40B4-BE49-F238E27FC236}">
                <a16:creationId xmlns:a16="http://schemas.microsoft.com/office/drawing/2014/main" id="{ED9F8F45-7B6F-440E-92A5-7CB39346D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500" y="812600"/>
            <a:ext cx="8121600" cy="46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76200" tIns="66675" rIns="76200" bIns="66675" anchor="t">
            <a:normAutofit fontScale="78806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500" b="1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1500" b="1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</a:rPr>
              <a:t>System Architecture</a:t>
            </a:r>
          </a:p>
        </p:txBody>
      </p:sp>
      <p:sp>
        <p:nvSpPr>
          <p:cNvPr id="99" name="TextBox 98">
            <a:extLst xmlns:a="http://schemas.openxmlformats.org/drawingml/2006/main">
              <a:ext uri="{FF2B5EF4-FFF2-40B4-BE49-F238E27FC236}">
                <a16:creationId xmlns:a16="http://schemas.microsoft.com/office/drawing/2014/main" id="{FF2DD385-742E-4838-84B0-5ECC684A0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34440"/>
            <a:ext cx="8229600" cy="563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66675" rIns="76200" bIns="6667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Aft>
                <a:spcPts val="600"/>
              </a:spcAft>
              <a:buNone/>
              <a:defRPr sz="1125">
                <a:solidFill>
                  <a:srgbClr val="687078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87078"/>
                </a:solidFill>
                <a:latin typeface="Arial"/>
                <a:ea typeface="Arial"/>
                <a:cs typeface="Arial"/>
              </a:rPr>
              <a:t>Six CPU-only stages sit inside a fail-closed release envelope; optional ideas ship only when measurement supports them.</a:t>
            </a:r>
          </a:p>
        </p:txBody>
      </p:sp>
      <p:sp>
        <p:nvSpPr>
          <p:cNvPr id="100" name="Rounded Rectangle 99">
            <a:extLst xmlns:a="http://schemas.openxmlformats.org/drawingml/2006/main">
              <a:ext uri="{FF2B5EF4-FFF2-40B4-BE49-F238E27FC236}">
                <a16:creationId xmlns:a16="http://schemas.microsoft.com/office/drawing/2014/main" id="{CC35721C-E216-4216-9C6D-25743A859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920240"/>
            <a:ext cx="1219200" cy="10058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47625" tIns="76200" rIns="47625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1  PARSE</a:t>
            </a:r>
          </a:p>
          <a:p xmlns:a="http://schemas.openxmlformats.org/drawingml/2006/main">
            <a:pPr algn="ctr">
              <a:lnSpc>
                <a:spcPct val="112000"/>
              </a:lnSpc>
              <a:buNone/>
              <a:def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structured facts</a:t>
            </a:r>
          </a:p>
        </p:txBody>
      </p:sp>
      <p:sp>
        <p:nvSpPr>
          <p:cNvPr id="101" name="Rounded Rectangle 100">
            <a:extLst xmlns:a="http://schemas.openxmlformats.org/drawingml/2006/main">
              <a:ext uri="{FF2B5EF4-FFF2-40B4-BE49-F238E27FC236}">
                <a16:creationId xmlns:a16="http://schemas.microsoft.com/office/drawing/2014/main" id="{AE9F0CF6-A31A-4301-AB31-0BDF7DB81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9280" y="1920240"/>
            <a:ext cx="1219200" cy="10058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47625" tIns="76200" rIns="47625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2  RETRIEVE</a:t>
            </a:r>
          </a:p>
          <a:p xmlns:a="http://schemas.openxmlformats.org/drawingml/2006/main">
            <a:pPr algn="ctr">
              <a:lnSpc>
                <a:spcPct val="112000"/>
              </a:lnSpc>
              <a:buNone/>
              <a:def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BM25</a:t>
            </a:r>
          </a:p>
        </p:txBody>
      </p:sp>
      <p:sp>
        <p:nvSpPr>
          <p:cNvPr id="102" name="Rounded Rectangle 101">
            <a:extLst xmlns:a="http://schemas.openxmlformats.org/drawingml/2006/main">
              <a:ext uri="{FF2B5EF4-FFF2-40B4-BE49-F238E27FC236}">
                <a16:creationId xmlns:a16="http://schemas.microsoft.com/office/drawing/2014/main" id="{8FDF18F4-84D8-4DFB-877D-C9C6874FC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1360" y="1920240"/>
            <a:ext cx="1219200" cy="10058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47625" tIns="76200" rIns="47625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3  SEMANTIC</a:t>
            </a:r>
          </a:p>
          <a:p xmlns:a="http://schemas.openxmlformats.org/drawingml/2006/main">
            <a:pPr algn="ctr">
              <a:lnSpc>
                <a:spcPct val="112000"/>
              </a:lnSpc>
              <a:buNone/>
              <a:def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measured; opt-in</a:t>
            </a:r>
          </a:p>
        </p:txBody>
      </p:sp>
      <p:sp>
        <p:nvSpPr>
          <p:cNvPr id="103" name="Rounded Rectangle 102">
            <a:extLst xmlns:a="http://schemas.openxmlformats.org/drawingml/2006/main">
              <a:ext uri="{FF2B5EF4-FFF2-40B4-BE49-F238E27FC236}">
                <a16:creationId xmlns:a16="http://schemas.microsoft.com/office/drawing/2014/main" id="{3A58DE9B-390E-4A91-BA88-1DBDD7C89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3440" y="1920240"/>
            <a:ext cx="1219200" cy="10058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47625" tIns="76200" rIns="47625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4  FEATURES</a:t>
            </a:r>
          </a:p>
          <a:p xmlns:a="http://schemas.openxmlformats.org/drawingml/2006/main">
            <a:pPr algn="ctr">
              <a:lnSpc>
                <a:spcPct val="112000"/>
              </a:lnSpc>
              <a:buNone/>
              <a:def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33 signals</a:t>
            </a:r>
          </a:p>
        </p:txBody>
      </p:sp>
      <p:sp>
        <p:nvSpPr>
          <p:cNvPr id="104" name="Rounded Rectangle 103">
            <a:extLst xmlns:a="http://schemas.openxmlformats.org/drawingml/2006/main">
              <a:ext uri="{FF2B5EF4-FFF2-40B4-BE49-F238E27FC236}">
                <a16:creationId xmlns:a16="http://schemas.microsoft.com/office/drawing/2014/main" id="{DE91398C-1864-44C4-8945-ECE0E9822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5520" y="1920240"/>
            <a:ext cx="1219200" cy="10058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47625" tIns="76200" rIns="47625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5  SCORE</a:t>
            </a:r>
          </a:p>
          <a:p xmlns:a="http://schemas.openxmlformats.org/drawingml/2006/main">
            <a:pPr algn="ctr">
              <a:lnSpc>
                <a:spcPct val="112000"/>
              </a:lnSpc>
              <a:buNone/>
              <a:def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130 KB model</a:t>
            </a:r>
          </a:p>
        </p:txBody>
      </p:sp>
      <p:sp>
        <p:nvSpPr>
          <p:cNvPr id="105" name="Rounded Rectangle 104">
            <a:extLst xmlns:a="http://schemas.openxmlformats.org/drawingml/2006/main">
              <a:ext uri="{FF2B5EF4-FFF2-40B4-BE49-F238E27FC236}">
                <a16:creationId xmlns:a16="http://schemas.microsoft.com/office/drawing/2014/main" id="{A9550497-8141-4152-A3B8-3CB1024EC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1920240"/>
            <a:ext cx="1219200" cy="10058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47625" tIns="76200" rIns="47625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6  GUARD + RANK</a:t>
            </a:r>
          </a:p>
          <a:p xmlns:a="http://schemas.openxmlformats.org/drawingml/2006/main">
            <a:pPr algn="ctr">
              <a:lnSpc>
                <a:spcPct val="112000"/>
              </a:lnSpc>
              <a:buNone/>
              <a:def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stable output</a:t>
            </a:r>
          </a:p>
        </p:txBody>
      </p:sp>
      <p:sp>
        <p:nvSpPr>
          <p:cNvPr id="106" name="TextBox 105">
            <a:extLst xmlns:a="http://schemas.openxmlformats.org/drawingml/2006/main">
              <a:ext uri="{FF2B5EF4-FFF2-40B4-BE49-F238E27FC236}">
                <a16:creationId xmlns:a16="http://schemas.microsoft.com/office/drawing/2014/main" id="{2C724DAB-C87D-4D96-9C58-FE4C9A2D3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00400"/>
            <a:ext cx="822960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95250" tIns="66675" rIns="95250" bIns="47625" anchor="ctr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990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990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FAIL-CLOSED RELEASE  </a:t>
            </a:r>
            <a:r>
              <a:rPr sz="990">
                <a:solidFill>
                  <a:srgbClr val="202729"/>
                </a:solidFill>
                <a:latin typeface="Arial"/>
                <a:ea typeface="Arial"/>
                <a:cs typeface="Arial"/>
              </a:rPr>
              <a:t>Verifies input, model, backend, full-pool counts, integrity counts, and final output hash before atomic publish.</a:t>
            </a:r>
          </a:p>
          <a:p xmlns:a="http://schemas.openxmlformats.org/drawingml/2006/main">
            <a:pPr>
              <a:lnSpc>
                <a:spcPct val="108000"/>
              </a:lnSpc>
              <a:buNone/>
              <a:defRPr sz="990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990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LIMITS  </a:t>
            </a:r>
            <a:r>
              <a:rPr sz="990">
                <a:solidFill>
                  <a:srgbClr val="202729"/>
                </a:solidFill>
                <a:latin typeface="Arial"/>
                <a:ea typeface="Arial"/>
                <a:cs typeface="Arial"/>
              </a:rPr>
              <a:t>Quality figures are development proxies for one role, not official hidden labels. Human review remains required.</a:t>
            </a:r>
          </a:p>
          <a:p xmlns:a="http://schemas.openxmlformats.org/drawingml/2006/main">
            <a:pPr>
              <a:lnSpc>
                <a:spcPct val="108000"/>
              </a:lnSpc>
              <a:buNone/>
              <a:defRPr sz="990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990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FAILURE SAFETY  </a:t>
            </a:r>
            <a:r>
              <a:rPr sz="990">
                <a:solidFill>
                  <a:srgbClr val="202729"/>
                </a:solidFill>
                <a:latin typeface="Arial"/>
                <a:ea typeface="Arial"/>
                <a:cs typeface="Arial"/>
              </a:rPr>
              <a:t>A forced container OOM exits 137, preserves the prior output, and leaves no temporary publication file.</a:t>
            </a:r>
          </a:p>
        </p:txBody>
      </p:sp>
      <p:cxnSp>
        <p:nvCxnSpPr>
          <p:cNvPr id="123" name=""/>
          <p:cNvCxnSpPr>
            <a:stCxn xmlns:a="http://schemas.openxmlformats.org/drawingml/2006/main" id="100" idx="3"/>
            <a:endCxn xmlns:a="http://schemas.openxmlformats.org/drawingml/2006/main" id="101" idx="1"/>
          </p:cNvCxnSpPr>
          <p:nvPr/>
        </p:nvCxnSpPr>
        <p:spPr>
          <a:xfrm xmlns:a="http://schemas.openxmlformats.org/drawingml/2006/main">
            <a:off x="1676400" y="2423160"/>
            <a:ext cx="182880" cy="0"/>
          </a:xfrm>
          <a:prstGeom xmlns:a="http://schemas.openxmlformats.org/drawingml/2006/main" prst="straightConnector1">
            <a:avLst/>
          </a:prstGeom>
          <a:ln xmlns:a="http://schemas.openxmlformats.org/drawingml/2006/main" w="12859" cap="rnd">
            <a:solidFill>
              <a:srgbClr val="2F3ED6"/>
            </a:solidFill>
            <a:prstDash val="solid"/>
            <a:tailEnd type="triangle" w="sm" len="sm"/>
          </a:ln>
        </p:spPr>
      </p:cxnSp>
      <p:cxnSp>
        <p:nvCxnSpPr>
          <p:cNvPr id="124" name=""/>
          <p:cNvCxnSpPr>
            <a:stCxn xmlns:a="http://schemas.openxmlformats.org/drawingml/2006/main" id="101" idx="3"/>
            <a:endCxn xmlns:a="http://schemas.openxmlformats.org/drawingml/2006/main" id="102" idx="1"/>
          </p:cNvCxnSpPr>
          <p:nvPr/>
        </p:nvCxnSpPr>
        <p:spPr>
          <a:xfrm xmlns:a="http://schemas.openxmlformats.org/drawingml/2006/main">
            <a:off x="3078480" y="2423160"/>
            <a:ext cx="182880" cy="0"/>
          </a:xfrm>
          <a:prstGeom xmlns:a="http://schemas.openxmlformats.org/drawingml/2006/main" prst="straightConnector1">
            <a:avLst/>
          </a:prstGeom>
          <a:ln xmlns:a="http://schemas.openxmlformats.org/drawingml/2006/main" w="12859" cap="rnd">
            <a:solidFill>
              <a:srgbClr val="2F3ED6"/>
            </a:solidFill>
            <a:prstDash val="solid"/>
            <a:tailEnd type="triangle" w="sm" len="sm"/>
          </a:ln>
        </p:spPr>
      </p:cxnSp>
      <p:cxnSp>
        <p:nvCxnSpPr>
          <p:cNvPr id="125" name=""/>
          <p:cNvCxnSpPr>
            <a:stCxn xmlns:a="http://schemas.openxmlformats.org/drawingml/2006/main" id="102" idx="3"/>
            <a:endCxn xmlns:a="http://schemas.openxmlformats.org/drawingml/2006/main" id="103" idx="1"/>
          </p:cNvCxnSpPr>
          <p:nvPr/>
        </p:nvCxnSpPr>
        <p:spPr>
          <a:xfrm xmlns:a="http://schemas.openxmlformats.org/drawingml/2006/main">
            <a:off x="4480560" y="2423160"/>
            <a:ext cx="182880" cy="0"/>
          </a:xfrm>
          <a:prstGeom xmlns:a="http://schemas.openxmlformats.org/drawingml/2006/main" prst="straightConnector1">
            <a:avLst/>
          </a:prstGeom>
          <a:ln xmlns:a="http://schemas.openxmlformats.org/drawingml/2006/main" w="12859" cap="rnd">
            <a:solidFill>
              <a:srgbClr val="2F3ED6"/>
            </a:solidFill>
            <a:prstDash val="solid"/>
            <a:tailEnd type="triangle" w="sm" len="sm"/>
          </a:ln>
        </p:spPr>
      </p:cxnSp>
      <p:cxnSp>
        <p:nvCxnSpPr>
          <p:cNvPr id="126" name=""/>
          <p:cNvCxnSpPr>
            <a:stCxn xmlns:a="http://schemas.openxmlformats.org/drawingml/2006/main" id="103" idx="3"/>
            <a:endCxn xmlns:a="http://schemas.openxmlformats.org/drawingml/2006/main" id="104" idx="1"/>
          </p:cNvCxnSpPr>
          <p:nvPr/>
        </p:nvCxnSpPr>
        <p:spPr>
          <a:xfrm xmlns:a="http://schemas.openxmlformats.org/drawingml/2006/main">
            <a:off x="5882640" y="2423160"/>
            <a:ext cx="182880" cy="0"/>
          </a:xfrm>
          <a:prstGeom xmlns:a="http://schemas.openxmlformats.org/drawingml/2006/main" prst="straightConnector1">
            <a:avLst/>
          </a:prstGeom>
          <a:ln xmlns:a="http://schemas.openxmlformats.org/drawingml/2006/main" w="12859" cap="rnd">
            <a:solidFill>
              <a:srgbClr val="2F3ED6"/>
            </a:solidFill>
            <a:prstDash val="solid"/>
            <a:tailEnd type="triangle" w="sm" len="sm"/>
          </a:ln>
        </p:spPr>
      </p:cxnSp>
      <p:cxnSp>
        <p:nvCxnSpPr>
          <p:cNvPr id="127" name=""/>
          <p:cNvCxnSpPr>
            <a:stCxn xmlns:a="http://schemas.openxmlformats.org/drawingml/2006/main" id="104" idx="3"/>
            <a:endCxn xmlns:a="http://schemas.openxmlformats.org/drawingml/2006/main" id="105" idx="1"/>
          </p:cNvCxnSpPr>
          <p:nvPr/>
        </p:nvCxnSpPr>
        <p:spPr>
          <a:xfrm xmlns:a="http://schemas.openxmlformats.org/drawingml/2006/main">
            <a:off x="7284720" y="2423160"/>
            <a:ext cx="182880" cy="0"/>
          </a:xfrm>
          <a:prstGeom xmlns:a="http://schemas.openxmlformats.org/drawingml/2006/main" prst="straightConnector1">
            <a:avLst/>
          </a:prstGeom>
          <a:ln xmlns:a="http://schemas.openxmlformats.org/drawingml/2006/main" w="12859" cap="rnd">
            <a:solidFill>
              <a:srgbClr val="2F3ED6"/>
            </a:solidFill>
            <a:prstDash val="solid"/>
            <a:tailEnd type="triangle" w="sm" len="sm"/>
          </a:ln>
        </p:spPr>
      </p:cxnSp>
    </p:spTree>
    <p:extLst>
      <p:ext uri="{BB962C8B-B14F-4D97-AF65-F5344CB8AC3E}">
        <p14:creationId xmlns:p14="http://schemas.microsoft.com/office/powerpoint/2010/main" val="1435021808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3" name="Google Shape;103;p2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90ae1f8225747f2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9144018" cy="5143501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04" name="Google Shape;104;p20">
            <a:extLst xmlns:a="http://schemas.openxmlformats.org/drawingml/2006/main">
              <a:ext uri="{FF2B5EF4-FFF2-40B4-BE49-F238E27FC236}">
                <a16:creationId xmlns:a16="http://schemas.microsoft.com/office/drawing/2014/main" id="{6D3D7E58-CABD-42A6-881B-C4369CBA0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500" y="812600"/>
            <a:ext cx="8121600" cy="46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76200" tIns="66675" rIns="76200" bIns="66675" anchor="t">
            <a:normAutofit fontScale="78806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500" b="1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1500" b="1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</a:rPr>
              <a:t>Results &amp; Performance</a:t>
            </a:r>
          </a:p>
        </p:txBody>
      </p:sp>
      <p:sp>
        <p:nvSpPr>
          <p:cNvPr id="105" name="Google Shape;105;p20">
            <a:extLst xmlns:a="http://schemas.openxmlformats.org/drawingml/2006/main">
              <a:ext uri="{FF2B5EF4-FFF2-40B4-BE49-F238E27FC236}">
                <a16:creationId xmlns:a16="http://schemas.microsoft.com/office/drawing/2014/main" id="{1EF43E54-3145-4CBD-AA0C-E7C6470AF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600" y="1005840"/>
            <a:ext cx="8520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76200" tIns="66675" rIns="76200" bIns="66675" anchor="t">
            <a:normAutofit fontScale="100000"/>
          </a:bodyPr>
          <a:lstStyle xmlns:a="http://schemas.openxmlformats.org/drawingml/2006/main"/>
          <a:p xmlns:a="http://schemas.openxmlformats.org/drawingml/2006/main">
            <a:pPr marL="457200" indent="-315278"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  <a:buNone/>
              <a:defRPr sz="1125">
                <a:solidFill>
                  <a:srgbClr val="687078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87078"/>
                </a:solidFill>
                <a:latin typeface="Arial"/>
                <a:ea typeface="Arial"/>
                <a:cs typeface="Arial"/>
              </a:rPr>
              <a:t>The result is useful because quality, runtime, safety, and reproducibility can all be checked independently.</a:t>
            </a:r>
          </a:p>
        </p:txBody>
      </p:sp>
      <p:sp>
        <p:nvSpPr>
          <p:cNvPr id="106" name="TextBox 105">
            <a:extLst xmlns:a="http://schemas.openxmlformats.org/drawingml/2006/main">
              <a:ext uri="{FF2B5EF4-FFF2-40B4-BE49-F238E27FC236}">
                <a16:creationId xmlns:a16="http://schemas.microsoft.com/office/drawing/2014/main" id="{3F7BD72D-A578-485E-8840-A5CE8E611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54480"/>
            <a:ext cx="38404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2E39C9"/>
                </a:solidFill>
              </a:rPr>
              <a:t>RANKING QUALITY</a:t>
            </a:r>
          </a:p>
        </p:txBody>
      </p:sp>
      <p:sp>
        <p:nvSpPr>
          <p:cNvPr id="107" name="Rounded Rectangle 106">
            <a:extLst xmlns:a="http://schemas.openxmlformats.org/drawingml/2006/main">
              <a:ext uri="{FF2B5EF4-FFF2-40B4-BE49-F238E27FC236}">
                <a16:creationId xmlns:a16="http://schemas.microsoft.com/office/drawing/2014/main" id="{6600A26D-0F54-491B-A0C9-3FE2E18BA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874519"/>
            <a:ext cx="1947672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tIns="50800" bIns="50800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100" b="1">
                <a:solidFill>
                  <a:srgbClr val="2E39C9"/>
                </a:solidFill>
              </a:rPr>
              <a:t>100,000</a:t>
            </a:r>
          </a:p>
          <a:p xmlns:a="http://schemas.openxmlformats.org/drawingml/2006/main">
            <a:pPr algn="ctr">
              <a:buNone/>
            </a:pPr>
            <a:r>
              <a:rPr sz="950">
                <a:solidFill>
                  <a:srgbClr val="6B7078"/>
                </a:solidFill>
              </a:rPr>
              <a:t>candidates scored</a:t>
            </a:r>
          </a:p>
        </p:txBody>
      </p:sp>
      <p:sp>
        <p:nvSpPr>
          <p:cNvPr id="108" name="Rounded Rectangle 107">
            <a:extLst xmlns:a="http://schemas.openxmlformats.org/drawingml/2006/main">
              <a:ext uri="{FF2B5EF4-FFF2-40B4-BE49-F238E27FC236}">
                <a16:creationId xmlns:a16="http://schemas.microsoft.com/office/drawing/2014/main" id="{5B358C1C-6A09-4D5F-8A63-0BFF42E05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1176" y="1874519"/>
            <a:ext cx="1947672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tIns="50800" bIns="50800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100" b="1">
                <a:solidFill>
                  <a:srgbClr val="2E39C9"/>
                </a:solidFill>
              </a:rPr>
              <a:t>100</a:t>
            </a:r>
          </a:p>
          <a:p xmlns:a="http://schemas.openxmlformats.org/drawingml/2006/main">
            <a:pPr algn="ctr">
              <a:buNone/>
            </a:pPr>
            <a:r>
              <a:rPr sz="950">
                <a:solidFill>
                  <a:srgbClr val="6B7078"/>
                </a:solidFill>
              </a:rPr>
              <a:t>final shortlist</a:t>
            </a:r>
          </a:p>
        </p:txBody>
      </p:sp>
      <p:sp>
        <p:nvSpPr>
          <p:cNvPr id="109" name="Rounded Rectangle 108">
            <a:extLst xmlns:a="http://schemas.openxmlformats.org/drawingml/2006/main">
              <a:ext uri="{FF2B5EF4-FFF2-40B4-BE49-F238E27FC236}">
                <a16:creationId xmlns:a16="http://schemas.microsoft.com/office/drawing/2014/main" id="{88BB360A-EDFA-470B-BF24-DFECD3D3D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5152" y="1874519"/>
            <a:ext cx="1947672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66675" rIns="7620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163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1163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rPr>
              <a:t>0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163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1163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rPr>
              <a:t>detector flags in top-100</a:t>
            </a:r>
          </a:p>
        </p:txBody>
      </p:sp>
      <p:sp>
        <p:nvSpPr>
          <p:cNvPr id="110" name="Rounded Rectangle 109">
            <a:extLst xmlns:a="http://schemas.openxmlformats.org/drawingml/2006/main">
              <a:ext uri="{FF2B5EF4-FFF2-40B4-BE49-F238E27FC236}">
                <a16:creationId xmlns:a16="http://schemas.microsoft.com/office/drawing/2014/main" id="{2A657E97-4C34-4226-A0C6-C05E0D3BC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9128" y="1874519"/>
            <a:ext cx="1947672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114300" rIns="762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1275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rPr>
              <a:t>278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1275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rPr>
              <a:t>tests passed</a:t>
            </a:r>
          </a:p>
        </p:txBody>
      </p:sp>
      <p:sp>
        <p:nvSpPr>
          <p:cNvPr id="111" name="TextBox 110">
            <a:extLst xmlns:a="http://schemas.openxmlformats.org/drawingml/2006/main">
              <a:ext uri="{FF2B5EF4-FFF2-40B4-BE49-F238E27FC236}">
                <a16:creationId xmlns:a16="http://schemas.microsoft.com/office/drawing/2014/main" id="{39065B6D-52BD-4758-9B81-CBFB6A5A6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80360"/>
            <a:ext cx="38404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2E39C9"/>
                </a:solidFill>
              </a:rPr>
              <a:t>RUNTIME &amp; COMPUTE</a:t>
            </a:r>
          </a:p>
        </p:txBody>
      </p:sp>
      <p:sp>
        <p:nvSpPr>
          <p:cNvPr id="112" name="Rounded Rectangle 111">
            <a:extLst xmlns:a="http://schemas.openxmlformats.org/drawingml/2006/main">
              <a:ext uri="{FF2B5EF4-FFF2-40B4-BE49-F238E27FC236}">
                <a16:creationId xmlns:a16="http://schemas.microsoft.com/office/drawing/2014/main" id="{27126F22-1E7F-4989-B398-F413B5636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00400"/>
            <a:ext cx="1947672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66675" rIns="7620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1275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rPr>
              <a:t>105.3 s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1275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rPr>
              <a:t>100K pipeline</a:t>
            </a:r>
          </a:p>
        </p:txBody>
      </p:sp>
      <p:sp>
        <p:nvSpPr>
          <p:cNvPr id="113" name="Rounded Rectangle 112">
            <a:extLst xmlns:a="http://schemas.openxmlformats.org/drawingml/2006/main">
              <a:ext uri="{FF2B5EF4-FFF2-40B4-BE49-F238E27FC236}">
                <a16:creationId xmlns:a16="http://schemas.microsoft.com/office/drawing/2014/main" id="{42D425CB-D457-4C5D-AD82-4BA90F3B6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1176" y="3200400"/>
            <a:ext cx="1947672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66675" rIns="7620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1275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rPr>
              <a:t>117.2 s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1275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rPr>
              <a:t>wall @ 2 CPU</a:t>
            </a:r>
          </a:p>
        </p:txBody>
      </p:sp>
      <p:sp>
        <p:nvSpPr>
          <p:cNvPr id="114" name="Rounded Rectangle 113">
            <a:extLst xmlns:a="http://schemas.openxmlformats.org/drawingml/2006/main">
              <a:ext uri="{FF2B5EF4-FFF2-40B4-BE49-F238E27FC236}">
                <a16:creationId xmlns:a16="http://schemas.microsoft.com/office/drawing/2014/main" id="{6DC8DB11-11B6-437D-A49B-C5F4D95E1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5152" y="3200400"/>
            <a:ext cx="1947672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tIns="50800" bIns="50800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100" b="1">
                <a:solidFill>
                  <a:srgbClr val="2E39C9"/>
                </a:solidFill>
              </a:rPr>
              <a:t>~4.2 GB</a:t>
            </a:r>
          </a:p>
          <a:p xmlns:a="http://schemas.openxmlformats.org/drawingml/2006/main">
            <a:pPr algn="ctr">
              <a:buNone/>
            </a:pPr>
            <a:r>
              <a:rPr sz="950">
                <a:solidFill>
                  <a:srgbClr val="6B7078"/>
                </a:solidFill>
              </a:rPr>
              <a:t>peak memory</a:t>
            </a:r>
          </a:p>
        </p:txBody>
      </p:sp>
      <p:sp>
        <p:nvSpPr>
          <p:cNvPr id="115" name="Rounded Rectangle 114">
            <a:extLst xmlns:a="http://schemas.openxmlformats.org/drawingml/2006/main">
              <a:ext uri="{FF2B5EF4-FFF2-40B4-BE49-F238E27FC236}">
                <a16:creationId xmlns:a16="http://schemas.microsoft.com/office/drawing/2014/main" id="{11E4B2ED-2046-441D-B872-D84E6116D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9128" y="3200400"/>
            <a:ext cx="1947672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tIns="50800" bIns="50800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100" b="1">
                <a:solidFill>
                  <a:srgbClr val="2E39C9"/>
                </a:solidFill>
              </a:rPr>
              <a:t>&lt; 300 s</a:t>
            </a:r>
          </a:p>
          <a:p xmlns:a="http://schemas.openxmlformats.org/drawingml/2006/main">
            <a:pPr algn="ctr">
              <a:buNone/>
            </a:pPr>
            <a:r>
              <a:rPr sz="950">
                <a:solidFill>
                  <a:srgbClr val="6B7078"/>
                </a:solidFill>
              </a:rPr>
              <a:t>budget, offline</a:t>
            </a:r>
          </a:p>
        </p:txBody>
      </p:sp>
      <p:sp>
        <p:nvSpPr>
          <p:cNvPr id="116" name="Rounded Rectangle 115">
            <a:extLst xmlns:a="http://schemas.openxmlformats.org/drawingml/2006/main">
              <a:ext uri="{FF2B5EF4-FFF2-40B4-BE49-F238E27FC236}">
                <a16:creationId xmlns:a16="http://schemas.microsoft.com/office/drawing/2014/main" id="{3A4DE8B1-3354-4147-B1A7-9E1F1418E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251960"/>
            <a:ext cx="1280160" cy="3840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CF7F0"/>
          </a:solidFill>
          <a:ln xmlns:a="http://schemas.openxmlformats.org/drawingml/2006/main" w="9525">
            <a:solidFill>
              <a:srgbClr val="BFE3D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0800" rIns="38100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 b="1">
                <a:solidFill>
                  <a:srgbClr val="1E8E5A"/>
                </a:solidFill>
              </a:rPr>
              <a:t>✓ </a:t>
            </a:r>
            <a:r>
              <a:rPr sz="900">
                <a:solidFill>
                  <a:srgbClr val="202729"/>
                </a:solidFill>
              </a:rPr>
              <a:t>Deterministic</a:t>
            </a:r>
          </a:p>
        </p:txBody>
      </p:sp>
      <p:sp>
        <p:nvSpPr>
          <p:cNvPr id="117" name="Rounded Rectangle 116">
            <a:extLst xmlns:a="http://schemas.openxmlformats.org/drawingml/2006/main">
              <a:ext uri="{FF2B5EF4-FFF2-40B4-BE49-F238E27FC236}">
                <a16:creationId xmlns:a16="http://schemas.microsoft.com/office/drawing/2014/main" id="{5D71E4CA-A4E4-48A2-AC52-AC4E27E1B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088" y="4251960"/>
            <a:ext cx="1280160" cy="3840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CF7F0"/>
          </a:solidFill>
          <a:ln xmlns:a="http://schemas.openxmlformats.org/drawingml/2006/main" w="9525">
            <a:solidFill>
              <a:srgbClr val="BFE3D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66675" rIns="7620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0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00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✓ SHA-256 3d2dbd8a</a:t>
            </a:r>
          </a:p>
        </p:txBody>
      </p:sp>
      <p:sp>
        <p:nvSpPr>
          <p:cNvPr id="118" name="Rounded Rectangle 117">
            <a:extLst xmlns:a="http://schemas.openxmlformats.org/drawingml/2006/main">
              <a:ext uri="{FF2B5EF4-FFF2-40B4-BE49-F238E27FC236}">
                <a16:creationId xmlns:a16="http://schemas.microsoft.com/office/drawing/2014/main" id="{AC3F19BD-FDC5-499A-BC5B-A37E8CB01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6976" y="4251960"/>
            <a:ext cx="1280160" cy="3840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CF7F0"/>
          </a:solidFill>
          <a:ln xmlns:a="http://schemas.openxmlformats.org/drawingml/2006/main" w="9525">
            <a:solidFill>
              <a:srgbClr val="BFE3D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0800" rIns="38100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 b="1">
                <a:solidFill>
                  <a:srgbClr val="1E8E5A"/>
                </a:solidFill>
              </a:rPr>
              <a:t>✓ </a:t>
            </a:r>
            <a:r>
              <a:rPr sz="900">
                <a:solidFill>
                  <a:srgbClr val="202729"/>
                </a:solidFill>
              </a:rPr>
              <a:t>CPU-only / offline</a:t>
            </a:r>
          </a:p>
        </p:txBody>
      </p:sp>
      <p:sp>
        <p:nvSpPr>
          <p:cNvPr id="119" name="Rounded Rectangle 118">
            <a:extLst xmlns:a="http://schemas.openxmlformats.org/drawingml/2006/main">
              <a:ext uri="{FF2B5EF4-FFF2-40B4-BE49-F238E27FC236}">
                <a16:creationId xmlns:a16="http://schemas.microsoft.com/office/drawing/2014/main" id="{A6463F85-885B-4A21-8A17-92CFC15C2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6864" y="4251960"/>
            <a:ext cx="1280160" cy="3840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CF7F0"/>
          </a:solidFill>
          <a:ln xmlns:a="http://schemas.openxmlformats.org/drawingml/2006/main" w="9525">
            <a:solidFill>
              <a:srgbClr val="BFE3D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0800" rIns="38100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 b="1">
                <a:solidFill>
                  <a:srgbClr val="1E8E5A"/>
                </a:solidFill>
              </a:rPr>
              <a:t>✓ </a:t>
            </a:r>
            <a:r>
              <a:rPr sz="900">
                <a:solidFill>
                  <a:srgbClr val="202729"/>
                </a:solidFill>
              </a:rPr>
              <a:t>Validator passed</a:t>
            </a:r>
          </a:p>
        </p:txBody>
      </p:sp>
      <p:sp>
        <p:nvSpPr>
          <p:cNvPr id="120" name="Rounded Rectangle 119">
            <a:extLst xmlns:a="http://schemas.openxmlformats.org/drawingml/2006/main">
              <a:ext uri="{FF2B5EF4-FFF2-40B4-BE49-F238E27FC236}">
                <a16:creationId xmlns:a16="http://schemas.microsoft.com/office/drawing/2014/main" id="{A5A19D4A-D039-4C5C-8309-E4AF9B48D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6752" y="4251960"/>
            <a:ext cx="1280160" cy="3840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CF7F0"/>
          </a:solidFill>
          <a:ln xmlns:a="http://schemas.openxmlformats.org/drawingml/2006/main" w="9525">
            <a:solidFill>
              <a:srgbClr val="BFE3D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66675" rIns="7620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90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90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✓ 0 detector flags</a:t>
            </a:r>
          </a:p>
        </p:txBody>
      </p:sp>
      <p:sp>
        <p:nvSpPr>
          <p:cNvPr id="121" name="Rounded Rectangle 120">
            <a:extLst xmlns:a="http://schemas.openxmlformats.org/drawingml/2006/main">
              <a:ext uri="{FF2B5EF4-FFF2-40B4-BE49-F238E27FC236}">
                <a16:creationId xmlns:a16="http://schemas.microsoft.com/office/drawing/2014/main" id="{BDC9FBCE-E21B-405C-A76D-AA651BCCF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4251960"/>
            <a:ext cx="1280160" cy="3840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CF7F0"/>
          </a:solidFill>
          <a:ln xmlns:a="http://schemas.openxmlformats.org/drawingml/2006/main" w="9525">
            <a:solidFill>
              <a:srgbClr val="BFE3D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0800" rIns="38100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 b="1">
                <a:solidFill>
                  <a:srgbClr val="1E8E5A"/>
                </a:solidFill>
              </a:rPr>
              <a:t>✓ </a:t>
            </a:r>
            <a:r>
              <a:rPr sz="900">
                <a:solidFill>
                  <a:srgbClr val="202729"/>
                </a:solidFill>
              </a:rPr>
              <a:t>No hidden-score claim</a:t>
            </a:r>
          </a:p>
        </p:txBody>
      </p:sp>
    </p:spTree>
    <p:extLst>
      <p:ext uri="{BB962C8B-B14F-4D97-AF65-F5344CB8AC3E}">
        <p14:creationId xmlns:p14="http://schemas.microsoft.com/office/powerpoint/2010/main" val="1212408136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0" name="Google Shape;110;p21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20ba360a16a456c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9144018" cy="5143501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11" name="Google Shape;111;p21">
            <a:extLst xmlns:a="http://schemas.openxmlformats.org/drawingml/2006/main">
              <a:ext uri="{FF2B5EF4-FFF2-40B4-BE49-F238E27FC236}">
                <a16:creationId xmlns:a16="http://schemas.microsoft.com/office/drawing/2014/main" id="{37A64412-E57D-43C1-9FDC-DD059DCFF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500" y="812600"/>
            <a:ext cx="8121600" cy="46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76200" tIns="66675" rIns="76200" bIns="66675" anchor="t">
            <a:normAutofit fontScale="78806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500" b="1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1500" b="1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</a:rPr>
              <a:t>Technologies Used</a:t>
            </a:r>
          </a:p>
        </p:txBody>
      </p:sp>
      <p:sp>
        <p:nvSpPr>
          <p:cNvPr id="112" name="Google Shape;112;p21">
            <a:extLst xmlns:a="http://schemas.openxmlformats.org/drawingml/2006/main">
              <a:ext uri="{FF2B5EF4-FFF2-40B4-BE49-F238E27FC236}">
                <a16:creationId xmlns:a16="http://schemas.microsoft.com/office/drawing/2014/main" id="{8521B727-A2E5-426D-A3EF-2B0D532DF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600" y="1234440"/>
            <a:ext cx="852060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76200" tIns="66675" rIns="76200" bIns="66675" anchor="t">
            <a:normAutofit fontScale="100000"/>
          </a:bodyPr>
          <a:lstStyle xmlns:a="http://schemas.openxmlformats.org/drawingml/2006/main"/>
          <a:p xmlns:a="http://schemas.openxmlformats.org/drawingml/2006/main">
            <a:pPr marL="457200" indent="-315278"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  <a:buNone/>
              <a:defRPr sz="1125">
                <a:solidFill>
                  <a:srgbClr val="687078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87078"/>
                </a:solidFill>
                <a:latin typeface="Arial"/>
                <a:ea typeface="Arial"/>
                <a:cs typeface="Arial"/>
              </a:rPr>
              <a:t>Every dependency earns its place: fast on CPU, offline at rank time, deterministic, and easy to reproduce.</a:t>
            </a:r>
          </a:p>
        </p:txBody>
      </p:sp>
      <p:sp>
        <p:nvSpPr>
          <p:cNvPr id="113" name="TextBox 112">
            <a:extLst xmlns:a="http://schemas.openxmlformats.org/drawingml/2006/main">
              <a:ext uri="{FF2B5EF4-FFF2-40B4-BE49-F238E27FC236}">
                <a16:creationId xmlns:a16="http://schemas.microsoft.com/office/drawing/2014/main" id="{67EB2090-3895-4102-8D0E-EB2E7C040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809750"/>
            <a:ext cx="2524125" cy="490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76200" rIns="133350" bIns="5715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  <a:defRPr sz="1035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1035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01 / RANKING CORE
</a:t>
            </a:r>
            <a:r>
              <a:rPr sz="1035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Python 3.11 + NumPy
</a:t>
            </a:r>
            <a:r>
              <a:rPr sz="1035">
                <a:solidFill>
                  <a:srgbClr val="202729"/>
                </a:solidFill>
                <a:latin typeface="Arial"/>
                <a:ea typeface="Arial"/>
                <a:cs typeface="Arial"/>
              </a:rPr>
              <a:t>Deterministic CPU numerics
</a:t>
            </a:r>
            <a:r>
              <a:rPr sz="1035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bm25s + fallback
</a:t>
            </a:r>
            <a:r>
              <a:rPr sz="1035">
                <a:solidFill>
                  <a:srgbClr val="202729"/>
                </a:solidFill>
                <a:latin typeface="Arial"/>
                <a:ea typeface="Arial"/>
                <a:cs typeface="Arial"/>
              </a:rPr>
              <a:t>Fast lexical retrieval over 100K
</a:t>
            </a:r>
            <a:r>
              <a:rPr sz="1035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130 KB NumPy model
</a:t>
            </a:r>
            <a:r>
              <a:rPr sz="1035">
                <a:solidFill>
                  <a:srgbClr val="202729"/>
                </a:solidFill>
                <a:latin typeface="Arial"/>
                <a:ea typeface="Arial"/>
                <a:cs typeface="Arial"/>
              </a:rPr>
              <a:t>No GPU or PyTorch dependency</a:t>
            </a:r>
          </a:p>
        </p:txBody>
      </p:sp>
      <p:sp>
        <p:nvSpPr>
          <p:cNvPr id="115" name="technology-divider-1">
            <a:extLst xmlns:a="http://schemas.openxmlformats.org/drawingml/2006/main">
              <a:ext uri="{FF2B5EF4-FFF2-40B4-BE49-F238E27FC236}">
                <a16:creationId xmlns:a16="http://schemas.microsoft.com/office/drawing/2014/main" id="{3D00AAF3-AF39-4AE0-9DDA-DD9F9C573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1809750"/>
            <a:ext cx="1143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6" name="technology-divider-2">
            <a:extLst xmlns:a="http://schemas.openxmlformats.org/drawingml/2006/main">
              <a:ext uri="{FF2B5EF4-FFF2-40B4-BE49-F238E27FC236}">
                <a16:creationId xmlns:a16="http://schemas.microsoft.com/office/drawing/2014/main" id="{ED3268DB-ECE9-4342-A6B3-42D6057D0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4075" y="1809750"/>
            <a:ext cx="1143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" name="technology-live-delivery">
            <a:extLst xmlns:a="http://schemas.openxmlformats.org/drawingml/2006/main">
              <a:ext uri="{FF2B5EF4-FFF2-40B4-BE49-F238E27FC236}">
                <a16:creationId xmlns:a16="http://schemas.microsoft.com/office/drawing/2014/main" id="{CDB9E4B1-7E91-4420-B096-27DB56389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1809750"/>
            <a:ext cx="2524125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76200" rIns="13335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  <a:defRPr sz="1035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1035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02 / LIVE DELIVERY
</a:t>
            </a:r>
            <a:r>
              <a:rPr sz="1035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FastAPI + static UI
</a:t>
            </a:r>
            <a:r>
              <a:rPr sz="1035">
                <a:solidFill>
                  <a:srgbClr val="202729"/>
                </a:solidFill>
                <a:latin typeface="Arial"/>
                <a:ea typeface="Arial"/>
                <a:cs typeface="Arial"/>
              </a:rPr>
              <a:t>Recruiter decision room on Render
</a:t>
            </a:r>
            <a:r>
              <a:rPr sz="1035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Gradio
</a:t>
            </a:r>
            <a:r>
              <a:rPr sz="1035">
                <a:solidFill>
                  <a:srgbClr val="202729"/>
                </a:solidFill>
                <a:latin typeface="Arial"/>
                <a:ea typeface="Arial"/>
                <a:cs typeface="Arial"/>
              </a:rPr>
              <a:t>Inspectable Hugging Face sandbox
</a:t>
            </a:r>
            <a:r>
              <a:rPr sz="1035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Two live surfaces
</a:t>
            </a:r>
            <a:r>
              <a:rPr sz="1035">
                <a:solidFill>
                  <a:srgbClr val="202729"/>
                </a:solidFill>
                <a:latin typeface="Arial"/>
                <a:ea typeface="Arial"/>
                <a:cs typeface="Arial"/>
              </a:rPr>
              <a:t>One consistent ranking story</a:t>
            </a:r>
          </a:p>
        </p:txBody>
      </p:sp>
      <p:sp>
        <p:nvSpPr>
          <p:cNvPr id="118" name="technology-release-proof">
            <a:extLst xmlns:a="http://schemas.openxmlformats.org/drawingml/2006/main">
              <a:ext uri="{FF2B5EF4-FFF2-40B4-BE49-F238E27FC236}">
                <a16:creationId xmlns:a16="http://schemas.microsoft.com/office/drawing/2014/main" id="{C8C14374-D475-4053-8346-2B8ADB6B1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809750"/>
            <a:ext cx="25717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76200" rIns="9525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  <a:defRPr sz="1035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1035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03 / RELEASE PROOF
</a:t>
            </a:r>
            <a:r>
              <a:rPr sz="1035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Pinned environment
</a:t>
            </a:r>
            <a:r>
              <a:rPr sz="1035">
                <a:solidFill>
                  <a:srgbClr val="202729"/>
                </a:solidFill>
                <a:latin typeface="Arial"/>
                <a:ea typeface="Arial"/>
                <a:cs typeface="Arial"/>
              </a:rPr>
              <a:t>Docker digest + dependency hashes
</a:t>
            </a:r>
            <a:r>
              <a:rPr sz="1035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278 checks
</a:t>
            </a:r>
            <a:r>
              <a:rPr sz="1035">
                <a:solidFill>
                  <a:srgbClr val="202729"/>
                </a:solidFill>
                <a:latin typeface="Arial"/>
                <a:ea typeface="Arial"/>
                <a:cs typeface="Arial"/>
              </a:rPr>
              <a:t>All collected checks pass
</a:t>
            </a:r>
            <a:r>
              <a:rPr sz="1035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Golden release
</a:t>
            </a:r>
            <a:r>
              <a:rPr sz="1035">
                <a:solidFill>
                  <a:srgbClr val="202729"/>
                </a:solidFill>
                <a:latin typeface="Arial"/>
                <a:ea typeface="Arial"/>
                <a:cs typeface="Arial"/>
              </a:rPr>
              <a:t>Output hash + 2K behaviour gate</a:t>
            </a:r>
          </a:p>
        </p:txBody>
      </p:sp>
      <p:sp>
        <p:nvSpPr>
          <p:cNvPr id="119" name="technology-decision-rule">
            <a:extLst xmlns:a="http://schemas.openxmlformats.org/drawingml/2006/main">
              <a:ext uri="{FF2B5EF4-FFF2-40B4-BE49-F238E27FC236}">
                <a16:creationId xmlns:a16="http://schemas.microsoft.com/office/drawing/2014/main" id="{AAF1F390-6F45-4F8A-AE82-373661FC8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305300"/>
            <a:ext cx="8229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47625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90" b="0">
                <a:solidFill>
                  <a:srgbClr val="687078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687078"/>
                </a:solidFill>
                <a:latin typeface="Arial"/>
                <a:ea typeface="Arial"/>
                <a:cs typeface="Arial"/>
              </a:rPr>
              <a:t>A deliberately small stack keeps every run fast, reproducible, and easy for judges to inspect.</a:t>
            </a:r>
          </a:p>
        </p:txBody>
      </p:sp>
    </p:spTree>
    <p:extLst>
      <p:ext uri="{BB962C8B-B14F-4D97-AF65-F5344CB8AC3E}">
        <p14:creationId xmlns:p14="http://schemas.microsoft.com/office/powerpoint/2010/main" val="1316608422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8" name="Google Shape;117;p22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93da93d1029498f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9143997" cy="514349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18" name="Google Shape;118;p22">
            <a:extLst xmlns:a="http://schemas.openxmlformats.org/drawingml/2006/main">
              <a:ext uri="{FF2B5EF4-FFF2-40B4-BE49-F238E27FC236}">
                <a16:creationId xmlns:a16="http://schemas.microsoft.com/office/drawing/2014/main" id="{3E5EBC91-9578-4D9E-99EA-B082AF4EB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500" y="812600"/>
            <a:ext cx="8121600" cy="46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76200" tIns="66675" rIns="76200" bIns="66675" anchor="t">
            <a:normAutofit fontScale="78806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500" b="1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1500" b="1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</a:rPr>
              <a:t>Submission Assets</a:t>
            </a:r>
          </a:p>
        </p:txBody>
      </p:sp>
      <p:sp>
        <p:nvSpPr>
          <p:cNvPr id="119" name="Google Shape;119;p22">
            <a:extLst xmlns:a="http://schemas.openxmlformats.org/drawingml/2006/main">
              <a:ext uri="{FF2B5EF4-FFF2-40B4-BE49-F238E27FC236}">
                <a16:creationId xmlns:a16="http://schemas.microsoft.com/office/drawing/2014/main" id="{A1D8EB68-7B2A-49EC-A44F-518DFCA88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752600"/>
            <a:ext cx="188595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76200" tIns="76200" rIns="114300" bIns="5715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  <a:defRPr sz="1020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1020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01 / TRY IT
</a:t>
            </a:r>
            <a:r>
              <a:rPr sz="1020" b="1">
                <a:solidFill>
                  <a:srgbClr val="202729"/>
                </a:solidFill>
                <a:latin typeface="Arial"/>
                <a:ea typeface="Arial"/>
                <a:cs typeface="Arial"/>
                <a:hlinkClick xmlns:r="http://schemas.openxmlformats.org/officeDocument/2006/relationships" r:id="R683c82b4e3b14071"/>
              </a:rPr>
              <a:t>Render decision room ↗</a:t>
            </a:r>
            <a:br>
              <a:rPr sz="1020" b="1">
                <a:solidFill>
                  <a:srgbClr val="202729"/>
                </a:solidFill>
                <a:latin typeface="Arial"/>
                <a:ea typeface="Arial"/>
                <a:cs typeface="Arial"/>
              </a:rPr>
            </a:br>
            <a:r>
              <a:rPr sz="1020">
                <a:solidFill>
                  <a:srgbClr val="202729"/>
                </a:solidFill>
                <a:latin typeface="Arial"/>
                <a:ea typeface="Arial"/>
                <a:cs typeface="Arial"/>
              </a:rPr>
              <a:t>Review the ranked shortlist and evidence.
</a:t>
            </a:r>
            <a:r>
              <a:rPr sz="1020" b="1">
                <a:solidFill>
                  <a:srgbClr val="202729"/>
                </a:solidFill>
                <a:latin typeface="Arial"/>
                <a:ea typeface="Arial"/>
                <a:cs typeface="Arial"/>
                <a:hlinkClick xmlns:r="http://schemas.openxmlformats.org/officeDocument/2006/relationships" r:id="R08f8d86d43414e3d"/>
              </a:rPr>
              <a:t>Hugging Face sandbox ↗</a:t>
            </a:r>
            <a:br>
              <a:rPr sz="1020" b="1">
                <a:solidFill>
                  <a:srgbClr val="202729"/>
                </a:solidFill>
                <a:latin typeface="Arial"/>
                <a:ea typeface="Arial"/>
                <a:cs typeface="Arial"/>
              </a:rPr>
            </a:br>
            <a:r>
              <a:rPr sz="1020">
                <a:solidFill>
                  <a:srgbClr val="202729"/>
                </a:solidFill>
                <a:latin typeface="Arial"/>
                <a:ea typeface="Arial"/>
                <a:cs typeface="Arial"/>
              </a:rPr>
              <a:t>Run the inspectable demo surface.</a:t>
            </a:r>
          </a:p>
        </p:txBody>
      </p:sp>
      <p:sp>
        <p:nvSpPr>
          <p:cNvPr id="121" name="assets-subtitle">
            <a:extLst xmlns:a="http://schemas.openxmlformats.org/drawingml/2006/main">
              <a:ext uri="{FF2B5EF4-FFF2-40B4-BE49-F238E27FC236}">
                <a16:creationId xmlns:a16="http://schemas.microsoft.com/office/drawing/2014/main" id="{A2CADADF-B86F-4479-A5DC-63A14F809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57300"/>
            <a:ext cx="8229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088">
                <a:solidFill>
                  <a:srgbClr val="687078"/>
                </a:solidFill>
                <a:latin typeface="Arial"/>
                <a:ea typeface="Arial"/>
                <a:cs typeface="Arial"/>
              </a:defRPr>
            </a:pPr>
            <a:r>
              <a:rPr sz="1088">
                <a:solidFill>
                  <a:srgbClr val="687078"/>
                </a:solidFill>
                <a:latin typeface="Arial"/>
                <a:ea typeface="Arial"/>
                <a:cs typeface="Arial"/>
              </a:rPr>
              <a:t>A complete judge path: experience the product, inspect the proof, reproduce the output, then present the result.</a:t>
            </a:r>
          </a:p>
        </p:txBody>
      </p:sp>
      <p:sp>
        <p:nvSpPr>
          <p:cNvPr id="122" name="assets-divider-1">
            <a:extLst xmlns:a="http://schemas.openxmlformats.org/drawingml/2006/main">
              <a:ext uri="{FF2B5EF4-FFF2-40B4-BE49-F238E27FC236}">
                <a16:creationId xmlns:a16="http://schemas.microsoft.com/office/drawing/2014/main" id="{453A61D9-C696-4010-9727-2BE8D6F9A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1752600"/>
            <a:ext cx="11430" cy="2686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3" name="assets-divider-2">
            <a:extLst xmlns:a="http://schemas.openxmlformats.org/drawingml/2006/main">
              <a:ext uri="{FF2B5EF4-FFF2-40B4-BE49-F238E27FC236}">
                <a16:creationId xmlns:a16="http://schemas.microsoft.com/office/drawing/2014/main" id="{C1CCFAA7-C123-4851-BBA3-A8BE99C1E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752600"/>
            <a:ext cx="11430" cy="2686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4" name="assets-divider-3">
            <a:extLst xmlns:a="http://schemas.openxmlformats.org/drawingml/2006/main">
              <a:ext uri="{FF2B5EF4-FFF2-40B4-BE49-F238E27FC236}">
                <a16:creationId xmlns:a16="http://schemas.microsoft.com/office/drawing/2014/main" id="{FB8FC36D-B191-4D6A-B223-CB942F198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1752600"/>
            <a:ext cx="11430" cy="2686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5" name="assets-verify">
            <a:extLst xmlns:a="http://schemas.openxmlformats.org/drawingml/2006/main">
              <a:ext uri="{FF2B5EF4-FFF2-40B4-BE49-F238E27FC236}">
                <a16:creationId xmlns:a16="http://schemas.microsoft.com/office/drawing/2014/main" id="{9652C006-9F2F-4BA6-ACCB-2880E9D71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752600"/>
            <a:ext cx="188595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76200" rIns="1143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  <a:defRPr sz="1020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1020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02 / VERIFY IT
</a:t>
            </a:r>
            <a:r>
              <a:rPr sz="1020" b="1">
                <a:solidFill>
                  <a:srgbClr val="202729"/>
                </a:solidFill>
                <a:latin typeface="Arial"/>
                <a:ea typeface="Arial"/>
                <a:cs typeface="Arial"/>
                <a:hlinkClick xmlns:r="http://schemas.openxmlformats.org/officeDocument/2006/relationships" r:id="Rf0d3f1fb05d046e1"/>
              </a:rPr>
              <a:t>Open source repository ↗</a:t>
            </a:r>
            <a:br>
              <a:rPr sz="1020" b="1">
                <a:solidFill>
                  <a:srgbClr val="202729"/>
                </a:solidFill>
                <a:latin typeface="Arial"/>
                <a:ea typeface="Arial"/>
                <a:cs typeface="Arial"/>
              </a:rPr>
            </a:br>
            <a:r>
              <a:rPr sz="1020">
                <a:solidFill>
                  <a:srgbClr val="202729"/>
                </a:solidFill>
                <a:latin typeface="Arial"/>
                <a:ea typeface="Arial"/>
                <a:cs typeface="Arial"/>
              </a:rPr>
              <a:t>Read the code, tests, and README.
</a:t>
            </a:r>
            <a:r>
              <a:rPr sz="1020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Judge proof
</a:t>
            </a:r>
            <a:r>
              <a:rPr sz="1020">
                <a:solidFill>
                  <a:srgbClr val="202729"/>
                </a:solidFill>
                <a:latin typeface="Arial"/>
                <a:ea typeface="Arial"/>
                <a:cs typeface="Arial"/>
              </a:rPr>
              <a:t>docs/JUDGE_PROOF.md
</a:t>
            </a:r>
            <a:r>
              <a:rPr sz="1020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Reproduce
</a:t>
            </a:r>
            <a:r>
              <a:rPr sz="1020">
                <a:solidFill>
                  <a:srgbClr val="202729"/>
                </a:solidFill>
                <a:latin typeface="Arial"/>
                <a:ea typeface="Arial"/>
                <a:cs typeface="Arial"/>
              </a:rPr>
              <a:t>python rank.py --release</a:t>
            </a:r>
          </a:p>
        </p:txBody>
      </p:sp>
      <p:sp>
        <p:nvSpPr>
          <p:cNvPr id="126" name="assets-download">
            <a:extLst xmlns:a="http://schemas.openxmlformats.org/drawingml/2006/main">
              <a:ext uri="{FF2B5EF4-FFF2-40B4-BE49-F238E27FC236}">
                <a16:creationId xmlns:a16="http://schemas.microsoft.com/office/drawing/2014/main" id="{10BAF48D-38A5-48C2-8E99-EFE9A3F54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1752600"/>
            <a:ext cx="188595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76200" rIns="1143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  <a:defRPr sz="1020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1020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03 / DOWNLOAD
</a:t>
            </a:r>
            <a:r>
              <a:rPr sz="1020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submission.csv
</a:t>
            </a:r>
            <a:r>
              <a:rPr sz="1020">
                <a:solidFill>
                  <a:srgbClr val="202729"/>
                </a:solidFill>
                <a:latin typeface="Arial"/>
                <a:ea typeface="Arial"/>
                <a:cs typeface="Arial"/>
              </a:rPr>
              <a:t>Predefined top-100 format
</a:t>
            </a:r>
            <a:r>
              <a:rPr sz="1020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ranked_top100.xlsx
</a:t>
            </a:r>
            <a:r>
              <a:rPr sz="1020">
                <a:solidFill>
                  <a:srgbClr val="202729"/>
                </a:solidFill>
                <a:latin typeface="Arial"/>
                <a:ea typeface="Arial"/>
                <a:cs typeface="Arial"/>
              </a:rPr>
              <a:t>Grounded reasons for review
</a:t>
            </a:r>
            <a:r>
              <a:rPr sz="1020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Validator passed
</a:t>
            </a:r>
            <a:r>
              <a:rPr sz="1020">
                <a:solidFill>
                  <a:srgbClr val="202729"/>
                </a:solidFill>
                <a:latin typeface="Arial"/>
                <a:ea typeface="Arial"/>
                <a:cs typeface="Arial"/>
              </a:rPr>
              <a:t>SHA-256 3d2dbd8a…</a:t>
            </a:r>
          </a:p>
        </p:txBody>
      </p:sp>
      <p:sp>
        <p:nvSpPr>
          <p:cNvPr id="127" name="assets-present">
            <a:extLst xmlns:a="http://schemas.openxmlformats.org/drawingml/2006/main">
              <a:ext uri="{FF2B5EF4-FFF2-40B4-BE49-F238E27FC236}">
                <a16:creationId xmlns:a16="http://schemas.microsoft.com/office/drawing/2014/main" id="{9F89C49D-6BC1-4D62-9A04-25D873756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1752600"/>
            <a:ext cx="188595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7620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  <a:defRPr sz="1020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1020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04 / PRESENT
</a:t>
            </a:r>
            <a:r>
              <a:rPr sz="1020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90-second demo flow
</a:t>
            </a:r>
            <a:r>
              <a:rPr sz="1020">
                <a:solidFill>
                  <a:srgbClr val="202729"/>
                </a:solidFill>
                <a:latin typeface="Arial"/>
                <a:ea typeface="Arial"/>
                <a:cs typeface="Arial"/>
              </a:rPr>
              <a:t>Reproduce → validate → rank → explain
</a:t>
            </a:r>
            <a:r>
              <a:rPr sz="1020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Presenter guide
</a:t>
            </a:r>
            <a:r>
              <a:rPr sz="1020">
                <a:solidFill>
                  <a:srgbClr val="202729"/>
                </a:solidFill>
                <a:latin typeface="Arial"/>
                <a:ea typeface="Arial"/>
                <a:cs typeface="Arial"/>
              </a:rPr>
              <a:t>docs/DEMO_SCRIPT.md
</a:t>
            </a:r>
            <a:r>
              <a:rPr sz="1020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Close with proof
</a:t>
            </a:r>
            <a:r>
              <a:rPr sz="1020">
                <a:solidFill>
                  <a:srgbClr val="202729"/>
                </a:solidFill>
                <a:latin typeface="Arial"/>
                <a:ea typeface="Arial"/>
                <a:cs typeface="Arial"/>
              </a:rPr>
              <a:t>Live links + deterministic result</a:t>
            </a:r>
          </a:p>
        </p:txBody>
      </p:sp>
    </p:spTree>
    <p:extLst>
      <p:ext uri="{BB962C8B-B14F-4D97-AF65-F5344CB8AC3E}">
        <p14:creationId xmlns:p14="http://schemas.microsoft.com/office/powerpoint/2010/main" val="167007585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" name="Google Shape;124;p2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1d513c90fce42b3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9144018" cy="5143501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2" name="closing-verification-panel">
            <a:extLst xmlns:a="http://schemas.openxmlformats.org/drawingml/2006/main">
              <a:ext uri="{FF2B5EF4-FFF2-40B4-BE49-F238E27FC236}">
                <a16:creationId xmlns:a16="http://schemas.microsoft.com/office/drawing/2014/main" id="{4795D8D5-F654-427D-8A27-E7A6EC195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314825"/>
            <a:ext cx="67627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1D1238"/>
          </a:solidFill>
          <a:ln xmlns:a="http://schemas.openxmlformats.org/drawingml/2006/main" w="9525">
            <a:solidFill>
              <a:srgbClr val="DCCBFF"/>
            </a:solidFill>
            <a:prstDash val="solid"/>
          </a:ln>
        </p:spPr>
        <p:txBody>
          <a:bodyPr xmlns:a="http://schemas.openxmlformats.org/drawingml/2006/main" lIns="95250" tIns="66675" rIns="95250" bIns="47625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30">
                <a:solidFill>
                  <a:srgbClr val="E9E2F7"/>
                </a:solidFill>
                <a:latin typeface="Arial"/>
                <a:ea typeface="Arial"/>
                <a:cs typeface="Arial"/>
              </a:defRPr>
            </a:pPr>
            <a:r>
              <a:rPr sz="930" b="1">
                <a:solidFill>
                  <a:srgbClr val="E9E2F7"/>
                </a:solidFill>
                <a:latin typeface="Arial"/>
                <a:ea typeface="Arial"/>
                <a:cs typeface="Arial"/>
              </a:rPr>
              <a:t>VERIFY IT YOURSELF  </a:t>
            </a:r>
            <a:r>
              <a:rPr sz="930">
                <a:solidFill>
                  <a:srgbClr val="E9E2F7"/>
                </a:solidFill>
                <a:latin typeface="Arial"/>
                <a:ea typeface="Arial"/>
                <a:cs typeface="Arial"/>
                <a:hlinkClick xmlns:r="http://schemas.openxmlformats.org/officeDocument/2006/relationships" r:id="R8a0c642ff74748c6"/>
              </a:rPr>
              <a:t>github.com/bansalbhunesh/redrob-hirefit-ranker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930">
                <a:solidFill>
                  <a:srgbClr val="E9E2F7"/>
                </a:solidFill>
                <a:latin typeface="Arial"/>
                <a:ea typeface="Arial"/>
                <a:cs typeface="Arial"/>
              </a:defRPr>
            </a:pPr>
            <a:r>
              <a:rPr sz="930" b="1">
                <a:solidFill>
                  <a:srgbClr val="E9E2F7"/>
                </a:solidFill>
                <a:latin typeface="Arial"/>
                <a:ea typeface="Arial"/>
                <a:cs typeface="Arial"/>
              </a:rPr>
              <a:t>LIVE  </a:t>
            </a:r>
            <a:r>
              <a:rPr sz="930">
                <a:solidFill>
                  <a:srgbClr val="E9E2F7"/>
                </a:solidFill>
                <a:latin typeface="Arial"/>
                <a:ea typeface="Arial"/>
                <a:cs typeface="Arial"/>
                <a:hlinkClick xmlns:r="http://schemas.openxmlformats.org/officeDocument/2006/relationships" r:id="Rf4f5454e4cb04f18"/>
              </a:rPr>
              <a:t>redrob-hirefit-ranker.onrender.com</a:t>
            </a:r>
            <a:r>
              <a:rPr sz="930">
                <a:solidFill>
                  <a:srgbClr val="E9E2F7"/>
                </a:solidFill>
                <a:latin typeface="Arial"/>
                <a:ea typeface="Arial"/>
                <a:cs typeface="Arial"/>
              </a:rPr>
              <a:t>  •  </a:t>
            </a:r>
            <a:r>
              <a:rPr sz="930">
                <a:solidFill>
                  <a:srgbClr val="E9E2F7"/>
                </a:solidFill>
                <a:latin typeface="Arial"/>
                <a:ea typeface="Arial"/>
                <a:cs typeface="Arial"/>
                <a:hlinkClick xmlns:r="http://schemas.openxmlformats.org/officeDocument/2006/relationships" r:id="Rf04c21f6f9b743bf"/>
              </a:rPr>
              <a:t>huggingface.co/spaces/bansal1234/Hirefit</a:t>
            </a:r>
          </a:p>
        </p:txBody>
      </p:sp>
    </p:spTree>
    <p:extLst>
      <p:ext uri="{BB962C8B-B14F-4D97-AF65-F5344CB8AC3E}">
        <p14:creationId xmlns:p14="http://schemas.microsoft.com/office/powerpoint/2010/main" val="1676368539"/>
      </p:ext>
    </p:extLst>
  </p:cSld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2026-07-02T02:08:58.4940000Z</dcterms:created>
  <dcterms:modified xsi:type="dcterms:W3CDTF">2026-07-02T02:08:58.4940000Z</dcterms:modified>
</coreProperties>
</file>