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fonts/font.dat" ContentType="application/x-fontdata"/>
  <Override PartName="/ppt/fonts/font2.dat" ContentType="application/x-fontdata"/>
  <Override PartName="/ppt/fonts/font3.dat" ContentType="application/x-fontdata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6d7644a3f22f4e42" Type="http://schemas.openxmlformats.org/package/2006/relationships/metadata/core-properties" Target="docProps/core.xml"/><Relationship Id="R7f415c51618f46ec" Type="http://schemas.openxmlformats.org/officeDocument/2006/relationships/officeDocument" Target="ppt/presentation.xml"/><Relationship Id="R8e6fc90cb3e749ab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c45022cb6354b71"/>
  </p:sldMasterIdLst>
  <p:notesMasterIdLst>
    <p:notesMasterId xmlns:r="http://schemas.openxmlformats.org/officeDocument/2006/relationships" r:id="R8c2cb91933354cce"/>
  </p:notesMasterIdLst>
  <p:sldIdLst>
    <p:sldId xmlns:r="http://schemas.openxmlformats.org/officeDocument/2006/relationships" id="256" r:id="R06d1b32663c4450a"/>
    <p:sldId xmlns:r="http://schemas.openxmlformats.org/officeDocument/2006/relationships" id="257" r:id="R3ae51a0f5b52422f"/>
    <p:sldId xmlns:r="http://schemas.openxmlformats.org/officeDocument/2006/relationships" id="258" r:id="Rd127832854f24a96"/>
    <p:sldId xmlns:r="http://schemas.openxmlformats.org/officeDocument/2006/relationships" id="259" r:id="R6f794b61bb1f4aad"/>
    <p:sldId xmlns:r="http://schemas.openxmlformats.org/officeDocument/2006/relationships" id="260" r:id="Re8dd09c5c4de4082"/>
    <p:sldId xmlns:r="http://schemas.openxmlformats.org/officeDocument/2006/relationships" id="261" r:id="R0a63bf0a622c4d7c"/>
    <p:sldId xmlns:r="http://schemas.openxmlformats.org/officeDocument/2006/relationships" id="262" r:id="Rda0da0f4b2c943e8"/>
    <p:sldId xmlns:r="http://schemas.openxmlformats.org/officeDocument/2006/relationships" id="263" r:id="R7b0684466e2944fc"/>
    <p:sldId xmlns:r="http://schemas.openxmlformats.org/officeDocument/2006/relationships" id="264" r:id="R2465c2d96c6140f9"/>
    <p:sldId xmlns:r="http://schemas.openxmlformats.org/officeDocument/2006/relationships" id="265" r:id="R6d4ae1b1da7f4d99"/>
    <p:sldId xmlns:r="http://schemas.openxmlformats.org/officeDocument/2006/relationships" id="266" r:id="Rf6736f59657947c5"/>
  </p:sldIdLst>
  <p:sldSz cx="9144000" cy="5143500"/>
  <p:notesSz cx="6858000" cy="9144000"/>
  <p:embeddedFontLst>
    <p:embeddedFont>
      <p:font typeface="Manrope SemiBold"/>
      <p:regular xmlns:r="http://schemas.openxmlformats.org/officeDocument/2006/relationships" r:id="Rd4b45373426a41ac"/>
      <p:bold xmlns:r="http://schemas.openxmlformats.org/officeDocument/2006/relationships" r:id="Rc602ecafd9924122"/>
    </p:embeddedFont>
    <p:embeddedFont>
      <p:font typeface="Manrope ExtraBold"/>
      <p:bold xmlns:r="http://schemas.openxmlformats.org/officeDocument/2006/relationships" r:id="R85e6e53a76aa44fe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d1b32663c4450a" Type="http://schemas.openxmlformats.org/officeDocument/2006/relationships/slide" Target="slides/slide1.xml"/><Relationship Id="R0a63bf0a622c4d7c" Type="http://schemas.openxmlformats.org/officeDocument/2006/relationships/slide" Target="slides/slide6.xml"/><Relationship Id="R2465c2d96c6140f9" Type="http://schemas.openxmlformats.org/officeDocument/2006/relationships/slide" Target="slides/slide9.xml"/><Relationship Id="R3ae51a0f5b52422f" Type="http://schemas.openxmlformats.org/officeDocument/2006/relationships/slide" Target="slides/slide2.xml"/><Relationship Id="R692df04e943d49b6" Type="http://schemas.openxmlformats.org/officeDocument/2006/relationships/theme" Target="theme/theme1.xml"/><Relationship Id="R6d4ae1b1da7f4d99" Type="http://schemas.openxmlformats.org/officeDocument/2006/relationships/slide" Target="slides/slide10.xml"/><Relationship Id="R6f794b61bb1f4aad" Type="http://schemas.openxmlformats.org/officeDocument/2006/relationships/slide" Target="slides/slide4.xml"/><Relationship Id="R7b0684466e2944fc" Type="http://schemas.openxmlformats.org/officeDocument/2006/relationships/slide" Target="slides/slide8.xml"/><Relationship Id="R85e6e53a76aa44fe" Type="http://schemas.openxmlformats.org/officeDocument/2006/relationships/font" Target="fonts/font3.dat"/><Relationship Id="R8c2cb91933354cce" Type="http://schemas.openxmlformats.org/officeDocument/2006/relationships/notesMaster" Target="notesMasters/notesMaster1.xml"/><Relationship Id="Rbc45022cb6354b71" Type="http://schemas.openxmlformats.org/officeDocument/2006/relationships/slideMaster" Target="slideMasters/slideMaster1.xml"/><Relationship Id="Rc602ecafd9924122" Type="http://schemas.openxmlformats.org/officeDocument/2006/relationships/font" Target="fonts/font2.dat"/><Relationship Id="Rccc38a33d4474aa3" Type="http://schemas.openxmlformats.org/officeDocument/2006/relationships/presProps" Target="presProps.xml"/><Relationship Id="Rd127832854f24a96" Type="http://schemas.openxmlformats.org/officeDocument/2006/relationships/slide" Target="slides/slide3.xml"/><Relationship Id="Rd4b45373426a41ac" Type="http://schemas.openxmlformats.org/officeDocument/2006/relationships/font" Target="fonts/font.dat"/><Relationship Id="Rda0da0f4b2c943e8" Type="http://schemas.openxmlformats.org/officeDocument/2006/relationships/slide" Target="slides/slide7.xml"/><Relationship Id="Re8dd09c5c4de4082" Type="http://schemas.openxmlformats.org/officeDocument/2006/relationships/slide" Target="slides/slide5.xml"/><Relationship Id="Rf4f6c14e1dc04386" Type="http://schemas.openxmlformats.org/officeDocument/2006/relationships/tableStyles" Target="tableStyles.xml"/><Relationship Id="Rf6736f59657947c5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38c170dfd9b242e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923e2729e984d52" Type="http://schemas.openxmlformats.org/officeDocument/2006/relationships/notesMaster" Target="../notesMasters/notesMaster1.xml"/><Relationship Id="Rd2fd7f84678f4e3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e4a81a5713e34405" Type="http://schemas.openxmlformats.org/officeDocument/2006/relationships/notesMaster" Target="../notesMasters/notesMaster1.xml"/><Relationship Id="Rfe8407fd97c34deb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6226e920c58e4981" Type="http://schemas.openxmlformats.org/officeDocument/2006/relationships/slide" Target="../slides/slide3.xml"/><Relationship Id="Rd6e0710ef10d459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7efce42b9eb427c" Type="http://schemas.openxmlformats.org/officeDocument/2006/relationships/slide" Target="../slides/slide4.xml"/><Relationship Id="Rde8714e006bf4404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5320b846cf5d4d5e" Type="http://schemas.openxmlformats.org/officeDocument/2006/relationships/notesMaster" Target="../notesMasters/notesMaster1.xml"/><Relationship Id="Rd2e002d6d3c04b86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92d8fe4e7d394c68" Type="http://schemas.openxmlformats.org/officeDocument/2006/relationships/slide" Target="../slides/slide6.xml"/><Relationship Id="Rf2c14fe248a04bef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a9fe88ac104f4426" Type="http://schemas.openxmlformats.org/officeDocument/2006/relationships/notesMaster" Target="../notesMasters/notesMaster1.xml"/><Relationship Id="Rdb8fec9ece564656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d8066020277c4a40" Type="http://schemas.openxmlformats.org/officeDocument/2006/relationships/notesMaster" Target="../notesMasters/notesMaster1.xml"/><Relationship Id="Rf3cd25819dff427a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58546fb55a84654" Type="http://schemas.openxmlformats.org/officeDocument/2006/relationships/slide" Target="../slides/slide9.xml"/><Relationship Id="R85448af6fd204ef9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83743adfb176454a" Type="http://schemas.openxmlformats.org/officeDocument/2006/relationships/notesMaster" Target="../notesMasters/notesMaster1.xml"/><Relationship Id="Rdfef2d6da9d14cce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f80f254eb962482b" Type="http://schemas.openxmlformats.org/officeDocument/2006/relationships/slide" Target="../slides/slide11.xml"/><Relationship Id="Rfba378741f574b70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333a0c539f44ac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845ed5d8b184a4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f620c4fe0b0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79dcfa2734b44f5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28b933e7584450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0e8633b022c2458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3f5b87b5a8440e7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09677d1a20042d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9d648c05f7b140b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af04294a0b5466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cb051e702a09498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A58FFF25-6F9C-407A-92CC-C394178EDD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57C5A472-7A84-4368-8DE6-E1C4300B5E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CF5AA4D7-A959-4CD3-A8BD-953A1924ED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62ECC082-5C19-4514-943D-4BAE8C86A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E8CFC922-39F8-466A-84E8-28DA5FC29D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A851E1D7-8ED5-48A7-87CE-70C0CAEA5F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B244BD69-8D8D-45E7-821B-759B8F2F8D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D826A368-186F-4714-89F7-18E3AE0E9A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B30A6418-A59D-451F-B9D9-6B45136DE3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D71DACF9-0E6E-4C7C-83A0-51419B89EE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D01E0A19-5211-4361-A68F-491E6C4C9B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434DB907-6609-496E-9F5C-01EE9B20D4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6DB4FB66-E0DE-47A9-8562-8E6E89F67F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F3B88EA2-485E-42D7-B40B-1F5E6A6637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1966F39B-A79E-4192-B378-ADE686FD82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BBEB3066-2E2C-429F-AE92-BE8604BA82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39A621F3-FEE2-4832-8D37-6588EB9794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1590B9E4-A8F8-47B8-87FF-E8169F595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5C274A19-8F6B-4F2E-9052-BBFEC3730E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B39A894A-EB49-4440-B6F7-89272DC4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D966089B-32A6-4366-A3AA-8B3C6315BB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949097C0-ADBB-47E8-B371-CF2B588D51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FBB4B117-0614-4AF8-B100-61C5F69141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ECD9ACD4-B5FF-48CF-9C54-74B694C08E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6DD871BA-7677-4956-A907-E36C9C557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95A5AA2-2E78-42D0-89DA-CCC43A668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09AA567-4890-4022-A9C9-CF711B66233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E35BBC99-337A-4EB3-8A4D-176A7C3113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72A99725-C3C4-4C78-AD9F-5FDACBB533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4DA37D5F-589C-49AD-A1F0-CE2FAB8E5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ef2dda1717b461b" Type="http://schemas.openxmlformats.org/officeDocument/2006/relationships/slideLayout" Target="../slideLayouts/slideLayout8.xml"/><Relationship Id="R111b0cccc8b6499c" Type="http://schemas.openxmlformats.org/officeDocument/2006/relationships/slideLayout" Target="../slideLayouts/slideLayout9.xml"/><Relationship Id="R3633169da1dc41e6" Type="http://schemas.openxmlformats.org/officeDocument/2006/relationships/slideLayout" Target="../slideLayouts/slideLayout11.xml"/><Relationship Id="R3997af60d02c4d09" Type="http://schemas.openxmlformats.org/officeDocument/2006/relationships/slideLayout" Target="../slideLayouts/slideLayout10.xml"/><Relationship Id="R4993a5208ac34eb3" Type="http://schemas.openxmlformats.org/officeDocument/2006/relationships/theme" Target="theme/theme2.xml"/><Relationship Id="R73eccbf2b9e14f2e" Type="http://schemas.openxmlformats.org/officeDocument/2006/relationships/slideLayout" Target="../slideLayouts/slideLayout3.xml"/><Relationship Id="Ra393822925144790" Type="http://schemas.openxmlformats.org/officeDocument/2006/relationships/slideLayout" Target="../slideLayouts/slideLayout7.xml"/><Relationship Id="Ra9c8e0a109004696" Type="http://schemas.openxmlformats.org/officeDocument/2006/relationships/slideLayout" Target="../slideLayouts/slideLayout4.xml"/><Relationship Id="Rc45486c4ae414256" Type="http://schemas.openxmlformats.org/officeDocument/2006/relationships/slideLayout" Target="../slideLayouts/slideLayout6.xml"/><Relationship Id="Rca6e896cd806458d" Type="http://schemas.openxmlformats.org/officeDocument/2006/relationships/slideLayout" Target="../slideLayouts/slideLayout2.xml"/><Relationship Id="Re59cb210fb07490a" Type="http://schemas.openxmlformats.org/officeDocument/2006/relationships/slideLayout" Target="../slideLayouts/slideLayout1.xml"/><Relationship Id="Rf6c9cebd974a4b3a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5C37F872-7D28-4D22-9903-4844A2256B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112F4832-0157-48C8-BA18-023F30EBCA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EAE07C02-D12D-42A3-97E5-EE3F654F5E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9cb210fb07490a"/>
    <p:sldLayoutId xmlns:r="http://schemas.openxmlformats.org/officeDocument/2006/relationships" id="2147483650" r:id="Rca6e896cd806458d"/>
    <p:sldLayoutId xmlns:r="http://schemas.openxmlformats.org/officeDocument/2006/relationships" id="2147483651" r:id="R73eccbf2b9e14f2e"/>
    <p:sldLayoutId xmlns:r="http://schemas.openxmlformats.org/officeDocument/2006/relationships" id="2147483652" r:id="Ra9c8e0a109004696"/>
    <p:sldLayoutId xmlns:r="http://schemas.openxmlformats.org/officeDocument/2006/relationships" id="2147483653" r:id="Rf6c9cebd974a4b3a"/>
    <p:sldLayoutId xmlns:r="http://schemas.openxmlformats.org/officeDocument/2006/relationships" id="2147483654" r:id="Rc45486c4ae414256"/>
    <p:sldLayoutId xmlns:r="http://schemas.openxmlformats.org/officeDocument/2006/relationships" id="2147483655" r:id="Ra393822925144790"/>
    <p:sldLayoutId xmlns:r="http://schemas.openxmlformats.org/officeDocument/2006/relationships" id="2147483656" r:id="R0ef2dda1717b461b"/>
    <p:sldLayoutId xmlns:r="http://schemas.openxmlformats.org/officeDocument/2006/relationships" id="2147483657" r:id="R111b0cccc8b6499c"/>
    <p:sldLayoutId xmlns:r="http://schemas.openxmlformats.org/officeDocument/2006/relationships" id="2147483658" r:id="R3997af60d02c4d09"/>
    <p:sldLayoutId xmlns:r="http://schemas.openxmlformats.org/officeDocument/2006/relationships" id="2147483659" r:id="R3633169da1dc41e6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fd0510f49e34109" Type="http://schemas.openxmlformats.org/officeDocument/2006/relationships/notesSlide" Target="../notesSlides/notesSlide1.xml"/><Relationship Id="Rc42030595a9b4ca9" Type="http://schemas.openxmlformats.org/officeDocument/2006/relationships/image" Target="../media/image.png"/><Relationship Id="Rda94e8932c95436a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46a8a801e88b43c6" Type="http://schemas.openxmlformats.org/officeDocument/2006/relationships/slideLayout" Target="../slideLayouts/slideLayout11.xml"/><Relationship Id="R7664c66a2e6f4298" Type="http://schemas.openxmlformats.org/officeDocument/2006/relationships/notesSlide" Target="../notesSlides/notesSlide2.xml"/><Relationship Id="Rf213035adb264eb0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376bf91c2b664e32" Type="http://schemas.openxmlformats.org/officeDocument/2006/relationships/slideLayout" Target="../slideLayouts/slideLayout11.xml"/><Relationship Id="R63520391c012472c" Type="http://schemas.openxmlformats.org/officeDocument/2006/relationships/image" Target="../media/image2.png"/><Relationship Id="Rf986385d782b4f2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0db3c1f6b0f54f9b" Type="http://schemas.openxmlformats.org/officeDocument/2006/relationships/slideLayout" Target="../slideLayouts/slideLayout11.xml"/><Relationship Id="R8f45bfc90d8546fb" Type="http://schemas.openxmlformats.org/officeDocument/2006/relationships/image" Target="../media/image2.png"/><Relationship Id="R95a5082914c148fd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0d4fd2ecb02448c" Type="http://schemas.openxmlformats.org/officeDocument/2006/relationships/image" Target="../media/image2.png"/><Relationship Id="R8d31a8aa69c4488e" Type="http://schemas.openxmlformats.org/officeDocument/2006/relationships/slideLayout" Target="../slideLayouts/slideLayout11.xml"/><Relationship Id="Rc0b281adb7624c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9f5652c276540f9" Type="http://schemas.openxmlformats.org/officeDocument/2006/relationships/slideLayout" Target="../slideLayouts/slideLayout11.xml"/><Relationship Id="R9cd0ef990cc04dec" Type="http://schemas.openxmlformats.org/officeDocument/2006/relationships/image" Target="../media/image2.png"/><Relationship Id="Rd6b72e6b205147a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68091623c83f4cd0" Type="http://schemas.openxmlformats.org/officeDocument/2006/relationships/image" Target="../media/image2.png"/><Relationship Id="R9c3bb963c4a842b7" Type="http://schemas.openxmlformats.org/officeDocument/2006/relationships/notesSlide" Target="../notesSlides/notesSlide7.xml"/><Relationship Id="Rb9bc710f272641d7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77503806892f4f6a" Type="http://schemas.openxmlformats.org/officeDocument/2006/relationships/slideLayout" Target="../slideLayouts/slideLayout11.xml"/><Relationship Id="R8a5d3931e4f346d4" Type="http://schemas.openxmlformats.org/officeDocument/2006/relationships/notesSlide" Target="../notesSlides/notesSlide8.xml"/><Relationship Id="Ra90ae1f8225747f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614cede6f01e4589" Type="http://schemas.openxmlformats.org/officeDocument/2006/relationships/notesSlide" Target="../notesSlides/notesSlide9.xml"/><Relationship Id="Rad6226bebc704a4b" Type="http://schemas.openxmlformats.org/officeDocument/2006/relationships/slideLayout" Target="../slideLayouts/slideLayout11.xml"/><Relationship Id="Rf20ba360a16a456c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08f8d86d43414e3d" Type="http://schemas.openxmlformats.org/officeDocument/2006/relationships/hyperlink" Target="https://huggingface.co/spaces/bansal1234/Hirefit" TargetMode="External"/><Relationship Id="R683c82b4e3b14071" Type="http://schemas.openxmlformats.org/officeDocument/2006/relationships/hyperlink" Target="https://redrob-hirefit-ranker.onrender.com" TargetMode="External"/><Relationship Id="R76f3723303cf465b" Type="http://schemas.openxmlformats.org/officeDocument/2006/relationships/slideLayout" Target="../slideLayouts/slideLayout11.xml"/><Relationship Id="Ra93da93d1029498f" Type="http://schemas.openxmlformats.org/officeDocument/2006/relationships/image" Target="../media/image2.png"/><Relationship Id="Rf0d3f1fb05d046e1" Type="http://schemas.openxmlformats.org/officeDocument/2006/relationships/hyperlink" Target="https://github.com/bansalbhunesh/redrob-hirefit-ranker" TargetMode="External"/><Relationship Id="Rfc973b2fbe4a4b1b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8a0c642ff74748c6" Type="http://schemas.openxmlformats.org/officeDocument/2006/relationships/hyperlink" Target="https://github.com/bansalbhunesh/redrob-hirefit-ranker" TargetMode="External"/><Relationship Id="Rc97c91079b94410f" Type="http://schemas.openxmlformats.org/officeDocument/2006/relationships/slideLayout" Target="../slideLayouts/slideLayout11.xml"/><Relationship Id="Rf04c21f6f9b743bf" Type="http://schemas.openxmlformats.org/officeDocument/2006/relationships/hyperlink" Target="https://huggingface.co/spaces/bansal1234/Hirefit" TargetMode="External"/><Relationship Id="Rf1d513c90fce42b3" Type="http://schemas.openxmlformats.org/officeDocument/2006/relationships/image" Target="../media/image3.png"/><Relationship Id="Rf4f5454e4cb04f18" Type="http://schemas.openxmlformats.org/officeDocument/2006/relationships/hyperlink" Target="https://redrob-hirefit-ranker.onrender.com" TargetMode="External"/><Relationship Id="Rfce78cbf2e8c4f47" Type="http://schemas.openxmlformats.org/officeDocument/2006/relationships/notesSlide" Target="../notesSlides/notesSlide1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Google Shape;54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030595a9b4ca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7507EF7D-F249-4B27-8CBE-190327A7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0" y="306502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Project  ·  HireFit    |    Team  ·  Pakka</a:t>
            </a:r>
          </a:p>
        </p:txBody>
      </p:sp>
      <p:sp>
        <p:nvSp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04BF45C7-2C67-483B-91B9-F87E3349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8" y="3829050"/>
            <a:ext cx="852058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5250" tIns="66675" rIns="952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Problem Statement  ·  Rank the best 100 candidates from 100,000 profiles for a Senior AI Engineer role.</a:t>
            </a:r>
          </a:p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The system must remain offline, CPU-only, deterministic, and explainable.</a:t>
            </a:r>
          </a:p>
        </p:txBody>
      </p:sp>
      <p:sp>
        <p:nvSpPr>
          <p:cNvPr id="57" name="Google Shape;57;p13">
            <a:extLst xmlns:a="http://schemas.openxmlformats.org/drawingml/2006/main">
              <a:ext uri="{FF2B5EF4-FFF2-40B4-BE49-F238E27FC236}">
                <a16:creationId xmlns:a16="http://schemas.microsoft.com/office/drawing/2014/main" id="{86603FAC-6854-4BB0-B20F-C2D1C280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88" y="347248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Team Leader  ·  Bhunesh Bansal</a:t>
            </a:r>
          </a:p>
        </p:txBody>
      </p:sp>
    </p:spTree>
    <p:extLst>
      <p:ext uri="{BB962C8B-B14F-4D97-AF65-F5344CB8AC3E}">
        <p14:creationId xmlns:p14="http://schemas.microsoft.com/office/powerpoint/2010/main" val="3137859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1" name="Google Shape;62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13035adb264eb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25318EBB-9255-47B1-A6E3-CA0F725E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24030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Solution Overview</a:t>
            </a:r>
          </a:p>
        </p:txBody>
      </p:sp>
      <p:sp>
        <p:nvSp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7E2B30FC-02DD-4390-AA4A-B05CAB4F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An evidence-first recruiter that reads careers and behaviour, ranks on proof, and explains every decision.</a:t>
            </a: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E626F67C-06CC-4E09-B22F-FEEF7A7C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100K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 pool</a:t>
            </a:r>
          </a:p>
        </p:txBody>
      </p:sp>
      <p:sp>
        <p:nvSpPr>
          <p:cNvPr id="66" name="Rounded Rectangle 65">
            <a:extLst xmlns:a="http://schemas.openxmlformats.org/drawingml/2006/main">
              <a:ext uri="{FF2B5EF4-FFF2-40B4-BE49-F238E27FC236}">
                <a16:creationId xmlns:a16="http://schemas.microsoft.com/office/drawing/2014/main" id="{8681B314-A422-4A55-9222-F9C56233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Top-100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67" name="Rounded Rectangle 66">
            <a:extLst xmlns:a="http://schemas.openxmlformats.org/drawingml/2006/main">
              <a:ext uri="{FF2B5EF4-FFF2-40B4-BE49-F238E27FC236}">
                <a16:creationId xmlns:a16="http://schemas.microsoft.com/office/drawing/2014/main" id="{03FA1D8A-757A-4C9F-904F-6D7C235D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105.3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100K on 2 CPU</a:t>
            </a:r>
          </a:p>
        </p:txBody>
      </p:sp>
      <p:sp>
        <p:nvSpPr>
          <p:cNvPr id="68" name="Rounded Rectangle 67">
            <a:extLst xmlns:a="http://schemas.openxmlformats.org/drawingml/2006/main">
              <a:ext uri="{FF2B5EF4-FFF2-40B4-BE49-F238E27FC236}">
                <a16:creationId xmlns:a16="http://schemas.microsoft.com/office/drawing/2014/main" id="{9F2C9519-CC4E-42F0-B764-DB38019F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Traceable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base + rank steps</a:t>
            </a:r>
          </a:p>
        </p:txBody>
      </p:sp>
      <p:graphicFrame>
        <p:nvGraphicFramePr>
          <p:cNvPr id="78" name="Table 68"/>
          <p:cNvGraphicFramePr/>
          <p:nvPr/>
        </p:nvGraphicFramePr>
        <p:xfrm>
          <a:off xmlns:a="http://schemas.openxmlformats.org/drawingml/2006/main" x="457200" y="2880360"/>
          <a:ext xmlns:a="http://schemas.openxmlformats.org/drawingml/2006/main" cx="8229599" cy="192024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11965"/>
                <a:gridCol w="2862469"/>
                <a:gridCol w="4055165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Common public demos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HireFit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Matching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keywords or semantic similarity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evidence of shipped work (33 features)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Evaluation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often one score or a sample demo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career + skill + behaviour + logistics + integrity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varies; frequently undocumented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review flags + hard gates; 0 detector flags in top-100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Explainability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similarity score or generated rationale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exact evidence-base contributions + documented rank steps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Reproducibility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full-pool artifact often absent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byte-identical full-pool output; frozen SHA-256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54642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4" name="Google Shape;69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520391c012472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2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DFF39775-8AE9-47BE-98E3-3C0EC3B6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JD Understanding &amp; Candidate Evaluation</a:t>
            </a:r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E141E0C4-44BC-450A-8AD8-E49B10FC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JD lists keywords; the role hires for evidence. We translate requirements into signals that survive scrutiny.</a:t>
            </a:r>
          </a:p>
        </p:txBody>
      </p:sp>
      <p:graphicFrame>
        <p:nvGraphicFramePr>
          <p:cNvPr id="77" name="Table 71"/>
          <p:cNvGraphicFramePr/>
          <p:nvPr/>
        </p:nvGraphicFramePr>
        <p:xfrm>
          <a:off xmlns:a="http://schemas.openxmlformats.org/drawingml/2006/main" x="457200" y="1965960"/>
          <a:ext xmlns:a="http://schemas.openxmlformats.org/drawingml/2006/main" cx="8229599" cy="219456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05083"/>
                <a:gridCol w="4424516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JD says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role actually hires for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5-9 yrs; embeddings, retrieval, ranking, NLP, PyTorch/TensorFlow; India locations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demonstrated evidence of shipping production retrieval/ranking systems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list of AI skill keywords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production depth and verified application—not keyword count alone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candidate profile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role &amp; seniority alignment, availability &amp; recruiter-responsiveness, and profile 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179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6" name="Google Shape;7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45bfc90d8546f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35F62A47-20AA-4F66-92A9-562DC029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Ranking Methodology</a:t>
            </a:r>
          </a:p>
        </p:txBody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CF17B53C-F7CD-47C4-A3D1-ACE9F4A5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Retrieve the credible field, score the evidence, then rank with a stable, inspectable sort.</a:t>
            </a: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CC3F49DF-C937-4EE2-BEED-108F2F96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1  RETRIEVE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 narrows 100K profiles to a credible field—fast, local, and CPU-only.</a:t>
            </a:r>
          </a:p>
        </p:txBody>
      </p:sp>
      <p:sp>
        <p:nvSpPr>
          <p:cNvPr id="80" name="Rounded Rectangle 79">
            <a:extLst xmlns:a="http://schemas.openxmlformats.org/drawingml/2006/main">
              <a:ext uri="{FF2B5EF4-FFF2-40B4-BE49-F238E27FC236}">
                <a16:creationId xmlns:a16="http://schemas.microsoft.com/office/drawing/2014/main" id="{E6B45E45-3551-42AA-98DE-5C548096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2  VERIFY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33 named features measure career evidence, skill depth, behaviour, availability, and integrity.</a:t>
            </a:r>
          </a:p>
        </p:txBody>
      </p:sp>
      <p:sp>
        <p:nvSpPr>
          <p:cNvPr id="81" name="Rounded Rectangle 80">
            <a:extLst xmlns:a="http://schemas.openxmlformats.org/drawingml/2006/main">
              <a:ext uri="{FF2B5EF4-FFF2-40B4-BE49-F238E27FC236}">
                <a16:creationId xmlns:a16="http://schemas.microsoft.com/office/drawing/2014/main" id="{6835A684-F4E6-4BBE-B9B9-5F9D35D0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3  RANK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A conservative RRF hedge and narrow, feature-only corrections produce a stable final order.</a:t>
            </a: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B29F01CC-3288-4B58-9084-C33D86B1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114300" bIns="57150" anchor="ctr">
            <a:spAutoFit/>
          </a:bodyPr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base: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33 deterministic features computed from profile facts—not generated text.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Hard guardrails: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integrity-anomaly and JD-disqualifier multipliers act before the final sort.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Stable release: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clean integrity backfills and two narrow tie-breaks survived holdout testing.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output: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no hosted LLM or API at rank time; reasons use observed candidate facts only.</a:t>
            </a:r>
          </a:p>
        </p:txBody>
      </p:sp>
      <p:cxnSp>
        <p:nvCxnSpPr>
          <p:cNvPr id="93" name=""/>
          <p:cNvCxnSpPr>
            <a:stCxn xmlns:a="http://schemas.openxmlformats.org/drawingml/2006/main" id="79" idx="3"/>
            <a:endCxn xmlns:a="http://schemas.openxmlformats.org/drawingml/2006/main" id="80" idx="1"/>
          </p:cNvCxnSpPr>
          <p:nvPr/>
        </p:nvCxnSpPr>
        <p:spPr>
          <a:xfrm xmlns:a="http://schemas.openxmlformats.org/drawingml/2006/main">
            <a:off x="3028950" y="2491740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80" idx="3"/>
            <a:endCxn xmlns:a="http://schemas.openxmlformats.org/drawingml/2006/main" id="81" idx="1"/>
          </p:cNvCxnSpPr>
          <p:nvPr/>
        </p:nvCxnSpPr>
        <p:spPr>
          <a:xfrm xmlns:a="http://schemas.openxmlformats.org/drawingml/2006/main">
            <a:off x="5857875" y="2491740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7478329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83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d4fd2ecb02448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F368DA71-5297-446B-981C-1EAC85D3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Explainability &amp; Data Validation</a:t>
            </a:r>
          </a:p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AB34922-6F4F-43AF-89BB-C8B0DA4D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judge can trace the evidence score, the grounded reason, and every integrity decision.</a:t>
            </a:r>
          </a:p>
        </p:txBody>
      </p:sp>
      <p:sp>
        <p:nvSpPr>
          <p:cNvPr id="86" name="TextBox 85">
            <a:extLst xmlns:a="http://schemas.openxmlformats.org/drawingml/2006/main">
              <a:ext uri="{FF2B5EF4-FFF2-40B4-BE49-F238E27FC236}">
                <a16:creationId xmlns:a16="http://schemas.microsoft.com/office/drawing/2014/main" id="{E962992F-E551-4F77-B2FB-40620EF3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t">
            <a:normAutofit fontScale="78721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8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08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Verified explanation &amp; release checks</a:t>
            </a:r>
          </a:p>
        </p:txBody>
      </p:sp>
      <p:sp>
        <p:nvSpPr>
          <p:cNvPr id="87" name="TextBox 86">
            <a:extLst xmlns:a="http://schemas.openxmlformats.org/drawingml/2006/main">
              <a:ext uri="{FF2B5EF4-FFF2-40B4-BE49-F238E27FC236}">
                <a16:creationId xmlns:a16="http://schemas.microsoft.com/office/drawing/2014/main" id="{3F81BEFB-A880-4D90-8678-9657E46E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features</a:t>
            </a:r>
          </a:p>
        </p:txBody>
      </p:sp>
      <p:sp>
        <p:nvSpPr>
          <p:cNvPr id="88" name="Rounded Rectangle 87">
            <a:extLst xmlns:a="http://schemas.openxmlformats.org/drawingml/2006/main">
              <a:ext uri="{FF2B5EF4-FFF2-40B4-BE49-F238E27FC236}">
                <a16:creationId xmlns:a16="http://schemas.microsoft.com/office/drawing/2014/main" id="{7340F384-8BA1-42C4-897D-5F223736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9" name="Rounded Rectangle 88">
            <a:extLst xmlns:a="http://schemas.openxmlformats.org/drawingml/2006/main">
              <a:ext uri="{FF2B5EF4-FFF2-40B4-BE49-F238E27FC236}">
                <a16:creationId xmlns:a16="http://schemas.microsoft.com/office/drawing/2014/main" id="{4A8BD7E1-EA20-48CA-841B-FFEAD57C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0" name="TextBox 89">
            <a:extLst xmlns:a="http://schemas.openxmlformats.org/drawingml/2006/main">
              <a:ext uri="{FF2B5EF4-FFF2-40B4-BE49-F238E27FC236}">
                <a16:creationId xmlns:a16="http://schemas.microsoft.com/office/drawing/2014/main" id="{FCF6DC62-1352-434F-BA10-FCDB54F3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42316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33</a:t>
            </a:r>
          </a:p>
        </p:txBody>
      </p:sp>
      <p:sp>
        <p:nvSpPr>
          <p:cNvPr id="91" name="TextBox 90">
            <a:extLst xmlns:a="http://schemas.openxmlformats.org/drawingml/2006/main">
              <a:ext uri="{FF2B5EF4-FFF2-40B4-BE49-F238E27FC236}">
                <a16:creationId xmlns:a16="http://schemas.microsoft.com/office/drawing/2014/main" id="{2CE68905-A2E7-4C28-A073-F226DCDB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70632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Top-100 reasons</a:t>
            </a:r>
          </a:p>
        </p:txBody>
      </p:sp>
      <p:sp>
        <p:nvSpPr>
          <p:cNvPr id="92" name="Rounded Rectangle 91">
            <a:extLst xmlns:a="http://schemas.openxmlformats.org/drawingml/2006/main">
              <a:ext uri="{FF2B5EF4-FFF2-40B4-BE49-F238E27FC236}">
                <a16:creationId xmlns:a16="http://schemas.microsoft.com/office/drawing/2014/main" id="{8EFD5D9F-13AA-4C16-91E8-21411D7B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8917F142-D5B6-478F-B9E9-77FCB701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4" name="TextBox 93">
            <a:extLst xmlns:a="http://schemas.openxmlformats.org/drawingml/2006/main">
              <a:ext uri="{FF2B5EF4-FFF2-40B4-BE49-F238E27FC236}">
                <a16:creationId xmlns:a16="http://schemas.microsoft.com/office/drawing/2014/main" id="{1BF006E6-F319-4099-B5C4-5EC6A37A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770632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100</a:t>
            </a:r>
          </a:p>
        </p:txBody>
      </p:sp>
      <p:sp>
        <p:nvSpPr>
          <p:cNvPr id="95" name="TextBox 94">
            <a:extLst xmlns:a="http://schemas.openxmlformats.org/drawingml/2006/main">
              <a:ext uri="{FF2B5EF4-FFF2-40B4-BE49-F238E27FC236}">
                <a16:creationId xmlns:a16="http://schemas.microsoft.com/office/drawing/2014/main" id="{0B5CBF93-8038-41C2-B5C2-9222FA39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8104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Review signals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F9BE7332-ED9A-4C2F-B0EC-D9841359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48CB87CC-70E4-444E-939C-9E57DD63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708C8BDD-B347-4FC6-AEE7-9EC4E5F2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118104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55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DC4BB006-F85B-4B26-8DA8-327C20CE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65576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Flags shortlisted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7B14587C-26A0-4F1A-8C5F-7ADB100E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0A7FF76F-1F36-4BD0-8B09-54A0BFCB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2" name="TextBox 101">
            <a:extLst xmlns:a="http://schemas.openxmlformats.org/drawingml/2006/main">
              <a:ext uri="{FF2B5EF4-FFF2-40B4-BE49-F238E27FC236}">
                <a16:creationId xmlns:a16="http://schemas.microsoft.com/office/drawing/2014/main" id="{D6B764DC-EB60-4D26-ACE1-DE548C45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465576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0</a:t>
            </a:r>
          </a:p>
        </p:txBody>
      </p:sp>
      <p:sp>
        <p:nvSpPr>
          <p:cNvPr id="103" name="TextBox 102">
            <a:extLst xmlns:a="http://schemas.openxmlformats.org/drawingml/2006/main">
              <a:ext uri="{FF2B5EF4-FFF2-40B4-BE49-F238E27FC236}">
                <a16:creationId xmlns:a16="http://schemas.microsoft.com/office/drawing/2014/main" id="{236E8E36-E9DE-4DBF-AA35-0C5B1557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3048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output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315B9FDA-259D-40E0-AED4-55ED4433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BEA364B2-4256-4BB4-B527-4646A668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EF5D2C86-343B-441C-8611-4E97D27A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813048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3d2d…</a:t>
            </a:r>
          </a:p>
        </p:txBody>
      </p:sp>
      <p:sp>
        <p:nvSpPr>
          <p:cNvPr id="107" name="TextBox 106">
            <a:extLst xmlns:a="http://schemas.openxmlformats.org/drawingml/2006/main">
              <a:ext uri="{FF2B5EF4-FFF2-40B4-BE49-F238E27FC236}">
                <a16:creationId xmlns:a16="http://schemas.microsoft.com/office/drawing/2014/main" id="{46D0B348-CE93-4461-A13C-C2431525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Faithfulness test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1D663AFF-2A9D-4345-90B5-C96466F4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1462A00F-0E27-4460-8F51-ECD20416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0" name="TextBox 109">
            <a:extLst xmlns:a="http://schemas.openxmlformats.org/drawingml/2006/main">
              <a:ext uri="{FF2B5EF4-FFF2-40B4-BE49-F238E27FC236}">
                <a16:creationId xmlns:a16="http://schemas.microsoft.com/office/drawing/2014/main" id="{79B1D93F-B721-4630-BD1F-3AFF4750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416052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PASS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BFBE4988-8943-4741-828B-28BA17E3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114550"/>
            <a:ext cx="34747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57150" rIns="76200" bIns="381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EXACT ATTRIBUTION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Each feature’s additive term is its analytic Shapley value. The terms reconstruct the evidence score exactly.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GROUNDED REASONING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Candidate reasons use deterministic templates populated only from observed profile facts; no text generator runs at rank time.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INTEGRITY REVIEW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55 profiles were flagged for review; 0 entered the top 100. The new three-way YoE check closes two previously missed contradictions without using candidate IDs.</a:t>
            </a:r>
          </a:p>
        </p:txBody>
      </p:sp>
    </p:spTree>
    <p:extLst>
      <p:ext uri="{BB962C8B-B14F-4D97-AF65-F5344CB8AC3E}">
        <p14:creationId xmlns:p14="http://schemas.microsoft.com/office/powerpoint/2010/main" val="3455737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8" name="Google Shape;9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d0ef990cc04d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1" name="Google Shape;91;p18">
            <a:extLst xmlns:a="http://schemas.openxmlformats.org/drawingml/2006/main">
              <a:ext uri="{FF2B5EF4-FFF2-40B4-BE49-F238E27FC236}">
                <a16:creationId xmlns:a16="http://schemas.microsoft.com/office/drawing/2014/main" id="{2DF3653C-13E9-4F1C-911D-B39388F1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End-to-End Workflow</a:t>
            </a:r>
          </a:p>
        </p:txBody>
      </p:sp>
      <p:sp>
        <p:nvSp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FD49AA22-5C12-4BB7-931D-E9034DD9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One offline command turns 100,000 profiles into a validated, explained top-100.</a:t>
            </a: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3BFB7660-5E3A-4BEE-9145-05B67021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100K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profiles</a:t>
            </a:r>
          </a:p>
        </p:txBody>
      </p:sp>
      <p:sp>
        <p:nvSpPr>
          <p:cNvPr id="94" name="Rounded Rectangle 93">
            <a:extLst xmlns:a="http://schemas.openxmlformats.org/drawingml/2006/main">
              <a:ext uri="{FF2B5EF4-FFF2-40B4-BE49-F238E27FC236}">
                <a16:creationId xmlns:a16="http://schemas.microsoft.com/office/drawing/2014/main" id="{1AA6018D-F4A5-4994-AF8C-B5833813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credible field</a:t>
            </a:r>
          </a:p>
        </p:txBody>
      </p:sp>
      <p:sp>
        <p:nvSpPr>
          <p:cNvPr id="95" name="Rounded Rectangle 94">
            <a:extLst xmlns:a="http://schemas.openxmlformats.org/drawingml/2006/main">
              <a:ext uri="{FF2B5EF4-FFF2-40B4-BE49-F238E27FC236}">
                <a16:creationId xmlns:a16="http://schemas.microsoft.com/office/drawing/2014/main" id="{0432A6AF-7DAB-48D3-A0C9-DC4398AE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features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evidence score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5FFF5B25-6690-406B-8582-460BD475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Integrity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hard gates</a:t>
            </a: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583C6ADC-3C15-4FF2-91D9-48AF6A85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RRF + evidence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rerank</a:t>
            </a:r>
          </a:p>
        </p:txBody>
      </p:sp>
      <p:sp>
        <p:nvSpPr>
          <p:cNvPr id="98" name="Rounded Rectangle 97">
            <a:extLst xmlns:a="http://schemas.openxmlformats.org/drawingml/2006/main">
              <a:ext uri="{FF2B5EF4-FFF2-40B4-BE49-F238E27FC236}">
                <a16:creationId xmlns:a16="http://schemas.microsoft.com/office/drawing/2014/main" id="{4D2967AF-6FC2-4509-800D-34106F81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Top 100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+ reasons</a:t>
            </a:r>
          </a:p>
        </p:txBody>
      </p:sp>
      <p:sp>
        <p:nvSpPr>
          <p:cNvPr id="99" name="Rounded Rectangle 98">
            <a:extLst xmlns:a="http://schemas.openxmlformats.org/drawingml/2006/main">
              <a:ext uri="{FF2B5EF4-FFF2-40B4-BE49-F238E27FC236}">
                <a16:creationId xmlns:a16="http://schemas.microsoft.com/office/drawing/2014/main" id="{08C60551-6907-499D-A789-ACE81E03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CSV + XLSX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validated output</a:t>
            </a:r>
          </a:p>
        </p:txBody>
      </p:sp>
      <p:sp>
        <p:nvSpPr>
          <p:cNvPr id="100" name="TextBox 99">
            <a:extLst xmlns:a="http://schemas.openxmlformats.org/drawingml/2006/main">
              <a:ext uri="{FF2B5EF4-FFF2-40B4-BE49-F238E27FC236}">
                <a16:creationId xmlns:a16="http://schemas.microsoft.com/office/drawing/2014/main" id="{7DDF8CEC-8BCD-416E-B47A-E68330FA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82296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95250" bIns="5715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COMMAND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PYTHONHASHSEED=0 python rank.py --release --candidates candidates.jsonl --out submission.csv --workers 2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PUBLISH GATE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105.3 s pipeline / 117.2 s wall • byte-identical SHA-256 3d2dbd8a… • membership, count, integrity, and hash checks before atomic publish.</a:t>
            </a:r>
          </a:p>
        </p:txBody>
      </p:sp>
      <p:cxnSp>
        <p:nvCxnSpPr>
          <p:cNvPr id="119" name=""/>
          <p:cNvCxnSpPr>
            <a:stCxn xmlns:a="http://schemas.openxmlformats.org/drawingml/2006/main" id="93" idx="3"/>
            <a:endCxn xmlns:a="http://schemas.openxmlformats.org/drawingml/2006/main" id="94" idx="1"/>
          </p:cNvCxnSpPr>
          <p:nvPr/>
        </p:nvCxnSpPr>
        <p:spPr>
          <a:xfrm xmlns:a="http://schemas.openxmlformats.org/drawingml/2006/main">
            <a:off x="14859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0" name=""/>
          <p:cNvCxnSpPr>
            <a:stCxn xmlns:a="http://schemas.openxmlformats.org/drawingml/2006/main" id="94" idx="3"/>
            <a:endCxn xmlns:a="http://schemas.openxmlformats.org/drawingml/2006/main" id="95" idx="1"/>
          </p:cNvCxnSpPr>
          <p:nvPr/>
        </p:nvCxnSpPr>
        <p:spPr>
          <a:xfrm xmlns:a="http://schemas.openxmlformats.org/drawingml/2006/main">
            <a:off x="26860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1" name=""/>
          <p:cNvCxnSpPr>
            <a:stCxn xmlns:a="http://schemas.openxmlformats.org/drawingml/2006/main" id="95" idx="3"/>
            <a:endCxn xmlns:a="http://schemas.openxmlformats.org/drawingml/2006/main" id="96" idx="1"/>
          </p:cNvCxnSpPr>
          <p:nvPr/>
        </p:nvCxnSpPr>
        <p:spPr>
          <a:xfrm xmlns:a="http://schemas.openxmlformats.org/drawingml/2006/main">
            <a:off x="38862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2" name=""/>
          <p:cNvCxnSpPr>
            <a:stCxn xmlns:a="http://schemas.openxmlformats.org/drawingml/2006/main" id="96" idx="3"/>
            <a:endCxn xmlns:a="http://schemas.openxmlformats.org/drawingml/2006/main" id="97" idx="1"/>
          </p:cNvCxnSpPr>
          <p:nvPr/>
        </p:nvCxnSpPr>
        <p:spPr>
          <a:xfrm xmlns:a="http://schemas.openxmlformats.org/drawingml/2006/main">
            <a:off x="50863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3" name=""/>
          <p:cNvCxnSpPr>
            <a:stCxn xmlns:a="http://schemas.openxmlformats.org/drawingml/2006/main" id="97" idx="3"/>
            <a:endCxn xmlns:a="http://schemas.openxmlformats.org/drawingml/2006/main" id="98" idx="1"/>
          </p:cNvCxnSpPr>
          <p:nvPr/>
        </p:nvCxnSpPr>
        <p:spPr>
          <a:xfrm xmlns:a="http://schemas.openxmlformats.org/drawingml/2006/main">
            <a:off x="62865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98" idx="3"/>
            <a:endCxn xmlns:a="http://schemas.openxmlformats.org/drawingml/2006/main" id="99" idx="1"/>
          </p:cNvCxnSpPr>
          <p:nvPr/>
        </p:nvCxnSpPr>
        <p:spPr>
          <a:xfrm xmlns:a="http://schemas.openxmlformats.org/drawingml/2006/main">
            <a:off x="74866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96135885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97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091623c83f4cd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8" name="Google Shape;98;p19">
            <a:extLst xmlns:a="http://schemas.openxmlformats.org/drawingml/2006/main">
              <a:ext uri="{FF2B5EF4-FFF2-40B4-BE49-F238E27FC236}">
                <a16:creationId xmlns:a16="http://schemas.microsoft.com/office/drawing/2014/main" id="{ED9F8F45-7B6F-440E-92A5-7CB39346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System Architecture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FF2DD385-742E-4838-84B0-5ECC684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4440"/>
            <a:ext cx="8229600" cy="563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Six CPU-only stages sit inside a fail-closed release envelope; optional ideas ship only when measurement supports them.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CC35721C-E216-4216-9C6D-25743A85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  PARSE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structured facts</a:t>
            </a: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AE9F0CF6-A31A-4301-AB31-0BDF7DB8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28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2  RETRIEVE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</p:txBody>
      </p:sp>
      <p:sp>
        <p:nvSpPr>
          <p:cNvPr id="102" name="Rounded Rectangle 101">
            <a:extLst xmlns:a="http://schemas.openxmlformats.org/drawingml/2006/main">
              <a:ext uri="{FF2B5EF4-FFF2-40B4-BE49-F238E27FC236}">
                <a16:creationId xmlns:a16="http://schemas.microsoft.com/office/drawing/2014/main" id="{8FDF18F4-84D8-4DFB-877D-C9C6874F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36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  SEMANTIC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measured; opt-in</a:t>
            </a:r>
          </a:p>
        </p:txBody>
      </p:sp>
      <p:sp>
        <p:nvSpPr>
          <p:cNvPr id="103" name="Rounded Rectangle 102">
            <a:extLst xmlns:a="http://schemas.openxmlformats.org/drawingml/2006/main">
              <a:ext uri="{FF2B5EF4-FFF2-40B4-BE49-F238E27FC236}">
                <a16:creationId xmlns:a16="http://schemas.microsoft.com/office/drawing/2014/main" id="{3A58DE9B-390E-4A91-BA88-1DBDD7C8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4  FEATURES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signals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DE91398C-1864-44C4-8945-ECE0E982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52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5  SCORE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130 KB model</a:t>
            </a: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A9550497-8141-4152-A3B8-3CB1024E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6  GUARD + RANK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output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2C724DAB-C87D-4D96-9C58-FE4C9A2D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66675" rIns="95250" bIns="47625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FAIL-CLOSED RELEASE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Verifies input, model, backend, full-pool counts, integrity counts, and final output hash before atomic publish.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LIMITS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Quality figures are development proxies for one role, not official hidden labels. Human review remains required.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FAILURE SAFETY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A forced container OOM exits 137, preserves the prior output, and leaves no temporary publication file.</a:t>
            </a:r>
          </a:p>
        </p:txBody>
      </p:sp>
      <p:cxnSp>
        <p:nvCxnSpPr>
          <p:cNvPr id="123" name=""/>
          <p:cNvCxnSpPr>
            <a:stCxn xmlns:a="http://schemas.openxmlformats.org/drawingml/2006/main" id="100" idx="3"/>
            <a:endCxn xmlns:a="http://schemas.openxmlformats.org/drawingml/2006/main" id="101" idx="1"/>
          </p:cNvCxnSpPr>
          <p:nvPr/>
        </p:nvCxnSpPr>
        <p:spPr>
          <a:xfrm xmlns:a="http://schemas.openxmlformats.org/drawingml/2006/main">
            <a:off x="167640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101" idx="3"/>
            <a:endCxn xmlns:a="http://schemas.openxmlformats.org/drawingml/2006/main" id="102" idx="1"/>
          </p:cNvCxnSpPr>
          <p:nvPr/>
        </p:nvCxnSpPr>
        <p:spPr>
          <a:xfrm xmlns:a="http://schemas.openxmlformats.org/drawingml/2006/main">
            <a:off x="307848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5" name=""/>
          <p:cNvCxnSpPr>
            <a:stCxn xmlns:a="http://schemas.openxmlformats.org/drawingml/2006/main" id="102" idx="3"/>
            <a:endCxn xmlns:a="http://schemas.openxmlformats.org/drawingml/2006/main" id="103" idx="1"/>
          </p:cNvCxnSpPr>
          <p:nvPr/>
        </p:nvCxnSpPr>
        <p:spPr>
          <a:xfrm xmlns:a="http://schemas.openxmlformats.org/drawingml/2006/main">
            <a:off x="448056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6" name=""/>
          <p:cNvCxnSpPr>
            <a:stCxn xmlns:a="http://schemas.openxmlformats.org/drawingml/2006/main" id="103" idx="3"/>
            <a:endCxn xmlns:a="http://schemas.openxmlformats.org/drawingml/2006/main" id="104" idx="1"/>
          </p:cNvCxnSpPr>
          <p:nvPr/>
        </p:nvCxnSpPr>
        <p:spPr>
          <a:xfrm xmlns:a="http://schemas.openxmlformats.org/drawingml/2006/main">
            <a:off x="588264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7" name=""/>
          <p:cNvCxnSpPr>
            <a:stCxn xmlns:a="http://schemas.openxmlformats.org/drawingml/2006/main" id="104" idx="3"/>
            <a:endCxn xmlns:a="http://schemas.openxmlformats.org/drawingml/2006/main" id="105" idx="1"/>
          </p:cNvCxnSpPr>
          <p:nvPr/>
        </p:nvCxnSpPr>
        <p:spPr>
          <a:xfrm xmlns:a="http://schemas.openxmlformats.org/drawingml/2006/main">
            <a:off x="728472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4350218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3" name="Google Shape;103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0ae1f8225747f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20">
            <a:extLst xmlns:a="http://schemas.openxmlformats.org/drawingml/2006/main">
              <a:ext uri="{FF2B5EF4-FFF2-40B4-BE49-F238E27FC236}">
                <a16:creationId xmlns:a16="http://schemas.microsoft.com/office/drawing/2014/main" id="{6D3D7E58-CABD-42A6-881B-C4369CBA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Results &amp; Performance</a:t>
            </a:r>
          </a:p>
        </p:txBody>
      </p:sp>
      <p:sp>
        <p:nvSpPr>
          <p:cNvPr id="105" name="Google Shape;105;p20">
            <a:extLst xmlns:a="http://schemas.openxmlformats.org/drawingml/2006/main">
              <a:ext uri="{FF2B5EF4-FFF2-40B4-BE49-F238E27FC236}">
                <a16:creationId xmlns:a16="http://schemas.microsoft.com/office/drawing/2014/main" id="{1EF43E54-3145-4CBD-AA0C-E7C6470A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005840"/>
            <a:ext cx="852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result is useful because quality, runtime, safety, and reproducibility can all be checked independently.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3F7BD72D-A578-485E-8840-A5CE8E6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448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RANKING QUALITY</a:t>
            </a:r>
          </a:p>
        </p:txBody>
      </p:sp>
      <p:sp>
        <p:nvSpPr>
          <p:cNvPr id="107" name="Rounded Rectangle 106">
            <a:extLst xmlns:a="http://schemas.openxmlformats.org/drawingml/2006/main">
              <a:ext uri="{FF2B5EF4-FFF2-40B4-BE49-F238E27FC236}">
                <a16:creationId xmlns:a16="http://schemas.microsoft.com/office/drawing/2014/main" id="{6600A26D-0F54-491B-A0C9-3FE2E18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100,000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candidates scored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5B358C1C-6A09-4D5F-8A63-0BFF42E0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88BB360A-EDFA-470B-BF24-DFECD3D3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2100" b="1">
                <a:solidFill>
                  <a:srgbClr val="2E39C9"/>
                </a:solidFill>
                <a:ea typeface="Manrope ExtraBold"/>
                <a:cs typeface="Manrope ExtraBold"/>
              </a:rPr>
              <a:t>0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50" b="0">
                <a:solidFill>
                  <a:srgbClr val="6B7078"/>
                </a:solidFill>
                <a:ea typeface="Manrope ExtraBold"/>
                <a:cs typeface="Manrope ExtraBold"/>
              </a:rPr>
              <a:t>detector flags in top-100</a:t>
            </a:r>
          </a:p>
        </p:txBody>
      </p:sp>
      <p:sp>
        <p:nvSpPr>
          <p:cNvPr id="110" name="Rounded Rectangle 109">
            <a:extLst xmlns:a="http://schemas.openxmlformats.org/drawingml/2006/main">
              <a:ext uri="{FF2B5EF4-FFF2-40B4-BE49-F238E27FC236}">
                <a16:creationId xmlns:a16="http://schemas.microsoft.com/office/drawing/2014/main" id="{2A657E97-4C34-4226-A0C6-C05E0D3B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114300" rIns="762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2100" b="1">
                <a:solidFill>
                  <a:srgbClr val="2E39C9"/>
                </a:solidFill>
                <a:ea typeface="Manrope ExtraBold"/>
                <a:cs typeface="Manrope ExtraBold"/>
              </a:rPr>
              <a:t>278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50" b="0">
                <a:solidFill>
                  <a:srgbClr val="6B7078"/>
                </a:solidFill>
                <a:ea typeface="Manrope ExtraBold"/>
                <a:cs typeface="Manrope ExtraBold"/>
              </a:rPr>
              <a:t>tests passed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39065B6D-52BD-4758-9B81-CBFB6A5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8036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RUNTIME &amp; COMPUTE</a:t>
            </a:r>
          </a:p>
        </p:txBody>
      </p:sp>
      <p:sp>
        <p:nvSpPr>
          <p:cNvPr id="112" name="Rounded Rectangle 111">
            <a:extLst xmlns:a="http://schemas.openxmlformats.org/drawingml/2006/main">
              <a:ext uri="{FF2B5EF4-FFF2-40B4-BE49-F238E27FC236}">
                <a16:creationId xmlns:a16="http://schemas.microsoft.com/office/drawing/2014/main" id="{27126F22-1E7F-4989-B398-F413B563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2100" b="1">
                <a:solidFill>
                  <a:srgbClr val="2E39C9"/>
                </a:solidFill>
                <a:ea typeface="Manrope ExtraBold"/>
                <a:cs typeface="Manrope ExtraBold"/>
              </a:rPr>
              <a:t>105.3 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50" b="0">
                <a:solidFill>
                  <a:srgbClr val="6B7078"/>
                </a:solidFill>
                <a:ea typeface="Manrope ExtraBold"/>
                <a:cs typeface="Manrope ExtraBold"/>
              </a:rPr>
              <a:t>100K pipeline</a:t>
            </a:r>
          </a:p>
        </p:txBody>
      </p:sp>
      <p:sp>
        <p:nvSpPr>
          <p:cNvPr id="113" name="Rounded Rectangle 112">
            <a:extLst xmlns:a="http://schemas.openxmlformats.org/drawingml/2006/main">
              <a:ext uri="{FF2B5EF4-FFF2-40B4-BE49-F238E27FC236}">
                <a16:creationId xmlns:a16="http://schemas.microsoft.com/office/drawing/2014/main" id="{42D425CB-D457-4C5D-AD82-4BA90F3B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2100" b="1">
                <a:solidFill>
                  <a:srgbClr val="2E39C9"/>
                </a:solidFill>
                <a:ea typeface="Manrope ExtraBold"/>
                <a:cs typeface="Manrope ExtraBold"/>
              </a:rPr>
              <a:t>117.2 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50" b="0">
                <a:solidFill>
                  <a:srgbClr val="6B7078"/>
                </a:solidFill>
                <a:ea typeface="Manrope ExtraBold"/>
                <a:cs typeface="Manrope ExtraBold"/>
              </a:rPr>
              <a:t>wall @ 2 CPU</a:t>
            </a:r>
          </a:p>
        </p:txBody>
      </p:sp>
      <p:sp>
        <p:nvSpPr>
          <p:cNvPr id="114" name="Rounded Rectangle 113">
            <a:extLst xmlns:a="http://schemas.openxmlformats.org/drawingml/2006/main">
              <a:ext uri="{FF2B5EF4-FFF2-40B4-BE49-F238E27FC236}">
                <a16:creationId xmlns:a16="http://schemas.microsoft.com/office/drawing/2014/main" id="{6DC8DB11-11B6-437D-A49B-C5F4D95E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~4.2 GB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peak memory</a:t>
            </a:r>
          </a:p>
        </p:txBody>
      </p:sp>
      <p:sp>
        <p:nvSpPr>
          <p:cNvPr id="115" name="Rounded Rectangle 114">
            <a:extLst xmlns:a="http://schemas.openxmlformats.org/drawingml/2006/main">
              <a:ext uri="{FF2B5EF4-FFF2-40B4-BE49-F238E27FC236}">
                <a16:creationId xmlns:a16="http://schemas.microsoft.com/office/drawing/2014/main" id="{11E4B2ED-2046-441D-B872-D84E6116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&lt; 300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budget, offline</a:t>
            </a:r>
          </a:p>
        </p:txBody>
      </p:sp>
      <p:sp>
        <p:nvSpPr>
          <p:cNvPr id="116" name="Rounded Rectangle 115">
            <a:extLst xmlns:a="http://schemas.openxmlformats.org/drawingml/2006/main">
              <a:ext uri="{FF2B5EF4-FFF2-40B4-BE49-F238E27FC236}">
                <a16:creationId xmlns:a16="http://schemas.microsoft.com/office/drawing/2014/main" id="{3A4DE8B1-3354-4147-B1A7-9E1F1418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Deterministic</a:t>
            </a:r>
          </a:p>
        </p:txBody>
      </p:sp>
      <p:sp>
        <p:nvSpPr>
          <p:cNvPr id="117" name="Rounded Rectangle 116">
            <a:extLst xmlns:a="http://schemas.openxmlformats.org/drawingml/2006/main">
              <a:ext uri="{FF2B5EF4-FFF2-40B4-BE49-F238E27FC236}">
                <a16:creationId xmlns:a16="http://schemas.microsoft.com/office/drawing/2014/main" id="{5D71E4CA-A4E4-48A2-AC52-AC4E27E1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0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✓ SHA-256 3d2dbd8a</a:t>
            </a:r>
          </a:p>
        </p:txBody>
      </p:sp>
      <p:sp>
        <p:nvSpPr>
          <p:cNvPr id="118" name="Rounded Rectangle 117">
            <a:extLst xmlns:a="http://schemas.openxmlformats.org/drawingml/2006/main">
              <a:ext uri="{FF2B5EF4-FFF2-40B4-BE49-F238E27FC236}">
                <a16:creationId xmlns:a16="http://schemas.microsoft.com/office/drawing/2014/main" id="{AC3F19BD-FDC5-499A-BC5B-A37E8CB0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CPU-only / offline</a:t>
            </a:r>
          </a:p>
        </p:txBody>
      </p:sp>
      <p:sp>
        <p:nvSpPr>
          <p:cNvPr id="119" name="Rounded Rectangle 118">
            <a:extLst xmlns:a="http://schemas.openxmlformats.org/drawingml/2006/main">
              <a:ext uri="{FF2B5EF4-FFF2-40B4-BE49-F238E27FC236}">
                <a16:creationId xmlns:a16="http://schemas.microsoft.com/office/drawing/2014/main" id="{A6463F85-885B-4A21-8A17-92CFC15C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Validator passed</a:t>
            </a:r>
          </a:p>
        </p:txBody>
      </p:sp>
      <p:sp>
        <p:nvSpPr>
          <p:cNvPr id="120" name="Rounded Rectangle 119">
            <a:extLst xmlns:a="http://schemas.openxmlformats.org/drawingml/2006/main">
              <a:ext uri="{FF2B5EF4-FFF2-40B4-BE49-F238E27FC236}">
                <a16:creationId xmlns:a16="http://schemas.microsoft.com/office/drawing/2014/main" id="{A5A19D4A-D039-4C5C-8309-E4AF9B48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✓ 0 detector flags</a:t>
            </a:r>
          </a:p>
        </p:txBody>
      </p:sp>
      <p:sp>
        <p:nvSpPr>
          <p:cNvPr id="121" name="Rounded Rectangle 120">
            <a:extLst xmlns:a="http://schemas.openxmlformats.org/drawingml/2006/main">
              <a:ext uri="{FF2B5EF4-FFF2-40B4-BE49-F238E27FC236}">
                <a16:creationId xmlns:a16="http://schemas.microsoft.com/office/drawing/2014/main" id="{BDC9FBCE-E21B-405C-A76D-AA651BCC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No hidden-score claim</a:t>
            </a:r>
          </a:p>
        </p:txBody>
      </p:sp>
    </p:spTree>
    <p:extLst>
      <p:ext uri="{BB962C8B-B14F-4D97-AF65-F5344CB8AC3E}">
        <p14:creationId xmlns:p14="http://schemas.microsoft.com/office/powerpoint/2010/main" val="121240813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0" name="Google Shape;110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0ba360a16a456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1" name="Google Shape;111;p21">
            <a:extLst xmlns:a="http://schemas.openxmlformats.org/drawingml/2006/main">
              <a:ext uri="{FF2B5EF4-FFF2-40B4-BE49-F238E27FC236}">
                <a16:creationId xmlns:a16="http://schemas.microsoft.com/office/drawing/2014/main" id="{37A64412-E57D-43C1-9FDC-DD059DCF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Technologies Used</a:t>
            </a:r>
          </a:p>
        </p:txBody>
      </p:sp>
      <p:sp>
        <p:nvSpPr>
          <p:cNvPr id="112" name="Google Shape;112;p21">
            <a:extLst xmlns:a="http://schemas.openxmlformats.org/drawingml/2006/main">
              <a:ext uri="{FF2B5EF4-FFF2-40B4-BE49-F238E27FC236}">
                <a16:creationId xmlns:a16="http://schemas.microsoft.com/office/drawing/2014/main" id="{8521B727-A2E5-426D-A3EF-2B0D532D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Every dependency earns its place: fast on CPU, offline at rank time, deterministic, and easy to reproduce.</a:t>
            </a:r>
          </a:p>
        </p:txBody>
      </p:sp>
      <p:sp>
        <p:nvSpPr>
          <p:cNvPr id="113" name="TextBox 112">
            <a:extLst xmlns:a="http://schemas.openxmlformats.org/drawingml/2006/main">
              <a:ext uri="{FF2B5EF4-FFF2-40B4-BE49-F238E27FC236}">
                <a16:creationId xmlns:a16="http://schemas.microsoft.com/office/drawing/2014/main" id="{67EB2090-3895-4102-8D0E-EB2E7C04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2524125" cy="490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76200" rIns="133350" bIns="5715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RANKING CORE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3.11 + NumPy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Deterministic CPU numerics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bm25s + fallback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 lexical retrieval over 100K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130 KB NumPy model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No GPU or PyTorch dependency</a:t>
            </a:r>
          </a:p>
        </p:txBody>
      </p:sp>
      <p:sp>
        <p:nvSpPr>
          <p:cNvPr id="115" name="technology-divider-1">
            <a:extLst xmlns:a="http://schemas.openxmlformats.org/drawingml/2006/main">
              <a:ext uri="{FF2B5EF4-FFF2-40B4-BE49-F238E27FC236}">
                <a16:creationId xmlns:a16="http://schemas.microsoft.com/office/drawing/2014/main" id="{3D00AAF3-AF39-4AE0-9DDA-DD9F9C57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809750"/>
            <a:ext cx="1143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technology-divider-2">
            <a:extLst xmlns:a="http://schemas.openxmlformats.org/drawingml/2006/main">
              <a:ext uri="{FF2B5EF4-FFF2-40B4-BE49-F238E27FC236}">
                <a16:creationId xmlns:a16="http://schemas.microsoft.com/office/drawing/2014/main" id="{ED3268DB-ECE9-4342-A6B3-42D6057D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809750"/>
            <a:ext cx="1143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technology-live-delivery">
            <a:extLst xmlns:a="http://schemas.openxmlformats.org/drawingml/2006/main">
              <a:ext uri="{FF2B5EF4-FFF2-40B4-BE49-F238E27FC236}">
                <a16:creationId xmlns:a16="http://schemas.microsoft.com/office/drawing/2014/main" id="{CDB9E4B1-7E91-4420-B096-27DB5638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809750"/>
            <a:ext cx="2524125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3335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LIVE DELIVERY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FastAPI + static UI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Recruiter decision room on Render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Gradio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Inspectable Hugging Face sandbox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live surfaces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consistent ranking story</a:t>
            </a:r>
          </a:p>
        </p:txBody>
      </p:sp>
      <p:sp>
        <p:nvSpPr>
          <p:cNvPr id="118" name="technology-release-proof">
            <a:extLst xmlns:a="http://schemas.openxmlformats.org/drawingml/2006/main">
              <a:ext uri="{FF2B5EF4-FFF2-40B4-BE49-F238E27FC236}">
                <a16:creationId xmlns:a16="http://schemas.microsoft.com/office/drawing/2014/main" id="{C8C14374-D475-4053-8346-2B8ADB6B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25717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9525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RELEASE PROOF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Pinned environment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Docker digest + dependency hashes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278 checks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All collected checks pass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release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Output hash + 2K behaviour gate</a:t>
            </a:r>
          </a:p>
        </p:txBody>
      </p:sp>
      <p:sp>
        <p:nvSpPr>
          <p:cNvPr id="119" name="technology-decision-rule">
            <a:extLst xmlns:a="http://schemas.openxmlformats.org/drawingml/2006/main">
              <a:ext uri="{FF2B5EF4-FFF2-40B4-BE49-F238E27FC236}">
                <a16:creationId xmlns:a16="http://schemas.microsoft.com/office/drawing/2014/main" id="{AAF1F390-6F45-4F8A-AE82-373661FC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0530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0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deliberately small stack keeps every run fast, reproducible, and easy for judges to inspect.</a:t>
            </a:r>
          </a:p>
        </p:txBody>
      </p:sp>
    </p:spTree>
    <p:extLst>
      <p:ext uri="{BB962C8B-B14F-4D97-AF65-F5344CB8AC3E}">
        <p14:creationId xmlns:p14="http://schemas.microsoft.com/office/powerpoint/2010/main" val="131660842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8" name="Google Shape;117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3da93d1029498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2">
            <a:extLst xmlns:a="http://schemas.openxmlformats.org/drawingml/2006/main">
              <a:ext uri="{FF2B5EF4-FFF2-40B4-BE49-F238E27FC236}">
                <a16:creationId xmlns:a16="http://schemas.microsoft.com/office/drawing/2014/main" id="{3E5EBC91-9578-4D9E-99EA-B082AF4E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Submission Assets</a:t>
            </a:r>
          </a:p>
        </p:txBody>
      </p:sp>
      <p:sp>
        <p:nvSpPr>
          <p:cNvPr id="119" name="Google Shape;119;p22">
            <a:extLst xmlns:a="http://schemas.openxmlformats.org/drawingml/2006/main">
              <a:ext uri="{FF2B5EF4-FFF2-40B4-BE49-F238E27FC236}">
                <a16:creationId xmlns:a16="http://schemas.microsoft.com/office/drawing/2014/main" id="{A1D8EB68-7B2A-49EC-A44F-518DFCA8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11430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TRY IT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683c82b4e3b14071"/>
              </a:rPr>
              <a:t>Render decision room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Review the ranked shortlist and evidence.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08f8d86d43414e3d"/>
              </a:rPr>
              <a:t>Hugging Face sandbox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Run the inspectable demo surface.</a:t>
            </a:r>
          </a:p>
        </p:txBody>
      </p:sp>
      <p:sp>
        <p:nvSpPr>
          <p:cNvPr id="121" name="assets-subtitle">
            <a:extLst xmlns:a="http://schemas.openxmlformats.org/drawingml/2006/main">
              <a:ext uri="{FF2B5EF4-FFF2-40B4-BE49-F238E27FC236}">
                <a16:creationId xmlns:a16="http://schemas.microsoft.com/office/drawing/2014/main" id="{A2CADADF-B86F-4479-A5DC-63A14F80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822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88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088">
                <a:solidFill>
                  <a:srgbClr val="687078"/>
                </a:solidFill>
                <a:latin typeface="Arial"/>
                <a:ea typeface="Arial"/>
                <a:cs typeface="Arial"/>
              </a:rPr>
              <a:t>A complete judge path: experience the product, inspect the proof, reproduce the output, then present the result.</a:t>
            </a:r>
          </a:p>
        </p:txBody>
      </p:sp>
      <p:sp>
        <p:nvSpPr>
          <p:cNvPr id="122" name="assets-divider-1">
            <a:extLst xmlns:a="http://schemas.openxmlformats.org/drawingml/2006/main">
              <a:ext uri="{FF2B5EF4-FFF2-40B4-BE49-F238E27FC236}">
                <a16:creationId xmlns:a16="http://schemas.microsoft.com/office/drawing/2014/main" id="{453A61D9-C696-4010-9727-2BE8D6F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3" name="assets-divider-2">
            <a:extLst xmlns:a="http://schemas.openxmlformats.org/drawingml/2006/main">
              <a:ext uri="{FF2B5EF4-FFF2-40B4-BE49-F238E27FC236}">
                <a16:creationId xmlns:a16="http://schemas.microsoft.com/office/drawing/2014/main" id="{C1CCFAA7-C123-4851-BBA3-A8BE99C1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4" name="assets-divider-3">
            <a:extLst xmlns:a="http://schemas.openxmlformats.org/drawingml/2006/main">
              <a:ext uri="{FF2B5EF4-FFF2-40B4-BE49-F238E27FC236}">
                <a16:creationId xmlns:a16="http://schemas.microsoft.com/office/drawing/2014/main" id="{FB8FC36D-B191-4D6A-B223-CB942F19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5" name="assets-verify">
            <a:extLst xmlns:a="http://schemas.openxmlformats.org/drawingml/2006/main">
              <a:ext uri="{FF2B5EF4-FFF2-40B4-BE49-F238E27FC236}">
                <a16:creationId xmlns:a16="http://schemas.microsoft.com/office/drawing/2014/main" id="{9652C006-9F2F-4BA6-ACCB-2880E9D7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143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VERIFY IT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f0d3f1fb05d046e1"/>
              </a:rPr>
              <a:t>Open source repository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Read the code, tests, and README.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Judge proof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docs/JUDGE_PROOF.md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rank.py --release</a:t>
            </a:r>
          </a:p>
        </p:txBody>
      </p:sp>
      <p:sp>
        <p:nvSpPr>
          <p:cNvPr id="126" name="assets-download">
            <a:extLst xmlns:a="http://schemas.openxmlformats.org/drawingml/2006/main">
              <a:ext uri="{FF2B5EF4-FFF2-40B4-BE49-F238E27FC236}">
                <a16:creationId xmlns:a16="http://schemas.microsoft.com/office/drawing/2014/main" id="{10BAF48D-38A5-48C2-8E99-EFE9A3F5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143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DOWNLOAD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submission.csv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Predefined top-100 format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ranked_top100.xlsx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reasons for review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Validator passed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SHA-256 3d2dbd8a…</a:t>
            </a:r>
          </a:p>
        </p:txBody>
      </p:sp>
      <p:sp>
        <p:nvSpPr>
          <p:cNvPr id="127" name="assets-present">
            <a:extLst xmlns:a="http://schemas.openxmlformats.org/drawingml/2006/main">
              <a:ext uri="{FF2B5EF4-FFF2-40B4-BE49-F238E27FC236}">
                <a16:creationId xmlns:a16="http://schemas.microsoft.com/office/drawing/2014/main" id="{9F89C49D-6BC1-4D62-9A04-25D87375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04 / PRESENT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Live walk-through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 → validate → rank → explain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Presenter guide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docs/DEMO_SCRIPT.md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Close with proof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Live links + deterministic result</a:t>
            </a:r>
          </a:p>
        </p:txBody>
      </p:sp>
    </p:spTree>
    <p:extLst>
      <p:ext uri="{BB962C8B-B14F-4D97-AF65-F5344CB8AC3E}">
        <p14:creationId xmlns:p14="http://schemas.microsoft.com/office/powerpoint/2010/main" val="167007585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Google Shape;124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d513c90fce42b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" name="closing-verification-panel">
            <a:extLst xmlns:a="http://schemas.openxmlformats.org/drawingml/2006/main">
              <a:ext uri="{FF2B5EF4-FFF2-40B4-BE49-F238E27FC236}">
                <a16:creationId xmlns:a16="http://schemas.microsoft.com/office/drawing/2014/main" id="{4795D8D5-F654-427D-8A27-E7A6EC19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14825"/>
            <a:ext cx="676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D1238"/>
          </a:solidFill>
          <a:ln xmlns:a="http://schemas.openxmlformats.org/drawingml/2006/main" w="9525">
            <a:solidFill>
              <a:srgbClr val="DCCBFF"/>
            </a:solidFill>
            <a:prstDash val="solid"/>
          </a:ln>
        </p:spPr>
        <p:txBody>
          <a:bodyPr xmlns:a="http://schemas.openxmlformats.org/drawingml/2006/main" lIns="95250" tIns="66675" rIns="95250" bIns="47625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VERIFY IT YOURSELF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8a0c642ff74748c6"/>
              </a:rPr>
              <a:t>github.com/bansalbhunesh/redrob-hirefit-ranker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LIVE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f4f5454e4cb04f18"/>
              </a:rPr>
              <a:t>redrob-hirefit-ranker.onrender.com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</a:rPr>
              <a:t>  •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f04c21f6f9b743bf"/>
              </a:rPr>
              <a:t>huggingface.co/spaces/bansal1234/Hirefit</a:t>
            </a:r>
          </a:p>
        </p:txBody>
      </p:sp>
    </p:spTree>
    <p:extLst>
      <p:ext uri="{BB962C8B-B14F-4D97-AF65-F5344CB8AC3E}">
        <p14:creationId xmlns:p14="http://schemas.microsoft.com/office/powerpoint/2010/main" val="1676368539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2026-07-02T02:08:58.4940000Z</dcterms:created>
  <dcterms:modified xsi:type="dcterms:W3CDTF">2026-07-02T02:08:58.4940000Z</dcterms:modified>
</coreProperties>
</file>