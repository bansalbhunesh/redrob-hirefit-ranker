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ManropeSemiBold-regular.fntdata"/><Relationship Id="rId18" Type="http://schemas.openxmlformats.org/officeDocument/2006/relationships/font" Target="fonts/ManropeSemiBold-bold.fntdata"/><Relationship Id="rId19" Type="http://schemas.openxmlformats.org/officeDocument/2006/relationships/font" Target="fonts/ManropeExtra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 Pakka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 HireFit - rank the top 100 of 100,000 candidates for a Senior AI Engineer role; CPU-only, offline, deterministic, and fully explainable.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 Bhunesh Bansal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34440"/>
            <a:ext cx="852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300" b="0">
                <a:solidFill>
                  <a:srgbClr val="6B7078"/>
                </a:solidFill>
              </a:rPr>
              <a:t>An evidence-first recruiter that reads careers and behaviour, ranks on proof, and explains every decision.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57200" y="1828800"/>
            <a:ext cx="1947672" cy="91440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100K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candidate pool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51176" y="1828800"/>
            <a:ext cx="1947672" cy="91440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Top-100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final shortlist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645152" y="1828800"/>
            <a:ext cx="1947672" cy="91440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~136 s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100K on 2 CPU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739128" y="1828800"/>
            <a:ext cx="1947672" cy="91440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100%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explainable</a:t>
            </a:r>
          </a:p>
        </p:txBody>
      </p: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457200" y="2880360"/>
          <a:ext cx="8229599" cy="1920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11965"/>
                <a:gridCol w="2862469"/>
                <a:gridCol w="4055165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marT="38100" marB="38100" marL="88900" anchor="ctr">
                    <a:solidFill>
                      <a:srgbClr val="2E39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Traditional keyword filters</a:t>
                      </a:r>
                    </a:p>
                  </a:txBody>
                  <a:tcPr marT="38100" marB="38100" marL="88900" anchor="ctr">
                    <a:solidFill>
                      <a:srgbClr val="2E39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HireFit</a:t>
                      </a:r>
                    </a:p>
                  </a:txBody>
                  <a:tcPr marT="38100" marB="38100" marL="88900" anchor="ctr">
                    <a:solidFill>
                      <a:srgbClr val="2E39C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729"/>
                          </a:solidFill>
                        </a:rPr>
                        <a:t>Matching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729"/>
                          </a:solidFill>
                        </a:rPr>
                        <a:t>keyword / Boolean overlap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39C9"/>
                          </a:solidFill>
                        </a:rPr>
                        <a:t>evidence of shipped work (33 features)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729"/>
                          </a:solidFill>
                        </a:rPr>
                        <a:t>Evaluation</a:t>
                      </a:r>
                    </a:p>
                  </a:txBody>
                  <a:tcPr marT="38100" marB="38100" marL="88900" anchor="ctr"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729"/>
                          </a:solidFill>
                        </a:rPr>
                        <a:t>single keyword score</a:t>
                      </a:r>
                    </a:p>
                  </a:txBody>
                  <a:tcPr marT="38100" marB="38100" marL="88900" anchor="ctr"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39C9"/>
                          </a:solidFill>
                        </a:rPr>
                        <a:t>career + skill + behaviour + availability + integrity</a:t>
                      </a:r>
                    </a:p>
                  </a:txBody>
                  <a:tcPr marT="38100" marB="38100" marL="88900" anchor="ctr">
                    <a:solidFill>
                      <a:srgbClr val="EE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729"/>
                          </a:solidFill>
                        </a:rPr>
                        <a:t>Integrity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729"/>
                          </a:solidFill>
                        </a:rPr>
                        <a:t>none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39C9"/>
                          </a:solidFill>
                        </a:rPr>
                        <a:t>honeypots blocked; impossible timelines penalised (0 in top-100)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729"/>
                          </a:solidFill>
                        </a:rPr>
                        <a:t>Explainability</a:t>
                      </a:r>
                    </a:p>
                  </a:txBody>
                  <a:tcPr marT="38100" marB="38100" marL="88900" anchor="ctr"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729"/>
                          </a:solidFill>
                        </a:rPr>
                        <a:t>opaque score</a:t>
                      </a:r>
                    </a:p>
                  </a:txBody>
                  <a:tcPr marT="38100" marB="38100" marL="88900" anchor="ctr"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39C9"/>
                          </a:solidFill>
                        </a:rPr>
                        <a:t>exact per-feature contribution (analytic Shapley)</a:t>
                      </a:r>
                    </a:p>
                  </a:txBody>
                  <a:tcPr marT="38100" marB="38100" marL="88900" anchor="ctr">
                    <a:solidFill>
                      <a:srgbClr val="EE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729"/>
                          </a:solidFill>
                        </a:rPr>
                        <a:t>Reproducibility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729"/>
                          </a:solidFill>
                        </a:rPr>
                        <a:t>varies run to run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39C9"/>
                          </a:solidFill>
                        </a:rPr>
                        <a:t>byte-identical output, frozen SHA-256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</a:t>
            </a: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34440"/>
            <a:ext cx="852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300" b="0">
                <a:solidFill>
                  <a:srgbClr val="6B7078"/>
                </a:solidFill>
              </a:rPr>
              <a:t>The JD lists keywords; the role hires for evidence. We read the gap between the two.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457200" y="1965960"/>
          <a:ext cx="8229599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05083"/>
                <a:gridCol w="4424516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the JD says</a:t>
                      </a:r>
                    </a:p>
                  </a:txBody>
                  <a:tcPr marT="38100" marB="38100" marL="88900" anchor="ctr">
                    <a:solidFill>
                      <a:srgbClr val="2E39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the role actually hires for</a:t>
                      </a:r>
                    </a:p>
                  </a:txBody>
                  <a:tcPr marT="38100" marB="38100" marL="88900" anchor="ctr">
                    <a:solidFill>
                      <a:srgbClr val="2E39C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729"/>
                          </a:solidFill>
                        </a:rPr>
                        <a:t>5-9 yrs; embeddings, retrieval, ranking, NLP, PyTorch/TensorFlow; India locations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39C9"/>
                          </a:solidFill>
                        </a:rPr>
                        <a:t>demonstrated evidence of shipping production retrieval/ranking systems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729"/>
                          </a:solidFill>
                        </a:rPr>
                        <a:t>a list of AI skill keywords</a:t>
                      </a:r>
                    </a:p>
                  </a:txBody>
                  <a:tcPr marT="38100" marB="38100" marL="88900" anchor="ctr"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39C9"/>
                          </a:solidFill>
                        </a:rPr>
                        <a:t>skill depth vs. keyword lists - overlap is high for stuffers, low for the real engineer</a:t>
                      </a:r>
                    </a:p>
                  </a:txBody>
                  <a:tcPr marT="38100" marB="38100" marL="88900" anchor="ctr">
                    <a:solidFill>
                      <a:srgbClr val="EE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729"/>
                          </a:solidFill>
                        </a:rPr>
                        <a:t>a candidate profile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39C9"/>
                          </a:solidFill>
                        </a:rPr>
                        <a:t>role &amp; seniority alignment, availability &amp; recruiter-responsiveness, and profile integrity</a:t>
                      </a:r>
                    </a:p>
                  </a:txBody>
                  <a:tcPr marT="38100" marB="38100" marL="889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34440"/>
            <a:ext cx="852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300" b="0">
                <a:solidFill>
                  <a:srgbClr val="6B7078"/>
                </a:solidFill>
              </a:rPr>
              <a:t>Retrieve the credible field, score the evidence, then rank with a stable, inspectable sort.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457200" y="1965960"/>
            <a:ext cx="2645664" cy="105156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1  Retrieve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hybrid BM25 (bm25s) over 100K, CPU-only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49168" y="1965960"/>
            <a:ext cx="2645664" cy="105156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2  Score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33 features -&gt; universal-v2 + 130 KB model, integrity gates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41136" y="1965960"/>
            <a:ext cx="2645664" cy="105156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3  Rank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frontier-v5: RRF lock + top-band fix + tie-breaks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202729"/>
                </a:solidFill>
              </a:rPr>
              <a:t>- Evidence base: 33 named features computed deterministically from profile facts (skills, roles, tenure, endorsements, availability).</a:t>
            </a:r>
          </a:p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202729"/>
                </a:solidFill>
              </a:rPr>
              <a:t>- Integrity gates: multiplicative behavioural / honeypot / JD-disqualifier multipliers applied before ranking.</a:t>
            </a:r>
          </a:p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202729"/>
                </a:solidFill>
              </a:rPr>
              <a:t>- Stable rank: a conservative RRF lock, a feature-only top-band correction, two clean integrity backfills and two narrow tie-breaks.</a:t>
            </a:r>
          </a:p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202729"/>
                </a:solidFill>
              </a:rPr>
              <a:t>- No hosted LLM/API at rank time; reasoning is generated from the candidate's actual 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34440"/>
            <a:ext cx="852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300" b="0">
                <a:solidFill>
                  <a:srgbClr val="6B7078"/>
                </a:solidFill>
              </a:rPr>
              <a:t>Every rank decomposes into named features - grounded reasoning, gated profiles.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57200" y="20574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39C9"/>
                </a:solidFill>
              </a:rPr>
              <a:t>Evidence contribution (representative)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2423160"/>
            <a:ext cx="1554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202729"/>
                </a:solidFill>
              </a:rPr>
              <a:t>Career evidence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103120" y="2468879"/>
            <a:ext cx="2194560" cy="201168"/>
          </a:xfrm>
          <a:prstGeom prst="roundRect">
            <a:avLst/>
          </a:prstGeom>
          <a:solidFill>
            <a:srgbClr val="EC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2103120" y="2468879"/>
            <a:ext cx="2194560" cy="201168"/>
          </a:xfrm>
          <a:prstGeom prst="roundRect">
            <a:avLst/>
          </a:prstGeom>
          <a:solidFill>
            <a:srgbClr val="2E3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15968" y="2423160"/>
            <a:ext cx="7315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E39C9"/>
                </a:solidFill>
              </a:rPr>
              <a:t>31%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2770632"/>
            <a:ext cx="1554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202729"/>
                </a:solidFill>
              </a:rPr>
              <a:t>Skill depth &amp; match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103120" y="2816351"/>
            <a:ext cx="2194560" cy="201168"/>
          </a:xfrm>
          <a:prstGeom prst="roundRect">
            <a:avLst/>
          </a:prstGeom>
          <a:solidFill>
            <a:srgbClr val="EC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103120" y="2816351"/>
            <a:ext cx="1911390" cy="201168"/>
          </a:xfrm>
          <a:prstGeom prst="roundRect">
            <a:avLst/>
          </a:prstGeom>
          <a:solidFill>
            <a:srgbClr val="2E3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15968" y="2770632"/>
            <a:ext cx="7315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E39C9"/>
                </a:solidFill>
              </a:rPr>
              <a:t>27%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3118104"/>
            <a:ext cx="1554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202729"/>
                </a:solidFill>
              </a:rPr>
              <a:t>Semantic / role fit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103120" y="3163824"/>
            <a:ext cx="2194560" cy="201168"/>
          </a:xfrm>
          <a:prstGeom prst="roundRect">
            <a:avLst/>
          </a:prstGeom>
          <a:solidFill>
            <a:srgbClr val="EC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2103120" y="3163824"/>
            <a:ext cx="1274260" cy="201168"/>
          </a:xfrm>
          <a:prstGeom prst="roundRect">
            <a:avLst/>
          </a:prstGeom>
          <a:solidFill>
            <a:srgbClr val="2E3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315968" y="3118104"/>
            <a:ext cx="7315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E39C9"/>
                </a:solidFill>
              </a:rPr>
              <a:t>18%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3465576"/>
            <a:ext cx="1554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202729"/>
                </a:solidFill>
              </a:rPr>
              <a:t>Behaviour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103120" y="3511296"/>
            <a:ext cx="2194560" cy="201168"/>
          </a:xfrm>
          <a:prstGeom prst="roundRect">
            <a:avLst/>
          </a:prstGeom>
          <a:solidFill>
            <a:srgbClr val="EC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2103120" y="3511296"/>
            <a:ext cx="849507" cy="201168"/>
          </a:xfrm>
          <a:prstGeom prst="roundRect">
            <a:avLst/>
          </a:prstGeom>
          <a:solidFill>
            <a:srgbClr val="2E3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315968" y="3465576"/>
            <a:ext cx="7315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E39C9"/>
                </a:solidFill>
              </a:rPr>
              <a:t>12%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3813048"/>
            <a:ext cx="1554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202729"/>
                </a:solidFill>
              </a:rPr>
              <a:t>Availability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103120" y="3858768"/>
            <a:ext cx="2194560" cy="201168"/>
          </a:xfrm>
          <a:prstGeom prst="roundRect">
            <a:avLst/>
          </a:prstGeom>
          <a:solidFill>
            <a:srgbClr val="EC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2103120" y="3858768"/>
            <a:ext cx="495545" cy="201168"/>
          </a:xfrm>
          <a:prstGeom prst="roundRect">
            <a:avLst/>
          </a:prstGeom>
          <a:solidFill>
            <a:srgbClr val="2E3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315968" y="3813048"/>
            <a:ext cx="7315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E39C9"/>
                </a:solidFill>
              </a:rPr>
              <a:t>7%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" y="4160520"/>
            <a:ext cx="1554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202729"/>
                </a:solidFill>
              </a:rPr>
              <a:t>Integrity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103120" y="4206240"/>
            <a:ext cx="2194560" cy="201168"/>
          </a:xfrm>
          <a:prstGeom prst="roundRect">
            <a:avLst/>
          </a:prstGeom>
          <a:solidFill>
            <a:srgbClr val="EC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2103120" y="4206240"/>
            <a:ext cx="353961" cy="201168"/>
          </a:xfrm>
          <a:prstGeom prst="roundRect">
            <a:avLst/>
          </a:prstGeom>
          <a:solidFill>
            <a:srgbClr val="2E3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315968" y="4160520"/>
            <a:ext cx="7315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E39C9"/>
                </a:solidFill>
              </a:rPr>
              <a:t>5%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12080" y="22860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0">
                <a:solidFill>
                  <a:srgbClr val="202729"/>
                </a:solidFill>
              </a:rPr>
              <a:t>Explained: for the linear evidence base each feature's exact Shapley value is its additive term - it reconstructs the score. The frontier-v5 rerank is documented on top.</a:t>
            </a:r>
          </a:p>
          <a:p>
            <a:pPr algn="l">
              <a:spcAft>
                <a:spcPts val="600"/>
              </a:spcAft>
              <a:buNone/>
            </a:pPr>
            <a:r>
              <a:rPr sz="1100" b="0">
                <a:solidFill>
                  <a:srgbClr val="202729"/>
                </a:solidFill>
              </a:rPr>
              <a:t/>
            </a:r>
          </a:p>
          <a:p>
            <a:pPr algn="l">
              <a:spcAft>
                <a:spcPts val="600"/>
              </a:spcAft>
              <a:buNone/>
            </a:pPr>
            <a:r>
              <a:rPr sz="1100" b="0">
                <a:solidFill>
                  <a:srgbClr val="202729"/>
                </a:solidFill>
              </a:rPr>
              <a:t>No hallucinations: reasoning is templated from real candidate facts only, so justifications cannot invent facts.</a:t>
            </a:r>
          </a:p>
          <a:p>
            <a:pPr algn="l">
              <a:spcAft>
                <a:spcPts val="600"/>
              </a:spcAft>
              <a:buNone/>
            </a:pPr>
            <a:r>
              <a:rPr sz="1100" b="0">
                <a:solidFill>
                  <a:srgbClr val="202729"/>
                </a:solidFill>
              </a:rPr>
              <a:t/>
            </a:r>
          </a:p>
          <a:p>
            <a:pPr algn="l">
              <a:spcAft>
                <a:spcPts val="600"/>
              </a:spcAft>
              <a:buNone/>
            </a:pPr>
            <a:r>
              <a:rPr sz="1100" b="0">
                <a:solidFill>
                  <a:srgbClr val="202729"/>
                </a:solidFill>
              </a:rPr>
              <a:t>Suspicious profiles: an integrity detector flags unsupported claims and impossible timelines - 53 flagged, 0 reach the shortlist (surfaced for review, not asserted as fraud).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34440"/>
            <a:ext cx="852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300" b="0">
                <a:solidFill>
                  <a:srgbClr val="6B7078"/>
                </a:solidFill>
              </a:rPr>
              <a:t>One offline command turns 100,000 profiles into a validated, explained top-100.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457200" y="2194560"/>
            <a:ext cx="1081604" cy="91440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2E3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00">
                <a:solidFill>
                  <a:srgbClr val="202729"/>
                </a:solidFill>
              </a:rPr>
              <a:t>candidates.jsonl (100K)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648532" y="2194560"/>
            <a:ext cx="1081604" cy="91440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2E3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00">
                <a:solidFill>
                  <a:srgbClr val="202729"/>
                </a:solidFill>
              </a:rPr>
              <a:t>BM25 retrieve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839865" y="2194560"/>
            <a:ext cx="1081604" cy="91440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2E3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00">
                <a:solidFill>
                  <a:srgbClr val="202729"/>
                </a:solidFill>
              </a:rPr>
              <a:t>33-feature scoring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031197" y="2194560"/>
            <a:ext cx="1081604" cy="91440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2E3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00">
                <a:solidFill>
                  <a:srgbClr val="202729"/>
                </a:solidFill>
              </a:rPr>
              <a:t>integrity gates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222530" y="2194560"/>
            <a:ext cx="1081604" cy="91440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2E3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00">
                <a:solidFill>
                  <a:srgbClr val="202729"/>
                </a:solidFill>
              </a:rPr>
              <a:t>frontier-v5 rerank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413862" y="2194560"/>
            <a:ext cx="1081604" cy="91440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2E3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00">
                <a:solidFill>
                  <a:srgbClr val="202729"/>
                </a:solidFill>
              </a:rPr>
              <a:t>top-100 + reasoning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605195" y="2194560"/>
            <a:ext cx="1081604" cy="91440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2E3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00">
                <a:solidFill>
                  <a:srgbClr val="202729"/>
                </a:solidFill>
              </a:rPr>
              <a:t>submission.csv / .xlsx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202729"/>
                </a:solidFill>
              </a:rPr>
              <a:t>PYTHONHASHSEED=0 python rank.py --release --candidates candidates.jsonl --out submission.csv --workers 2</a:t>
            </a:r>
          </a:p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202729"/>
                </a:solidFill>
              </a:rPr>
              <a:t>~136 s on 2 CPUs; byte-identical output every run (SHA-256 8f7f30c6...); validated for shape, pool membership and integrity counts before publish.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6B7078"/>
                </a:solidFill>
              </a:rPr>
              <a:t>Six CPU-only stages - no network, no GPU - wrapped in a fail-closed release.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57200" y="1920240"/>
            <a:ext cx="1280160" cy="100584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50" b="1">
                <a:solidFill>
                  <a:srgbClr val="202729"/>
                </a:solidFill>
              </a:rPr>
              <a:t>1  Parse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847088" y="1920240"/>
            <a:ext cx="1280160" cy="100584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50" b="1">
                <a:solidFill>
                  <a:srgbClr val="202729"/>
                </a:solidFill>
              </a:rPr>
              <a:t>2  BM25 retrieve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236976" y="1920240"/>
            <a:ext cx="1280160" cy="100584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50" b="1">
                <a:solidFill>
                  <a:srgbClr val="202729"/>
                </a:solidFill>
              </a:rPr>
              <a:t>3  Semantic (HyRE)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626864" y="1920240"/>
            <a:ext cx="1280160" cy="100584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50" b="1">
                <a:solidFill>
                  <a:srgbClr val="202729"/>
                </a:solidFill>
              </a:rPr>
              <a:t>4  33-feature matrix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016752" y="1920240"/>
            <a:ext cx="1280160" cy="100584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50" b="1">
                <a:solidFill>
                  <a:srgbClr val="202729"/>
                </a:solidFill>
              </a:rPr>
              <a:t>5  Evidence score + model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406640" y="1920240"/>
            <a:ext cx="1280160" cy="100584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950" b="1">
                <a:solidFill>
                  <a:srgbClr val="202729"/>
                </a:solidFill>
              </a:rPr>
              <a:t>6  Integrity + rerank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202729"/>
                </a:solidFill>
              </a:rPr>
              <a:t>Fail-closed release envelope: verifies the model &amp; input hashes, forces the BM25 backend, checks full-pool and integrity counts, writes to a temporary file, then atomically publishes.</a:t>
            </a:r>
          </a:p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202729"/>
                </a:solidFill>
              </a:rPr>
              <a:t>OOM-safe: a container kill exits 137 and preserves the prior output. Docker uses a digest-pinned base and hash-pinned dependencies for a verified, reproducible environment.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005840"/>
            <a:ext cx="852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300" b="0">
                <a:solidFill>
                  <a:srgbClr val="6B7078"/>
                </a:solidFill>
              </a:rPr>
              <a:t>High-quality, integrity-clean rankings inside the runtime and compute budget - with byte-identical proof.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57200" y="155448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39C9"/>
                </a:solidFill>
              </a:rPr>
              <a:t>RANKING QUALITY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57200" y="1874519"/>
            <a:ext cx="1947672" cy="86868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100,000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candidates scored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551176" y="1874519"/>
            <a:ext cx="1947672" cy="86868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100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final shortlist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645152" y="1874519"/>
            <a:ext cx="1947672" cy="86868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0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honeypots in top-100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739128" y="1874519"/>
            <a:ext cx="1947672" cy="86868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271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automated checks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28803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39C9"/>
                </a:solidFill>
              </a:rPr>
              <a:t>RUNTIME &amp; COMPUTE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57200" y="3200400"/>
            <a:ext cx="1947672" cy="86868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136 s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100K pipeline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551176" y="3200400"/>
            <a:ext cx="1947672" cy="86868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149 s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wall @ 2 CPU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645152" y="3200400"/>
            <a:ext cx="1947672" cy="86868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~4.2 GB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peak memory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739128" y="3200400"/>
            <a:ext cx="1947672" cy="868680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buNone/>
            </a:pPr>
            <a:r>
              <a:rPr sz="2100" b="1">
                <a:solidFill>
                  <a:srgbClr val="2E39C9"/>
                </a:solidFill>
              </a:rPr>
              <a:t>&lt; 300 s</a:t>
            </a:r>
          </a:p>
          <a:p>
            <a:pPr algn="ctr">
              <a:buNone/>
            </a:pPr>
            <a:r>
              <a:rPr sz="950">
                <a:solidFill>
                  <a:srgbClr val="6B7078"/>
                </a:solidFill>
              </a:rPr>
              <a:t>budget, offline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57200" y="4251960"/>
            <a:ext cx="1280160" cy="384048"/>
          </a:xfrm>
          <a:prstGeom prst="roundRect">
            <a:avLst/>
          </a:prstGeom>
          <a:solidFill>
            <a:srgbClr val="ECF7F0"/>
          </a:solidFill>
          <a:ln w="9525">
            <a:solidFill>
              <a:srgbClr val="B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/>
          <a:lstStyle/>
          <a:p>
            <a:pPr algn="ctr">
              <a:buNone/>
            </a:pPr>
            <a:r>
              <a:rPr sz="1000" b="1">
                <a:solidFill>
                  <a:srgbClr val="1E8E5A"/>
                </a:solidFill>
              </a:rPr>
              <a:t>✓ </a:t>
            </a:r>
            <a:r>
              <a:rPr sz="900">
                <a:solidFill>
                  <a:srgbClr val="202729"/>
                </a:solidFill>
              </a:rPr>
              <a:t>Deterministic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847088" y="4251960"/>
            <a:ext cx="1280160" cy="384048"/>
          </a:xfrm>
          <a:prstGeom prst="roundRect">
            <a:avLst/>
          </a:prstGeom>
          <a:solidFill>
            <a:srgbClr val="ECF7F0"/>
          </a:solidFill>
          <a:ln w="9525">
            <a:solidFill>
              <a:srgbClr val="B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/>
          <a:lstStyle/>
          <a:p>
            <a:pPr algn="ctr">
              <a:buNone/>
            </a:pPr>
            <a:r>
              <a:rPr sz="1000" b="1">
                <a:solidFill>
                  <a:srgbClr val="1E8E5A"/>
                </a:solidFill>
              </a:rPr>
              <a:t>✓ </a:t>
            </a:r>
            <a:r>
              <a:rPr sz="900">
                <a:solidFill>
                  <a:srgbClr val="202729"/>
                </a:solidFill>
              </a:rPr>
              <a:t>SHA-256 8f7f30c6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236976" y="4251960"/>
            <a:ext cx="1280160" cy="384048"/>
          </a:xfrm>
          <a:prstGeom prst="roundRect">
            <a:avLst/>
          </a:prstGeom>
          <a:solidFill>
            <a:srgbClr val="ECF7F0"/>
          </a:solidFill>
          <a:ln w="9525">
            <a:solidFill>
              <a:srgbClr val="B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/>
          <a:lstStyle/>
          <a:p>
            <a:pPr algn="ctr">
              <a:buNone/>
            </a:pPr>
            <a:r>
              <a:rPr sz="1000" b="1">
                <a:solidFill>
                  <a:srgbClr val="1E8E5A"/>
                </a:solidFill>
              </a:rPr>
              <a:t>✓ </a:t>
            </a:r>
            <a:r>
              <a:rPr sz="900">
                <a:solidFill>
                  <a:srgbClr val="202729"/>
                </a:solidFill>
              </a:rPr>
              <a:t>CPU-only / offline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626864" y="4251960"/>
            <a:ext cx="1280160" cy="384048"/>
          </a:xfrm>
          <a:prstGeom prst="roundRect">
            <a:avLst/>
          </a:prstGeom>
          <a:solidFill>
            <a:srgbClr val="ECF7F0"/>
          </a:solidFill>
          <a:ln w="9525">
            <a:solidFill>
              <a:srgbClr val="B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/>
          <a:lstStyle/>
          <a:p>
            <a:pPr algn="ctr">
              <a:buNone/>
            </a:pPr>
            <a:r>
              <a:rPr sz="1000" b="1">
                <a:solidFill>
                  <a:srgbClr val="1E8E5A"/>
                </a:solidFill>
              </a:rPr>
              <a:t>✓ </a:t>
            </a:r>
            <a:r>
              <a:rPr sz="900">
                <a:solidFill>
                  <a:srgbClr val="202729"/>
                </a:solidFill>
              </a:rPr>
              <a:t>Validator passed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016752" y="4251960"/>
            <a:ext cx="1280160" cy="384048"/>
          </a:xfrm>
          <a:prstGeom prst="roundRect">
            <a:avLst/>
          </a:prstGeom>
          <a:solidFill>
            <a:srgbClr val="ECF7F0"/>
          </a:solidFill>
          <a:ln w="9525">
            <a:solidFill>
              <a:srgbClr val="B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/>
          <a:lstStyle/>
          <a:p>
            <a:pPr algn="ctr">
              <a:buNone/>
            </a:pPr>
            <a:r>
              <a:rPr sz="1000" b="1">
                <a:solidFill>
                  <a:srgbClr val="1E8E5A"/>
                </a:solidFill>
              </a:rPr>
              <a:t>✓ </a:t>
            </a:r>
            <a:r>
              <a:rPr sz="900">
                <a:solidFill>
                  <a:srgbClr val="202729"/>
                </a:solidFill>
              </a:rPr>
              <a:t>0 honeypots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406640" y="4251960"/>
            <a:ext cx="1280160" cy="384048"/>
          </a:xfrm>
          <a:prstGeom prst="roundRect">
            <a:avLst/>
          </a:prstGeom>
          <a:solidFill>
            <a:srgbClr val="ECF7F0"/>
          </a:solidFill>
          <a:ln w="9525">
            <a:solidFill>
              <a:srgbClr val="BF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/>
          <a:lstStyle/>
          <a:p>
            <a:pPr algn="ctr">
              <a:buNone/>
            </a:pPr>
            <a:r>
              <a:rPr sz="1000" b="1">
                <a:solidFill>
                  <a:srgbClr val="1E8E5A"/>
                </a:solidFill>
              </a:rPr>
              <a:t>✓ </a:t>
            </a:r>
            <a:r>
              <a:rPr sz="900">
                <a:solidFill>
                  <a:srgbClr val="202729"/>
                </a:solidFill>
              </a:rPr>
              <a:t>No hidden-score claim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34440"/>
            <a:ext cx="852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300" b="0">
                <a:solidFill>
                  <a:srgbClr val="6B7078"/>
                </a:solidFill>
              </a:rPr>
              <a:t>Chosen for deterministic, offline, CPU-only reproducibility - no GPU, no hosted LLM at rank time.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202729"/>
                </a:solidFill>
              </a:rPr>
              <a:t>- Python 3.11 + NumPy - deterministic, offline, CPU-only numerics.</a:t>
            </a:r>
          </a:p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202729"/>
                </a:solidFill>
              </a:rPr>
              <a:t>- bm25s (Lucene-BM25) with a rank-bm25 fallback - fast lexical retrieval over 100K profiles.</a:t>
            </a:r>
          </a:p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202729"/>
                </a:solidFill>
              </a:rPr>
              <a:t>- 130 KB NumPy model (no PyTorch / GPU) - keeps the pipeline offline and byte-reproducible.</a:t>
            </a:r>
          </a:p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202729"/>
                </a:solidFill>
              </a:rPr>
              <a:t>- FastAPI + static UI (Render live demo) and Gradio (HuggingFace Space) - live, inspectable demos.</a:t>
            </a:r>
          </a:p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202729"/>
                </a:solidFill>
              </a:rPr>
              <a:t>- Docker: digest-pinned base + hash-pinned dependencies - a verified, reproducible environment.</a:t>
            </a:r>
          </a:p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202729"/>
                </a:solidFill>
              </a:rPr>
              <a:t>- pytest (271 checks) + a golden-hash regression gate - every optimisation proven byte-identical.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202729"/>
                </a:solidFill>
              </a:rPr>
              <a:t>Code:  github.com/bansalbhunesh/redrob-hirefit-ranker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202729"/>
                </a:solidFill>
              </a:rPr>
              <a:t>Live decision room (Render):  redrob-hirefit-ranker.onrender.com</a:t>
            </a:r>
          </a:p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202729"/>
                </a:solidFill>
              </a:rPr>
              <a:t>Live sandbox (HuggingFace Space):  huggingface.co/spaces/bansal1234/Hirefit</a:t>
            </a:r>
          </a:p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202729"/>
                </a:solidFill>
              </a:rPr>
              <a:t>Ranked output:  submission.csv  and  ranked_top100.xlsx  (top-100, grounded reasoning)</a:t>
            </a:r>
          </a:p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202729"/>
                </a:solidFill>
              </a:rPr>
              <a:t>Proof:  docs/JUDGE_PROOF.md  /  DEVPOST.md  /  2-min DEMO_SCRIPT.md  /  one-command reproduction</a:t>
            </a:r>
          </a:p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202729"/>
                </a:solidFill>
              </a:rPr>
              <a:t>271 tests  /  SHA-256 8f7f30c6...  /  demo video: [add link before submitting]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